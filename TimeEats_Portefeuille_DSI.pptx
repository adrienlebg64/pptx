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DFAE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8290353" y="0"/>
            <a:ext cx="3901342" cy="6858000"/>
          </a:xfrm>
          <a:prstGeom prst="rect">
            <a:avLst/>
          </a:prstGeom>
          <a:solidFill>
            <a:srgbClr val="E9E7E9"/>
          </a:solidFill>
          <a:ln/>
        </p:spPr>
      </p:sp>
      <p:sp>
        <p:nvSpPr>
          <p:cNvPr id="3" name="Shape 1"/>
          <p:cNvSpPr/>
          <p:nvPr/>
        </p:nvSpPr>
        <p:spPr>
          <a:xfrm>
            <a:off x="10271455" y="4663440"/>
            <a:ext cx="64008" cy="64008"/>
          </a:xfrm>
          <a:prstGeom prst="ellipse">
            <a:avLst/>
          </a:prstGeom>
          <a:solidFill>
            <a:srgbClr val="1E2BFA">
              <a:alpha val="30000"/>
            </a:srgbClr>
          </a:solidFill>
          <a:ln/>
        </p:spPr>
      </p:sp>
      <p:sp>
        <p:nvSpPr>
          <p:cNvPr id="4" name="Shape 2"/>
          <p:cNvSpPr/>
          <p:nvPr/>
        </p:nvSpPr>
        <p:spPr>
          <a:xfrm>
            <a:off x="10472623" y="4663440"/>
            <a:ext cx="64008" cy="64008"/>
          </a:xfrm>
          <a:prstGeom prst="ellipse">
            <a:avLst/>
          </a:prstGeom>
          <a:solidFill>
            <a:srgbClr val="1E2BFA">
              <a:alpha val="30000"/>
            </a:srgbClr>
          </a:solidFill>
          <a:ln/>
        </p:spPr>
      </p:sp>
      <p:sp>
        <p:nvSpPr>
          <p:cNvPr id="5" name="Shape 3"/>
          <p:cNvSpPr/>
          <p:nvPr/>
        </p:nvSpPr>
        <p:spPr>
          <a:xfrm>
            <a:off x="10673791" y="4663440"/>
            <a:ext cx="64008" cy="64008"/>
          </a:xfrm>
          <a:prstGeom prst="ellipse">
            <a:avLst/>
          </a:prstGeom>
          <a:solidFill>
            <a:srgbClr val="1E2BFA">
              <a:alpha val="30000"/>
            </a:srgbClr>
          </a:solidFill>
          <a:ln/>
        </p:spPr>
      </p:sp>
      <p:sp>
        <p:nvSpPr>
          <p:cNvPr id="6" name="Shape 4"/>
          <p:cNvSpPr/>
          <p:nvPr/>
        </p:nvSpPr>
        <p:spPr>
          <a:xfrm>
            <a:off x="10271455" y="4864608"/>
            <a:ext cx="64008" cy="64008"/>
          </a:xfrm>
          <a:prstGeom prst="ellipse">
            <a:avLst/>
          </a:prstGeom>
          <a:solidFill>
            <a:srgbClr val="1E2BFA">
              <a:alpha val="30000"/>
            </a:srgbClr>
          </a:solidFill>
          <a:ln/>
        </p:spPr>
      </p:sp>
      <p:sp>
        <p:nvSpPr>
          <p:cNvPr id="7" name="Shape 5"/>
          <p:cNvSpPr/>
          <p:nvPr/>
        </p:nvSpPr>
        <p:spPr>
          <a:xfrm>
            <a:off x="10472623" y="4864608"/>
            <a:ext cx="64008" cy="64008"/>
          </a:xfrm>
          <a:prstGeom prst="ellipse">
            <a:avLst/>
          </a:prstGeom>
          <a:solidFill>
            <a:srgbClr val="1E2BFA">
              <a:alpha val="30000"/>
            </a:srgbClr>
          </a:solidFill>
          <a:ln/>
        </p:spPr>
      </p:sp>
      <p:sp>
        <p:nvSpPr>
          <p:cNvPr id="8" name="Shape 6"/>
          <p:cNvSpPr/>
          <p:nvPr/>
        </p:nvSpPr>
        <p:spPr>
          <a:xfrm>
            <a:off x="10673791" y="4864608"/>
            <a:ext cx="64008" cy="64008"/>
          </a:xfrm>
          <a:prstGeom prst="ellipse">
            <a:avLst/>
          </a:prstGeom>
          <a:solidFill>
            <a:srgbClr val="1E2BFA">
              <a:alpha val="30000"/>
            </a:srgbClr>
          </a:solidFill>
          <a:ln/>
        </p:spPr>
      </p:sp>
      <p:sp>
        <p:nvSpPr>
          <p:cNvPr id="9" name="Shape 7"/>
          <p:cNvSpPr/>
          <p:nvPr/>
        </p:nvSpPr>
        <p:spPr>
          <a:xfrm>
            <a:off x="10271455" y="5065776"/>
            <a:ext cx="64008" cy="64008"/>
          </a:xfrm>
          <a:prstGeom prst="ellipse">
            <a:avLst/>
          </a:prstGeom>
          <a:solidFill>
            <a:srgbClr val="1E2BFA">
              <a:alpha val="30000"/>
            </a:srgbClr>
          </a:solidFill>
          <a:ln/>
        </p:spPr>
      </p:sp>
      <p:sp>
        <p:nvSpPr>
          <p:cNvPr id="10" name="Shape 8"/>
          <p:cNvSpPr/>
          <p:nvPr/>
        </p:nvSpPr>
        <p:spPr>
          <a:xfrm>
            <a:off x="10472623" y="5065776"/>
            <a:ext cx="64008" cy="64008"/>
          </a:xfrm>
          <a:prstGeom prst="ellipse">
            <a:avLst/>
          </a:prstGeom>
          <a:solidFill>
            <a:srgbClr val="1E2BFA">
              <a:alpha val="30000"/>
            </a:srgbClr>
          </a:solidFill>
          <a:ln/>
        </p:spPr>
      </p:sp>
      <p:sp>
        <p:nvSpPr>
          <p:cNvPr id="11" name="Shape 9"/>
          <p:cNvSpPr/>
          <p:nvPr/>
        </p:nvSpPr>
        <p:spPr>
          <a:xfrm>
            <a:off x="10673791" y="5065776"/>
            <a:ext cx="64008" cy="64008"/>
          </a:xfrm>
          <a:prstGeom prst="ellipse">
            <a:avLst/>
          </a:prstGeom>
          <a:solidFill>
            <a:srgbClr val="1E2BFA">
              <a:alpha val="30000"/>
            </a:srgbClr>
          </a:solidFill>
          <a:ln/>
        </p:spPr>
      </p:sp>
      <p:sp>
        <p:nvSpPr>
          <p:cNvPr id="12" name="Text 10"/>
          <p:cNvSpPr/>
          <p:nvPr/>
        </p:nvSpPr>
        <p:spPr>
          <a:xfrm>
            <a:off x="640080" y="1965960"/>
            <a:ext cx="7772400" cy="365760"/>
          </a:xfrm>
          <a:prstGeom prst="rect">
            <a:avLst/>
          </a:prstGeom>
          <a:noFill/>
          <a:ln/>
        </p:spPr>
        <p:txBody>
          <a:bodyPr wrap="square" lIns="0" tIns="0" rIns="0" bIns="0" rtlCol="0" anchor="ctr"/>
          <a:lstStyle/>
          <a:p>
            <a:pPr indent="0" marL="0">
              <a:buNone/>
            </a:pPr>
            <a:r>
              <a:rPr lang="en-US" sz="1300" b="1" spc="100" kern="0" dirty="0">
                <a:solidFill>
                  <a:srgbClr val="1E2BFA"/>
                </a:solidFill>
                <a:latin typeface="Arial" pitchFamily="34" charset="0"/>
                <a:ea typeface="Arial" pitchFamily="34" charset="-122"/>
                <a:cs typeface="Arial" pitchFamily="34" charset="-120"/>
              </a:rPr>
              <a:t>DIRECTION GÉNÉRALE · COMITÉ DE PILOTAGE (COPIL) SI</a:t>
            </a:r>
            <a:endParaRPr lang="en-US" sz="1300" dirty="0"/>
          </a:p>
        </p:txBody>
      </p:sp>
      <p:sp>
        <p:nvSpPr>
          <p:cNvPr id="13" name="Text 11"/>
          <p:cNvSpPr/>
          <p:nvPr/>
        </p:nvSpPr>
        <p:spPr>
          <a:xfrm>
            <a:off x="640080" y="2423160"/>
            <a:ext cx="7589520" cy="1737360"/>
          </a:xfrm>
          <a:prstGeom prst="rect">
            <a:avLst/>
          </a:prstGeom>
          <a:noFill/>
          <a:ln/>
        </p:spPr>
        <p:txBody>
          <a:bodyPr wrap="square" lIns="0" tIns="0" rIns="0" bIns="0" rtlCol="0" anchor="ctr"/>
          <a:lstStyle/>
          <a:p>
            <a:pPr indent="0" marL="0">
              <a:lnSpc>
                <a:spcPts val="4600"/>
              </a:lnSpc>
              <a:buNone/>
            </a:pPr>
            <a:r>
              <a:rPr lang="en-US" sz="4200" b="1" dirty="0">
                <a:solidFill>
                  <a:srgbClr val="111111"/>
                </a:solidFill>
                <a:latin typeface="Arial" pitchFamily="34" charset="0"/>
                <a:ea typeface="Arial" pitchFamily="34" charset="-122"/>
                <a:cs typeface="Arial" pitchFamily="34" charset="-120"/>
              </a:rPr>
              <a:t>Superviser le portefeuille</a:t>
            </a:r>
            <a:endParaRPr lang="en-US" sz="4200" dirty="0"/>
          </a:p>
          <a:p>
            <a:pPr indent="0" marL="0">
              <a:lnSpc>
                <a:spcPts val="4600"/>
              </a:lnSpc>
              <a:buNone/>
            </a:pPr>
            <a:r>
              <a:rPr lang="en-US" sz="4200" b="1" dirty="0">
                <a:solidFill>
                  <a:srgbClr val="111111"/>
                </a:solidFill>
                <a:latin typeface="Arial" pitchFamily="34" charset="0"/>
                <a:ea typeface="Arial" pitchFamily="34" charset="-122"/>
                <a:cs typeface="Arial" pitchFamily="34" charset="-120"/>
              </a:rPr>
              <a:t>projets de la DSI</a:t>
            </a:r>
            <a:endParaRPr lang="en-US" sz="4200" dirty="0"/>
          </a:p>
        </p:txBody>
      </p:sp>
      <p:sp>
        <p:nvSpPr>
          <p:cNvPr id="14" name="Text 12"/>
          <p:cNvSpPr/>
          <p:nvPr/>
        </p:nvSpPr>
        <p:spPr>
          <a:xfrm>
            <a:off x="640080" y="4251960"/>
            <a:ext cx="6949440" cy="822960"/>
          </a:xfrm>
          <a:prstGeom prst="rect">
            <a:avLst/>
          </a:prstGeom>
          <a:noFill/>
          <a:ln/>
        </p:spPr>
        <p:txBody>
          <a:bodyPr wrap="square" lIns="0" tIns="0" rIns="0" bIns="0" rtlCol="0" anchor="ctr"/>
          <a:lstStyle/>
          <a:p>
            <a:pPr indent="0" marL="0">
              <a:lnSpc>
                <a:spcPts val="2000"/>
              </a:lnSpc>
              <a:buNone/>
            </a:pPr>
            <a:r>
              <a:rPr lang="en-US" sz="1500" dirty="0">
                <a:solidFill>
                  <a:srgbClr val="6B6B6B"/>
                </a:solidFill>
                <a:latin typeface="Arial" pitchFamily="34" charset="0"/>
                <a:ea typeface="Arial" pitchFamily="34" charset="-122"/>
                <a:cs typeface="Arial" pitchFamily="34" charset="-120"/>
              </a:rPr>
              <a:t>Zoom projet : mise en place de l'authentification forte des utilisateurs internes — CESI École d'Ingénieurs, Projet Expérientiel Collaboratif.</a:t>
            </a:r>
            <a:endParaRPr lang="en-US" sz="1500" dirty="0"/>
          </a:p>
        </p:txBody>
      </p:sp>
      <p:sp>
        <p:nvSpPr>
          <p:cNvPr id="15" name="Text 13"/>
          <p:cNvSpPr/>
          <p:nvPr/>
        </p:nvSpPr>
        <p:spPr>
          <a:xfrm>
            <a:off x="640080" y="5989320"/>
            <a:ext cx="7589520" cy="365760"/>
          </a:xfrm>
          <a:prstGeom prst="rect">
            <a:avLst/>
          </a:prstGeom>
          <a:noFill/>
          <a:ln/>
        </p:spPr>
        <p:txBody>
          <a:bodyPr wrap="square" lIns="0" tIns="0" rIns="0" bIns="0" rtlCol="0" anchor="ctr"/>
          <a:lstStyle/>
          <a:p>
            <a:pPr indent="0" marL="0">
              <a:buNone/>
            </a:pPr>
            <a:r>
              <a:rPr lang="en-US" sz="1100" dirty="0">
                <a:solidFill>
                  <a:srgbClr val="9A9A9A"/>
                </a:solidFill>
                <a:latin typeface="Arial" pitchFamily="34" charset="0"/>
                <a:ea typeface="Arial" pitchFamily="34" charset="-122"/>
                <a:cs typeface="Arial" pitchFamily="34" charset="-120"/>
              </a:rPr>
              <a:t>Cellule PMO — DSI Time'Eats · [Prénom NOM] · [Prénom NOM] · [Prénom NOM]  ·  PMO-TE-COLLAB-2026 · V1.0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457200"/>
            <a:ext cx="8131759" cy="320040"/>
          </a:xfrm>
          <a:prstGeom prst="rect">
            <a:avLst/>
          </a:prstGeom>
          <a:noFill/>
          <a:ln/>
        </p:spPr>
        <p:txBody>
          <a:bodyPr wrap="square" lIns="0" tIns="0" rIns="0" bIns="0" rtlCol="0" anchor="t"/>
          <a:lstStyle/>
          <a:p>
            <a:pPr algn="l" indent="0" marL="0">
              <a:buNone/>
            </a:pPr>
            <a:r>
              <a:rPr lang="en-US" sz="1200" b="1" spc="100" kern="0" dirty="0">
                <a:solidFill>
                  <a:srgbClr val="1E2BFA"/>
                </a:solidFill>
                <a:latin typeface="Arial" pitchFamily="34" charset="0"/>
                <a:ea typeface="Arial" pitchFamily="34" charset="-122"/>
                <a:cs typeface="Arial" pitchFamily="34" charset="-120"/>
              </a:rPr>
              <a:t>SOMMAIRE</a:t>
            </a:r>
            <a:endParaRPr lang="en-US" sz="1200" dirty="0"/>
          </a:p>
        </p:txBody>
      </p:sp>
      <p:sp>
        <p:nvSpPr>
          <p:cNvPr id="3" name="Shape 1"/>
          <p:cNvSpPr/>
          <p:nvPr/>
        </p:nvSpPr>
        <p:spPr>
          <a:xfrm>
            <a:off x="9046159" y="420624"/>
            <a:ext cx="2505456" cy="329184"/>
          </a:xfrm>
          <a:prstGeom prst="roundRect">
            <a:avLst>
              <a:gd name="adj" fmla="val 50000"/>
            </a:avLst>
          </a:prstGeom>
          <a:solidFill>
            <a:srgbClr val="E9E7E9"/>
          </a:solidFill>
          <a:ln/>
        </p:spPr>
      </p:sp>
      <p:sp>
        <p:nvSpPr>
          <p:cNvPr id="4" name="Text 2"/>
          <p:cNvSpPr/>
          <p:nvPr/>
        </p:nvSpPr>
        <p:spPr>
          <a:xfrm>
            <a:off x="9046159" y="420624"/>
            <a:ext cx="2505456" cy="329184"/>
          </a:xfrm>
          <a:prstGeom prst="rect">
            <a:avLst/>
          </a:prstGeom>
          <a:noFill/>
          <a:ln/>
        </p:spPr>
        <p:txBody>
          <a:bodyPr wrap="square" lIns="0" tIns="0" rIns="0" bIns="0" rtlCol="0" anchor="ctr"/>
          <a:lstStyle/>
          <a:p>
            <a:pPr algn="ctr" indent="0" marL="0">
              <a:buNone/>
            </a:pPr>
            <a:r>
              <a:rPr lang="en-US" sz="1050" b="1" dirty="0">
                <a:solidFill>
                  <a:srgbClr val="1E2BFA"/>
                </a:solidFill>
                <a:latin typeface="Arial" pitchFamily="34" charset="0"/>
                <a:ea typeface="Arial" pitchFamily="34" charset="-122"/>
                <a:cs typeface="Arial" pitchFamily="34" charset="-120"/>
              </a:rPr>
              <a:t>Vue d'ensemble</a:t>
            </a:r>
            <a:endParaRPr lang="en-US" sz="1050" dirty="0"/>
          </a:p>
        </p:txBody>
      </p:sp>
      <p:sp>
        <p:nvSpPr>
          <p:cNvPr id="5" name="Text 3"/>
          <p:cNvSpPr/>
          <p:nvPr/>
        </p:nvSpPr>
        <p:spPr>
          <a:xfrm>
            <a:off x="640080" y="868680"/>
            <a:ext cx="10911535" cy="777240"/>
          </a:xfrm>
          <a:prstGeom prst="rect">
            <a:avLst/>
          </a:prstGeom>
          <a:noFill/>
          <a:ln/>
        </p:spPr>
        <p:txBody>
          <a:bodyPr wrap="square" lIns="0" tIns="0" rIns="0" bIns="0" rtlCol="0" anchor="t"/>
          <a:lstStyle/>
          <a:p>
            <a:pPr algn="l" indent="0" marL="0">
              <a:lnSpc>
                <a:spcPts val="2900"/>
              </a:lnSpc>
              <a:buNone/>
            </a:pPr>
            <a:r>
              <a:rPr lang="en-US" sz="2700" b="1" dirty="0">
                <a:solidFill>
                  <a:srgbClr val="111111"/>
                </a:solidFill>
                <a:latin typeface="Arial" pitchFamily="34" charset="0"/>
                <a:ea typeface="Arial" pitchFamily="34" charset="-122"/>
                <a:cs typeface="Arial" pitchFamily="34" charset="-120"/>
              </a:rPr>
              <a:t>Ce que ce support présente</a:t>
            </a:r>
            <a:endParaRPr lang="en-US" sz="2700" dirty="0"/>
          </a:p>
        </p:txBody>
      </p:sp>
      <p:sp>
        <p:nvSpPr>
          <p:cNvPr id="6" name="Text 4"/>
          <p:cNvSpPr/>
          <p:nvPr/>
        </p:nvSpPr>
        <p:spPr>
          <a:xfrm>
            <a:off x="640080" y="1874520"/>
            <a:ext cx="640080" cy="1371600"/>
          </a:xfrm>
          <a:prstGeom prst="rect">
            <a:avLst/>
          </a:prstGeom>
          <a:noFill/>
          <a:ln/>
        </p:spPr>
        <p:txBody>
          <a:bodyPr wrap="square" lIns="0" tIns="0" rIns="0" bIns="0" rtlCol="0" anchor="t"/>
          <a:lstStyle/>
          <a:p>
            <a:pPr indent="0" marL="0">
              <a:buNone/>
            </a:pPr>
            <a:r>
              <a:rPr lang="en-US" sz="3000" b="1" dirty="0">
                <a:solidFill>
                  <a:srgbClr val="1E2BFA"/>
                </a:solidFill>
                <a:latin typeface="Arial" pitchFamily="34" charset="0"/>
                <a:ea typeface="Arial" pitchFamily="34" charset="-122"/>
                <a:cs typeface="Arial" pitchFamily="34" charset="-120"/>
              </a:rPr>
              <a:t>01</a:t>
            </a:r>
            <a:endParaRPr lang="en-US" sz="3000" dirty="0"/>
          </a:p>
        </p:txBody>
      </p:sp>
      <p:sp>
        <p:nvSpPr>
          <p:cNvPr id="7" name="Text 5"/>
          <p:cNvSpPr/>
          <p:nvPr/>
        </p:nvSpPr>
        <p:spPr>
          <a:xfrm>
            <a:off x="1325880" y="1874520"/>
            <a:ext cx="4541368" cy="502920"/>
          </a:xfrm>
          <a:prstGeom prst="rect">
            <a:avLst/>
          </a:prstGeom>
          <a:noFill/>
          <a:ln/>
        </p:spPr>
        <p:txBody>
          <a:bodyPr wrap="square" lIns="0" tIns="0" rIns="0" bIns="0" rtlCol="0" anchor="t"/>
          <a:lstStyle/>
          <a:p>
            <a:pPr indent="0" marL="0">
              <a:lnSpc>
                <a:spcPts val="1800"/>
              </a:lnSpc>
              <a:buNone/>
            </a:pPr>
            <a:r>
              <a:rPr lang="en-US" sz="1500" b="1" dirty="0">
                <a:solidFill>
                  <a:srgbClr val="111111"/>
                </a:solidFill>
                <a:latin typeface="Arial" pitchFamily="34" charset="0"/>
                <a:ea typeface="Arial" pitchFamily="34" charset="-122"/>
                <a:cs typeface="Arial" pitchFamily="34" charset="-120"/>
              </a:rPr>
              <a:t>Contexte et mission de la cellule PMO</a:t>
            </a:r>
            <a:endParaRPr lang="en-US" sz="1500" dirty="0"/>
          </a:p>
        </p:txBody>
      </p:sp>
      <p:sp>
        <p:nvSpPr>
          <p:cNvPr id="8" name="Text 6"/>
          <p:cNvSpPr/>
          <p:nvPr/>
        </p:nvSpPr>
        <p:spPr>
          <a:xfrm>
            <a:off x="1325880" y="2377440"/>
            <a:ext cx="4541368" cy="640080"/>
          </a:xfrm>
          <a:prstGeom prst="rect">
            <a:avLst/>
          </a:prstGeom>
          <a:noFill/>
          <a:ln/>
        </p:spPr>
        <p:txBody>
          <a:bodyPr wrap="square" lIns="0" tIns="0" rIns="0" bIns="0" rtlCol="0" anchor="t"/>
          <a:lstStyle/>
          <a:p>
            <a:pPr indent="0" marL="0">
              <a:lnSpc>
                <a:spcPts val="1500"/>
              </a:lnSpc>
              <a:buNone/>
            </a:pPr>
            <a:r>
              <a:rPr lang="en-US" sz="1150" dirty="0">
                <a:solidFill>
                  <a:srgbClr val="6B6B6B"/>
                </a:solidFill>
                <a:latin typeface="Arial" pitchFamily="34" charset="0"/>
                <a:ea typeface="Arial" pitchFamily="34" charset="-122"/>
                <a:cs typeface="Arial" pitchFamily="34" charset="-120"/>
              </a:rPr>
              <a:t>Time'Eats, son ambition, et pourquoi une cellule PMO a été créée.</a:t>
            </a:r>
            <a:endParaRPr lang="en-US" sz="1150" dirty="0"/>
          </a:p>
        </p:txBody>
      </p:sp>
      <p:sp>
        <p:nvSpPr>
          <p:cNvPr id="9" name="Shape 7"/>
          <p:cNvSpPr/>
          <p:nvPr/>
        </p:nvSpPr>
        <p:spPr>
          <a:xfrm>
            <a:off x="640080" y="3246120"/>
            <a:ext cx="5227168" cy="0"/>
          </a:xfrm>
          <a:prstGeom prst="line">
            <a:avLst/>
          </a:prstGeom>
          <a:noFill/>
          <a:ln w="9525">
            <a:solidFill>
              <a:srgbClr val="CCCCEB"/>
            </a:solidFill>
            <a:prstDash val="solid"/>
          </a:ln>
        </p:spPr>
      </p:sp>
      <p:sp>
        <p:nvSpPr>
          <p:cNvPr id="10" name="Text 8"/>
          <p:cNvSpPr/>
          <p:nvPr/>
        </p:nvSpPr>
        <p:spPr>
          <a:xfrm>
            <a:off x="6324448" y="1874520"/>
            <a:ext cx="640080" cy="1371600"/>
          </a:xfrm>
          <a:prstGeom prst="rect">
            <a:avLst/>
          </a:prstGeom>
          <a:noFill/>
          <a:ln/>
        </p:spPr>
        <p:txBody>
          <a:bodyPr wrap="square" lIns="0" tIns="0" rIns="0" bIns="0" rtlCol="0" anchor="t"/>
          <a:lstStyle/>
          <a:p>
            <a:pPr indent="0" marL="0">
              <a:buNone/>
            </a:pPr>
            <a:r>
              <a:rPr lang="en-US" sz="3000" b="1" dirty="0">
                <a:solidFill>
                  <a:srgbClr val="1E2BFA"/>
                </a:solidFill>
                <a:latin typeface="Arial" pitchFamily="34" charset="0"/>
                <a:ea typeface="Arial" pitchFamily="34" charset="-122"/>
                <a:cs typeface="Arial" pitchFamily="34" charset="-120"/>
              </a:rPr>
              <a:t>02</a:t>
            </a:r>
            <a:endParaRPr lang="en-US" sz="3000" dirty="0"/>
          </a:p>
        </p:txBody>
      </p:sp>
      <p:sp>
        <p:nvSpPr>
          <p:cNvPr id="11" name="Text 9"/>
          <p:cNvSpPr/>
          <p:nvPr/>
        </p:nvSpPr>
        <p:spPr>
          <a:xfrm>
            <a:off x="7010248" y="1874520"/>
            <a:ext cx="4541368" cy="502920"/>
          </a:xfrm>
          <a:prstGeom prst="rect">
            <a:avLst/>
          </a:prstGeom>
          <a:noFill/>
          <a:ln/>
        </p:spPr>
        <p:txBody>
          <a:bodyPr wrap="square" lIns="0" tIns="0" rIns="0" bIns="0" rtlCol="0" anchor="t"/>
          <a:lstStyle/>
          <a:p>
            <a:pPr indent="0" marL="0">
              <a:lnSpc>
                <a:spcPts val="1800"/>
              </a:lnSpc>
              <a:buNone/>
            </a:pPr>
            <a:r>
              <a:rPr lang="en-US" sz="1500" b="1" dirty="0">
                <a:solidFill>
                  <a:srgbClr val="111111"/>
                </a:solidFill>
                <a:latin typeface="Arial" pitchFamily="34" charset="0"/>
                <a:ea typeface="Arial" pitchFamily="34" charset="-122"/>
                <a:cs typeface="Arial" pitchFamily="34" charset="-120"/>
              </a:rPr>
              <a:t>Définir, prioriser et faire vivre le portefeuille</a:t>
            </a:r>
            <a:endParaRPr lang="en-US" sz="1500" dirty="0"/>
          </a:p>
        </p:txBody>
      </p:sp>
      <p:sp>
        <p:nvSpPr>
          <p:cNvPr id="12" name="Text 10"/>
          <p:cNvSpPr/>
          <p:nvPr/>
        </p:nvSpPr>
        <p:spPr>
          <a:xfrm>
            <a:off x="7010248" y="2377440"/>
            <a:ext cx="4541368" cy="640080"/>
          </a:xfrm>
          <a:prstGeom prst="rect">
            <a:avLst/>
          </a:prstGeom>
          <a:noFill/>
          <a:ln/>
        </p:spPr>
        <p:txBody>
          <a:bodyPr wrap="square" lIns="0" tIns="0" rIns="0" bIns="0" rtlCol="0" anchor="t"/>
          <a:lstStyle/>
          <a:p>
            <a:pPr indent="0" marL="0">
              <a:lnSpc>
                <a:spcPts val="1500"/>
              </a:lnSpc>
              <a:buNone/>
            </a:pPr>
            <a:r>
              <a:rPr lang="en-US" sz="1150" dirty="0">
                <a:solidFill>
                  <a:srgbClr val="6B6B6B"/>
                </a:solidFill>
                <a:latin typeface="Arial" pitchFamily="34" charset="0"/>
                <a:ea typeface="Arial" pitchFamily="34" charset="-122"/>
                <a:cs typeface="Arial" pitchFamily="34" charset="-120"/>
              </a:rPr>
              <a:t>Processus commun, référentiel documentaire, grille de priorisation.</a:t>
            </a:r>
            <a:endParaRPr lang="en-US" sz="1150" dirty="0"/>
          </a:p>
        </p:txBody>
      </p:sp>
      <p:sp>
        <p:nvSpPr>
          <p:cNvPr id="13" name="Shape 11"/>
          <p:cNvSpPr/>
          <p:nvPr/>
        </p:nvSpPr>
        <p:spPr>
          <a:xfrm>
            <a:off x="6324448" y="3246120"/>
            <a:ext cx="5227168" cy="0"/>
          </a:xfrm>
          <a:prstGeom prst="line">
            <a:avLst/>
          </a:prstGeom>
          <a:noFill/>
          <a:ln w="9525">
            <a:solidFill>
              <a:srgbClr val="CCCCEB"/>
            </a:solidFill>
            <a:prstDash val="solid"/>
          </a:ln>
        </p:spPr>
      </p:sp>
      <p:sp>
        <p:nvSpPr>
          <p:cNvPr id="14" name="Text 12"/>
          <p:cNvSpPr/>
          <p:nvPr/>
        </p:nvSpPr>
        <p:spPr>
          <a:xfrm>
            <a:off x="640080" y="3383280"/>
            <a:ext cx="640080" cy="1371600"/>
          </a:xfrm>
          <a:prstGeom prst="rect">
            <a:avLst/>
          </a:prstGeom>
          <a:noFill/>
          <a:ln/>
        </p:spPr>
        <p:txBody>
          <a:bodyPr wrap="square" lIns="0" tIns="0" rIns="0" bIns="0" rtlCol="0" anchor="t"/>
          <a:lstStyle/>
          <a:p>
            <a:pPr indent="0" marL="0">
              <a:buNone/>
            </a:pPr>
            <a:r>
              <a:rPr lang="en-US" sz="3000" b="1" dirty="0">
                <a:solidFill>
                  <a:srgbClr val="1E2BFA"/>
                </a:solidFill>
                <a:latin typeface="Arial" pitchFamily="34" charset="0"/>
                <a:ea typeface="Arial" pitchFamily="34" charset="-122"/>
                <a:cs typeface="Arial" pitchFamily="34" charset="-120"/>
              </a:rPr>
              <a:t>03</a:t>
            </a:r>
            <a:endParaRPr lang="en-US" sz="3000" dirty="0"/>
          </a:p>
        </p:txBody>
      </p:sp>
      <p:sp>
        <p:nvSpPr>
          <p:cNvPr id="15" name="Text 13"/>
          <p:cNvSpPr/>
          <p:nvPr/>
        </p:nvSpPr>
        <p:spPr>
          <a:xfrm>
            <a:off x="1325880" y="3383280"/>
            <a:ext cx="4541368" cy="502920"/>
          </a:xfrm>
          <a:prstGeom prst="rect">
            <a:avLst/>
          </a:prstGeom>
          <a:noFill/>
          <a:ln/>
        </p:spPr>
        <p:txBody>
          <a:bodyPr wrap="square" lIns="0" tIns="0" rIns="0" bIns="0" rtlCol="0" anchor="t"/>
          <a:lstStyle/>
          <a:p>
            <a:pPr indent="0" marL="0">
              <a:lnSpc>
                <a:spcPts val="1800"/>
              </a:lnSpc>
              <a:buNone/>
            </a:pPr>
            <a:r>
              <a:rPr lang="en-US" sz="1500" b="1" dirty="0">
                <a:solidFill>
                  <a:srgbClr val="111111"/>
                </a:solidFill>
                <a:latin typeface="Arial" pitchFamily="34" charset="0"/>
                <a:ea typeface="Arial" pitchFamily="34" charset="-122"/>
                <a:cs typeface="Arial" pitchFamily="34" charset="-120"/>
              </a:rPr>
              <a:t>Superviser et conduire le projet sélectionné</a:t>
            </a:r>
            <a:endParaRPr lang="en-US" sz="1500" dirty="0"/>
          </a:p>
        </p:txBody>
      </p:sp>
      <p:sp>
        <p:nvSpPr>
          <p:cNvPr id="16" name="Text 14"/>
          <p:cNvSpPr/>
          <p:nvPr/>
        </p:nvSpPr>
        <p:spPr>
          <a:xfrm>
            <a:off x="1325880" y="3886200"/>
            <a:ext cx="4541368" cy="640080"/>
          </a:xfrm>
          <a:prstGeom prst="rect">
            <a:avLst/>
          </a:prstGeom>
          <a:noFill/>
          <a:ln/>
        </p:spPr>
        <p:txBody>
          <a:bodyPr wrap="square" lIns="0" tIns="0" rIns="0" bIns="0" rtlCol="0" anchor="t"/>
          <a:lstStyle/>
          <a:p>
            <a:pPr indent="0" marL="0">
              <a:lnSpc>
                <a:spcPts val="1500"/>
              </a:lnSpc>
              <a:buNone/>
            </a:pPr>
            <a:r>
              <a:rPr lang="en-US" sz="1150" dirty="0">
                <a:solidFill>
                  <a:srgbClr val="6B6B6B"/>
                </a:solidFill>
                <a:latin typeface="Arial" pitchFamily="34" charset="0"/>
                <a:ea typeface="Arial" pitchFamily="34" charset="-122"/>
                <a:cs typeface="Arial" pitchFamily="34" charset="-120"/>
              </a:rPr>
              <a:t>Authentification forte des utilisateurs internes, de bout en bout.</a:t>
            </a:r>
            <a:endParaRPr lang="en-US" sz="1150" dirty="0"/>
          </a:p>
        </p:txBody>
      </p:sp>
      <p:sp>
        <p:nvSpPr>
          <p:cNvPr id="17" name="Shape 15"/>
          <p:cNvSpPr/>
          <p:nvPr/>
        </p:nvSpPr>
        <p:spPr>
          <a:xfrm>
            <a:off x="640080" y="4754880"/>
            <a:ext cx="5227168" cy="0"/>
          </a:xfrm>
          <a:prstGeom prst="line">
            <a:avLst/>
          </a:prstGeom>
          <a:noFill/>
          <a:ln w="9525">
            <a:solidFill>
              <a:srgbClr val="CCCCEB"/>
            </a:solidFill>
            <a:prstDash val="solid"/>
          </a:ln>
        </p:spPr>
      </p:sp>
      <p:sp>
        <p:nvSpPr>
          <p:cNvPr id="18" name="Text 16"/>
          <p:cNvSpPr/>
          <p:nvPr/>
        </p:nvSpPr>
        <p:spPr>
          <a:xfrm>
            <a:off x="6324448" y="3383280"/>
            <a:ext cx="640080" cy="1371600"/>
          </a:xfrm>
          <a:prstGeom prst="rect">
            <a:avLst/>
          </a:prstGeom>
          <a:noFill/>
          <a:ln/>
        </p:spPr>
        <p:txBody>
          <a:bodyPr wrap="square" lIns="0" tIns="0" rIns="0" bIns="0" rtlCol="0" anchor="t"/>
          <a:lstStyle/>
          <a:p>
            <a:pPr indent="0" marL="0">
              <a:buNone/>
            </a:pPr>
            <a:r>
              <a:rPr lang="en-US" sz="3000" b="1" dirty="0">
                <a:solidFill>
                  <a:srgbClr val="1E2BFA"/>
                </a:solidFill>
                <a:latin typeface="Arial" pitchFamily="34" charset="0"/>
                <a:ea typeface="Arial" pitchFamily="34" charset="-122"/>
                <a:cs typeface="Arial" pitchFamily="34" charset="-120"/>
              </a:rPr>
              <a:t>04</a:t>
            </a:r>
            <a:endParaRPr lang="en-US" sz="3000" dirty="0"/>
          </a:p>
        </p:txBody>
      </p:sp>
      <p:sp>
        <p:nvSpPr>
          <p:cNvPr id="19" name="Text 17"/>
          <p:cNvSpPr/>
          <p:nvPr/>
        </p:nvSpPr>
        <p:spPr>
          <a:xfrm>
            <a:off x="7010248" y="3383280"/>
            <a:ext cx="4541368" cy="502920"/>
          </a:xfrm>
          <a:prstGeom prst="rect">
            <a:avLst/>
          </a:prstGeom>
          <a:noFill/>
          <a:ln/>
        </p:spPr>
        <p:txBody>
          <a:bodyPr wrap="square" lIns="0" tIns="0" rIns="0" bIns="0" rtlCol="0" anchor="t"/>
          <a:lstStyle/>
          <a:p>
            <a:pPr indent="0" marL="0">
              <a:lnSpc>
                <a:spcPts val="1800"/>
              </a:lnSpc>
              <a:buNone/>
            </a:pPr>
            <a:r>
              <a:rPr lang="en-US" sz="1500" b="1" dirty="0">
                <a:solidFill>
                  <a:srgbClr val="111111"/>
                </a:solidFill>
                <a:latin typeface="Arial" pitchFamily="34" charset="0"/>
                <a:ea typeface="Arial" pitchFamily="34" charset="-122"/>
                <a:cs typeface="Arial" pitchFamily="34" charset="-120"/>
              </a:rPr>
              <a:t>Clore le projet et capitaliser l'expérience</a:t>
            </a:r>
            <a:endParaRPr lang="en-US" sz="1500" dirty="0"/>
          </a:p>
        </p:txBody>
      </p:sp>
      <p:sp>
        <p:nvSpPr>
          <p:cNvPr id="20" name="Text 18"/>
          <p:cNvSpPr/>
          <p:nvPr/>
        </p:nvSpPr>
        <p:spPr>
          <a:xfrm>
            <a:off x="7010248" y="3886200"/>
            <a:ext cx="4541368" cy="640080"/>
          </a:xfrm>
          <a:prstGeom prst="rect">
            <a:avLst/>
          </a:prstGeom>
          <a:noFill/>
          <a:ln/>
        </p:spPr>
        <p:txBody>
          <a:bodyPr wrap="square" lIns="0" tIns="0" rIns="0" bIns="0" rtlCol="0" anchor="t"/>
          <a:lstStyle/>
          <a:p>
            <a:pPr indent="0" marL="0">
              <a:lnSpc>
                <a:spcPts val="1500"/>
              </a:lnSpc>
              <a:buNone/>
            </a:pPr>
            <a:r>
              <a:rPr lang="en-US" sz="1150" dirty="0">
                <a:solidFill>
                  <a:srgbClr val="6B6B6B"/>
                </a:solidFill>
                <a:latin typeface="Arial" pitchFamily="34" charset="0"/>
                <a:ea typeface="Arial" pitchFamily="34" charset="-122"/>
                <a:cs typeface="Arial" pitchFamily="34" charset="-120"/>
              </a:rPr>
              <a:t>Documents de clôture, PV de recette, processus de REX.</a:t>
            </a:r>
            <a:endParaRPr lang="en-US" sz="1150" dirty="0"/>
          </a:p>
        </p:txBody>
      </p:sp>
      <p:sp>
        <p:nvSpPr>
          <p:cNvPr id="21" name="Shape 19"/>
          <p:cNvSpPr/>
          <p:nvPr/>
        </p:nvSpPr>
        <p:spPr>
          <a:xfrm>
            <a:off x="6324448" y="4754880"/>
            <a:ext cx="5227168" cy="0"/>
          </a:xfrm>
          <a:prstGeom prst="line">
            <a:avLst/>
          </a:prstGeom>
          <a:noFill/>
          <a:ln w="9525">
            <a:solidFill>
              <a:srgbClr val="CCCCEB"/>
            </a:solidFill>
            <a:prstDash val="solid"/>
          </a:ln>
        </p:spPr>
      </p:sp>
      <p:sp>
        <p:nvSpPr>
          <p:cNvPr id="22" name="Text 20"/>
          <p:cNvSpPr/>
          <p:nvPr/>
        </p:nvSpPr>
        <p:spPr>
          <a:xfrm>
            <a:off x="640080" y="4892040"/>
            <a:ext cx="640080" cy="1371600"/>
          </a:xfrm>
          <a:prstGeom prst="rect">
            <a:avLst/>
          </a:prstGeom>
          <a:noFill/>
          <a:ln/>
        </p:spPr>
        <p:txBody>
          <a:bodyPr wrap="square" lIns="0" tIns="0" rIns="0" bIns="0" rtlCol="0" anchor="t"/>
          <a:lstStyle/>
          <a:p>
            <a:pPr indent="0" marL="0">
              <a:buNone/>
            </a:pPr>
            <a:r>
              <a:rPr lang="en-US" sz="3000" b="1" dirty="0">
                <a:solidFill>
                  <a:srgbClr val="1E2BFA"/>
                </a:solidFill>
                <a:latin typeface="Arial" pitchFamily="34" charset="0"/>
                <a:ea typeface="Arial" pitchFamily="34" charset="-122"/>
                <a:cs typeface="Arial" pitchFamily="34" charset="-120"/>
              </a:rPr>
              <a:t>05</a:t>
            </a:r>
            <a:endParaRPr lang="en-US" sz="3000" dirty="0"/>
          </a:p>
        </p:txBody>
      </p:sp>
      <p:sp>
        <p:nvSpPr>
          <p:cNvPr id="23" name="Text 21"/>
          <p:cNvSpPr/>
          <p:nvPr/>
        </p:nvSpPr>
        <p:spPr>
          <a:xfrm>
            <a:off x="1325880" y="4892040"/>
            <a:ext cx="4541368" cy="502920"/>
          </a:xfrm>
          <a:prstGeom prst="rect">
            <a:avLst/>
          </a:prstGeom>
          <a:noFill/>
          <a:ln/>
        </p:spPr>
        <p:txBody>
          <a:bodyPr wrap="square" lIns="0" tIns="0" rIns="0" bIns="0" rtlCol="0" anchor="t"/>
          <a:lstStyle/>
          <a:p>
            <a:pPr indent="0" marL="0">
              <a:lnSpc>
                <a:spcPts val="1800"/>
              </a:lnSpc>
              <a:buNone/>
            </a:pPr>
            <a:r>
              <a:rPr lang="en-US" sz="1500" b="1" dirty="0">
                <a:solidFill>
                  <a:srgbClr val="111111"/>
                </a:solidFill>
                <a:latin typeface="Arial" pitchFamily="34" charset="0"/>
                <a:ea typeface="Arial" pitchFamily="34" charset="-122"/>
                <a:cs typeface="Arial" pitchFamily="34" charset="-120"/>
              </a:rPr>
              <a:t>Organisation du groupe et bilan</a:t>
            </a:r>
            <a:endParaRPr lang="en-US" sz="1500" dirty="0"/>
          </a:p>
        </p:txBody>
      </p:sp>
      <p:sp>
        <p:nvSpPr>
          <p:cNvPr id="24" name="Text 22"/>
          <p:cNvSpPr/>
          <p:nvPr/>
        </p:nvSpPr>
        <p:spPr>
          <a:xfrm>
            <a:off x="1325880" y="5394960"/>
            <a:ext cx="4541368" cy="640080"/>
          </a:xfrm>
          <a:prstGeom prst="rect">
            <a:avLst/>
          </a:prstGeom>
          <a:noFill/>
          <a:ln/>
        </p:spPr>
        <p:txBody>
          <a:bodyPr wrap="square" lIns="0" tIns="0" rIns="0" bIns="0" rtlCol="0" anchor="t"/>
          <a:lstStyle/>
          <a:p>
            <a:pPr indent="0" marL="0">
              <a:lnSpc>
                <a:spcPts val="1500"/>
              </a:lnSpc>
              <a:buNone/>
            </a:pPr>
            <a:r>
              <a:rPr lang="en-US" sz="1150" dirty="0">
                <a:solidFill>
                  <a:srgbClr val="6B6B6B"/>
                </a:solidFill>
                <a:latin typeface="Arial" pitchFamily="34" charset="0"/>
                <a:ea typeface="Arial" pitchFamily="34" charset="-122"/>
                <a:cs typeface="Arial" pitchFamily="34" charset="-120"/>
              </a:rPr>
              <a:t>Répartition du travail sur les 4 jours, points forts et axes d'amélioration.</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457200"/>
            <a:ext cx="8863279" cy="320040"/>
          </a:xfrm>
          <a:prstGeom prst="rect">
            <a:avLst/>
          </a:prstGeom>
          <a:noFill/>
          <a:ln/>
        </p:spPr>
        <p:txBody>
          <a:bodyPr wrap="square" lIns="0" tIns="0" rIns="0" bIns="0" rtlCol="0" anchor="t"/>
          <a:lstStyle/>
          <a:p>
            <a:pPr algn="l" indent="0" marL="0">
              <a:buNone/>
            </a:pPr>
            <a:r>
              <a:rPr lang="en-US" sz="1200" b="1" spc="100" kern="0" dirty="0">
                <a:solidFill>
                  <a:srgbClr val="1E2BFA"/>
                </a:solidFill>
                <a:latin typeface="Arial" pitchFamily="34" charset="0"/>
                <a:ea typeface="Arial" pitchFamily="34" charset="-122"/>
                <a:cs typeface="Arial" pitchFamily="34" charset="-120"/>
              </a:rPr>
              <a:t>01 · CONTEXTE</a:t>
            </a:r>
            <a:endParaRPr lang="en-US" sz="1200" dirty="0"/>
          </a:p>
        </p:txBody>
      </p:sp>
      <p:sp>
        <p:nvSpPr>
          <p:cNvPr id="3" name="Shape 1"/>
          <p:cNvSpPr/>
          <p:nvPr/>
        </p:nvSpPr>
        <p:spPr>
          <a:xfrm>
            <a:off x="9777679" y="420624"/>
            <a:ext cx="1773936" cy="329184"/>
          </a:xfrm>
          <a:prstGeom prst="roundRect">
            <a:avLst>
              <a:gd name="adj" fmla="val 50000"/>
            </a:avLst>
          </a:prstGeom>
          <a:solidFill>
            <a:srgbClr val="E9E7E9"/>
          </a:solidFill>
          <a:ln/>
        </p:spPr>
      </p:sp>
      <p:sp>
        <p:nvSpPr>
          <p:cNvPr id="4" name="Text 2"/>
          <p:cNvSpPr/>
          <p:nvPr/>
        </p:nvSpPr>
        <p:spPr>
          <a:xfrm>
            <a:off x="9777679" y="420624"/>
            <a:ext cx="1773936" cy="329184"/>
          </a:xfrm>
          <a:prstGeom prst="rect">
            <a:avLst/>
          </a:prstGeom>
          <a:noFill/>
          <a:ln/>
        </p:spPr>
        <p:txBody>
          <a:bodyPr wrap="square" lIns="0" tIns="0" rIns="0" bIns="0" rtlCol="0" anchor="ctr"/>
          <a:lstStyle/>
          <a:p>
            <a:pPr algn="ctr" indent="0" marL="0">
              <a:buNone/>
            </a:pPr>
            <a:r>
              <a:rPr lang="en-US" sz="1050" b="1" dirty="0">
                <a:solidFill>
                  <a:srgbClr val="1E2BFA"/>
                </a:solidFill>
                <a:latin typeface="Arial" pitchFamily="34" charset="0"/>
                <a:ea typeface="Arial" pitchFamily="34" charset="-122"/>
                <a:cs typeface="Arial" pitchFamily="34" charset="-120"/>
              </a:rPr>
              <a:t>Time'Eats</a:t>
            </a:r>
            <a:endParaRPr lang="en-US" sz="1050" dirty="0"/>
          </a:p>
        </p:txBody>
      </p:sp>
      <p:sp>
        <p:nvSpPr>
          <p:cNvPr id="5" name="Text 3"/>
          <p:cNvSpPr/>
          <p:nvPr/>
        </p:nvSpPr>
        <p:spPr>
          <a:xfrm>
            <a:off x="640080" y="868680"/>
            <a:ext cx="10911535" cy="777240"/>
          </a:xfrm>
          <a:prstGeom prst="rect">
            <a:avLst/>
          </a:prstGeom>
          <a:noFill/>
          <a:ln/>
        </p:spPr>
        <p:txBody>
          <a:bodyPr wrap="square" lIns="0" tIns="0" rIns="0" bIns="0" rtlCol="0" anchor="t"/>
          <a:lstStyle/>
          <a:p>
            <a:pPr algn="l" indent="0" marL="0">
              <a:lnSpc>
                <a:spcPts val="2900"/>
              </a:lnSpc>
              <a:buNone/>
            </a:pPr>
            <a:r>
              <a:rPr lang="en-US" sz="2700" b="1" dirty="0">
                <a:solidFill>
                  <a:srgbClr val="111111"/>
                </a:solidFill>
                <a:latin typeface="Arial" pitchFamily="34" charset="0"/>
                <a:ea typeface="Arial" pitchFamily="34" charset="-122"/>
                <a:cs typeface="Arial" pitchFamily="34" charset="-120"/>
              </a:rPr>
              <a:t>Time'Eats et la mission confiée à la cellule PMO</a:t>
            </a:r>
            <a:endParaRPr lang="en-US" sz="2700" dirty="0"/>
          </a:p>
        </p:txBody>
      </p:sp>
      <p:sp>
        <p:nvSpPr>
          <p:cNvPr id="6" name="Text 4"/>
          <p:cNvSpPr/>
          <p:nvPr/>
        </p:nvSpPr>
        <p:spPr>
          <a:xfrm>
            <a:off x="640080" y="1828800"/>
            <a:ext cx="10911535" cy="1005840"/>
          </a:xfrm>
          <a:prstGeom prst="rect">
            <a:avLst/>
          </a:prstGeom>
          <a:noFill/>
          <a:ln/>
        </p:spPr>
        <p:txBody>
          <a:bodyPr wrap="square" lIns="0" tIns="0" rIns="0" bIns="0" rtlCol="0" anchor="t"/>
          <a:lstStyle/>
          <a:p>
            <a:pPr algn="l" indent="0" marL="0">
              <a:lnSpc>
                <a:spcPts val="1823"/>
              </a:lnSpc>
              <a:buNone/>
            </a:pPr>
            <a:r>
              <a:rPr lang="en-US" sz="1350" dirty="0">
                <a:solidFill>
                  <a:srgbClr val="6B6B6B"/>
                </a:solidFill>
                <a:latin typeface="Arial" pitchFamily="34" charset="0"/>
                <a:ea typeface="Arial" pitchFamily="34" charset="-122"/>
                <a:cs typeface="Arial" pitchFamily="34" charset="-120"/>
              </a:rPr>
              <a:t>Time'Eats vend de la nourriture préparée et lance la livraison à domicile, avec un réseau de traiteurs et de chefs partenaires. Ambition de la Direction : un million de nouveaux clients et dix mille restaurants ou traiteurs partenaires en deux ans, pour devenir un acteur reconnu en France à cinq ans — sans concurrencer directement les grandes plateformes internationales.</a:t>
            </a:r>
            <a:endParaRPr lang="en-US" sz="1350" dirty="0"/>
          </a:p>
        </p:txBody>
      </p:sp>
      <p:sp>
        <p:nvSpPr>
          <p:cNvPr id="7" name="Text 5"/>
          <p:cNvSpPr/>
          <p:nvPr/>
        </p:nvSpPr>
        <p:spPr>
          <a:xfrm>
            <a:off x="640080" y="2880360"/>
            <a:ext cx="10911535" cy="1188720"/>
          </a:xfrm>
          <a:prstGeom prst="rect">
            <a:avLst/>
          </a:prstGeom>
          <a:noFill/>
          <a:ln/>
        </p:spPr>
        <p:txBody>
          <a:bodyPr wrap="square" lIns="0" tIns="0" rIns="0" bIns="0" rtlCol="0" anchor="t"/>
          <a:lstStyle/>
          <a:p>
            <a:pPr algn="l" indent="0" marL="0">
              <a:lnSpc>
                <a:spcPts val="1823"/>
              </a:lnSpc>
              <a:buNone/>
            </a:pPr>
            <a:r>
              <a:rPr lang="en-US" sz="1350" dirty="0">
                <a:solidFill>
                  <a:srgbClr val="6B6B6B"/>
                </a:solidFill>
                <a:latin typeface="Arial" pitchFamily="34" charset="0"/>
                <a:ea typeface="Arial" pitchFamily="34" charset="-122"/>
                <a:cs typeface="Arial" pitchFamily="34" charset="-120"/>
              </a:rPr>
              <a:t>Pour tenir ce rythme, la DSI doit livrer beaucoup en peu de temps — application web, applications mobiles, CRM, sécurité renforcée. Onze projets sont lancés ou à lancer sur l'année, pilotés par une cellule PMO de cinq chefs de projet tout juste créée. La Direction nous a demandé de structurer le pilotage du portefeuille avant qu'un projet n'échoue faute d'organisation.</a:t>
            </a:r>
            <a:endParaRPr lang="en-US" sz="1350" dirty="0"/>
          </a:p>
        </p:txBody>
      </p:sp>
      <p:sp>
        <p:nvSpPr>
          <p:cNvPr id="8" name="Shape 6"/>
          <p:cNvSpPr/>
          <p:nvPr/>
        </p:nvSpPr>
        <p:spPr>
          <a:xfrm>
            <a:off x="640080" y="4343400"/>
            <a:ext cx="2522144" cy="1600200"/>
          </a:xfrm>
          <a:prstGeom prst="roundRect">
            <a:avLst>
              <a:gd name="adj" fmla="val 5714"/>
            </a:avLst>
          </a:prstGeom>
          <a:solidFill>
            <a:srgbClr val="F2F0E8"/>
          </a:solidFill>
          <a:ln w="15875">
            <a:solidFill>
              <a:srgbClr val="CCCCEB"/>
            </a:solidFill>
            <a:prstDash val="solid"/>
          </a:ln>
        </p:spPr>
      </p:sp>
      <p:sp>
        <p:nvSpPr>
          <p:cNvPr id="9" name="Text 7"/>
          <p:cNvSpPr/>
          <p:nvPr/>
        </p:nvSpPr>
        <p:spPr>
          <a:xfrm>
            <a:off x="841248" y="4489704"/>
            <a:ext cx="2119808" cy="457200"/>
          </a:xfrm>
          <a:prstGeom prst="rect">
            <a:avLst/>
          </a:prstGeom>
          <a:noFill/>
          <a:ln/>
        </p:spPr>
        <p:txBody>
          <a:bodyPr wrap="square" lIns="0" tIns="0" rIns="0" bIns="0" rtlCol="0" anchor="t"/>
          <a:lstStyle/>
          <a:p>
            <a:pPr indent="0" marL="0">
              <a:buNone/>
            </a:pPr>
            <a:r>
              <a:rPr lang="en-US" sz="2600" b="1" dirty="0">
                <a:solidFill>
                  <a:srgbClr val="1E2BFA"/>
                </a:solidFill>
                <a:latin typeface="Arial" pitchFamily="34" charset="0"/>
                <a:ea typeface="Arial" pitchFamily="34" charset="-122"/>
                <a:cs typeface="Arial" pitchFamily="34" charset="-120"/>
              </a:rPr>
              <a:t>200</a:t>
            </a:r>
            <a:endParaRPr lang="en-US" sz="2600" dirty="0"/>
          </a:p>
        </p:txBody>
      </p:sp>
      <p:sp>
        <p:nvSpPr>
          <p:cNvPr id="10" name="Text 8"/>
          <p:cNvSpPr/>
          <p:nvPr/>
        </p:nvSpPr>
        <p:spPr>
          <a:xfrm>
            <a:off x="841248" y="5020056"/>
            <a:ext cx="2119808" cy="777240"/>
          </a:xfrm>
          <a:prstGeom prst="rect">
            <a:avLst/>
          </a:prstGeom>
          <a:noFill/>
          <a:ln/>
        </p:spPr>
        <p:txBody>
          <a:bodyPr wrap="square" lIns="0" tIns="0" rIns="0" bIns="0" rtlCol="0" anchor="t"/>
          <a:lstStyle/>
          <a:p>
            <a:pPr indent="0" marL="0">
              <a:lnSpc>
                <a:spcPts val="1500"/>
              </a:lnSpc>
              <a:buNone/>
            </a:pPr>
            <a:r>
              <a:rPr lang="en-US" sz="1250" b="1" dirty="0">
                <a:solidFill>
                  <a:srgbClr val="111111"/>
                </a:solidFill>
                <a:latin typeface="Arial" pitchFamily="34" charset="0"/>
                <a:ea typeface="Arial" pitchFamily="34" charset="-122"/>
                <a:cs typeface="Arial" pitchFamily="34" charset="-120"/>
              </a:rPr>
              <a:t>salariés dans l'entreprise</a:t>
            </a:r>
            <a:endParaRPr lang="en-US" sz="1250" dirty="0"/>
          </a:p>
        </p:txBody>
      </p:sp>
      <p:sp>
        <p:nvSpPr>
          <p:cNvPr id="11" name="Shape 9"/>
          <p:cNvSpPr/>
          <p:nvPr/>
        </p:nvSpPr>
        <p:spPr>
          <a:xfrm>
            <a:off x="3436544" y="4343400"/>
            <a:ext cx="2522144" cy="1600200"/>
          </a:xfrm>
          <a:prstGeom prst="roundRect">
            <a:avLst>
              <a:gd name="adj" fmla="val 5714"/>
            </a:avLst>
          </a:prstGeom>
          <a:solidFill>
            <a:srgbClr val="F2F0E8"/>
          </a:solidFill>
          <a:ln w="15875">
            <a:solidFill>
              <a:srgbClr val="CCCCEB"/>
            </a:solidFill>
            <a:prstDash val="solid"/>
          </a:ln>
        </p:spPr>
      </p:sp>
      <p:sp>
        <p:nvSpPr>
          <p:cNvPr id="12" name="Text 10"/>
          <p:cNvSpPr/>
          <p:nvPr/>
        </p:nvSpPr>
        <p:spPr>
          <a:xfrm>
            <a:off x="3637712" y="4489704"/>
            <a:ext cx="2119808" cy="457200"/>
          </a:xfrm>
          <a:prstGeom prst="rect">
            <a:avLst/>
          </a:prstGeom>
          <a:noFill/>
          <a:ln/>
        </p:spPr>
        <p:txBody>
          <a:bodyPr wrap="square" lIns="0" tIns="0" rIns="0" bIns="0" rtlCol="0" anchor="t"/>
          <a:lstStyle/>
          <a:p>
            <a:pPr indent="0" marL="0">
              <a:buNone/>
            </a:pPr>
            <a:r>
              <a:rPr lang="en-US" sz="2600" b="1" dirty="0">
                <a:solidFill>
                  <a:srgbClr val="1E2BFA"/>
                </a:solidFill>
                <a:latin typeface="Arial" pitchFamily="34" charset="0"/>
                <a:ea typeface="Arial" pitchFamily="34" charset="-122"/>
                <a:cs typeface="Arial" pitchFamily="34" charset="-120"/>
              </a:rPr>
              <a:t>21</a:t>
            </a:r>
            <a:endParaRPr lang="en-US" sz="2600" dirty="0"/>
          </a:p>
        </p:txBody>
      </p:sp>
      <p:sp>
        <p:nvSpPr>
          <p:cNvPr id="13" name="Text 11"/>
          <p:cNvSpPr/>
          <p:nvPr/>
        </p:nvSpPr>
        <p:spPr>
          <a:xfrm>
            <a:off x="3637712" y="5020056"/>
            <a:ext cx="2119808" cy="777240"/>
          </a:xfrm>
          <a:prstGeom prst="rect">
            <a:avLst/>
          </a:prstGeom>
          <a:noFill/>
          <a:ln/>
        </p:spPr>
        <p:txBody>
          <a:bodyPr wrap="square" lIns="0" tIns="0" rIns="0" bIns="0" rtlCol="0" anchor="t"/>
          <a:lstStyle/>
          <a:p>
            <a:pPr indent="0" marL="0">
              <a:lnSpc>
                <a:spcPts val="1500"/>
              </a:lnSpc>
              <a:buNone/>
            </a:pPr>
            <a:r>
              <a:rPr lang="en-US" sz="1250" b="1" dirty="0">
                <a:solidFill>
                  <a:srgbClr val="111111"/>
                </a:solidFill>
                <a:latin typeface="Arial" pitchFamily="34" charset="0"/>
                <a:ea typeface="Arial" pitchFamily="34" charset="-122"/>
                <a:cs typeface="Arial" pitchFamily="34" charset="-120"/>
              </a:rPr>
              <a:t>collaborateurs à la DSI</a:t>
            </a:r>
            <a:endParaRPr lang="en-US" sz="1250" dirty="0"/>
          </a:p>
        </p:txBody>
      </p:sp>
      <p:sp>
        <p:nvSpPr>
          <p:cNvPr id="14" name="Shape 12"/>
          <p:cNvSpPr/>
          <p:nvPr/>
        </p:nvSpPr>
        <p:spPr>
          <a:xfrm>
            <a:off x="6233008" y="4343400"/>
            <a:ext cx="2522144" cy="1600200"/>
          </a:xfrm>
          <a:prstGeom prst="roundRect">
            <a:avLst>
              <a:gd name="adj" fmla="val 5714"/>
            </a:avLst>
          </a:prstGeom>
          <a:solidFill>
            <a:srgbClr val="F2F0E8"/>
          </a:solidFill>
          <a:ln w="15875">
            <a:solidFill>
              <a:srgbClr val="CCCCEB"/>
            </a:solidFill>
            <a:prstDash val="solid"/>
          </a:ln>
        </p:spPr>
      </p:sp>
      <p:sp>
        <p:nvSpPr>
          <p:cNvPr id="15" name="Text 13"/>
          <p:cNvSpPr/>
          <p:nvPr/>
        </p:nvSpPr>
        <p:spPr>
          <a:xfrm>
            <a:off x="6434176" y="4489704"/>
            <a:ext cx="2119808" cy="457200"/>
          </a:xfrm>
          <a:prstGeom prst="rect">
            <a:avLst/>
          </a:prstGeom>
          <a:noFill/>
          <a:ln/>
        </p:spPr>
        <p:txBody>
          <a:bodyPr wrap="square" lIns="0" tIns="0" rIns="0" bIns="0" rtlCol="0" anchor="t"/>
          <a:lstStyle/>
          <a:p>
            <a:pPr indent="0" marL="0">
              <a:buNone/>
            </a:pPr>
            <a:r>
              <a:rPr lang="en-US" sz="2600" b="1" dirty="0">
                <a:solidFill>
                  <a:srgbClr val="1E2BFA"/>
                </a:solidFill>
                <a:latin typeface="Arial" pitchFamily="34" charset="0"/>
                <a:ea typeface="Arial" pitchFamily="34" charset="-122"/>
                <a:cs typeface="Arial" pitchFamily="34" charset="-120"/>
              </a:rPr>
              <a:t>11</a:t>
            </a:r>
            <a:endParaRPr lang="en-US" sz="2600" dirty="0"/>
          </a:p>
        </p:txBody>
      </p:sp>
      <p:sp>
        <p:nvSpPr>
          <p:cNvPr id="16" name="Text 14"/>
          <p:cNvSpPr/>
          <p:nvPr/>
        </p:nvSpPr>
        <p:spPr>
          <a:xfrm>
            <a:off x="6434176" y="5020056"/>
            <a:ext cx="2119808" cy="777240"/>
          </a:xfrm>
          <a:prstGeom prst="rect">
            <a:avLst/>
          </a:prstGeom>
          <a:noFill/>
          <a:ln/>
        </p:spPr>
        <p:txBody>
          <a:bodyPr wrap="square" lIns="0" tIns="0" rIns="0" bIns="0" rtlCol="0" anchor="t"/>
          <a:lstStyle/>
          <a:p>
            <a:pPr indent="0" marL="0">
              <a:lnSpc>
                <a:spcPts val="1500"/>
              </a:lnSpc>
              <a:buNone/>
            </a:pPr>
            <a:r>
              <a:rPr lang="en-US" sz="1250" b="1" dirty="0">
                <a:solidFill>
                  <a:srgbClr val="111111"/>
                </a:solidFill>
                <a:latin typeface="Arial" pitchFamily="34" charset="0"/>
                <a:ea typeface="Arial" pitchFamily="34" charset="-122"/>
                <a:cs typeface="Arial" pitchFamily="34" charset="-120"/>
              </a:rPr>
              <a:t>projets dans le portefeuille DSI</a:t>
            </a:r>
            <a:endParaRPr lang="en-US" sz="1250" dirty="0"/>
          </a:p>
        </p:txBody>
      </p:sp>
      <p:sp>
        <p:nvSpPr>
          <p:cNvPr id="17" name="Shape 15"/>
          <p:cNvSpPr/>
          <p:nvPr/>
        </p:nvSpPr>
        <p:spPr>
          <a:xfrm>
            <a:off x="9029471" y="4343400"/>
            <a:ext cx="2522144" cy="1600200"/>
          </a:xfrm>
          <a:prstGeom prst="roundRect">
            <a:avLst>
              <a:gd name="adj" fmla="val 5714"/>
            </a:avLst>
          </a:prstGeom>
          <a:solidFill>
            <a:srgbClr val="F2F0E8"/>
          </a:solidFill>
          <a:ln w="15875">
            <a:solidFill>
              <a:srgbClr val="CCCCEB"/>
            </a:solidFill>
            <a:prstDash val="solid"/>
          </a:ln>
        </p:spPr>
      </p:sp>
      <p:sp>
        <p:nvSpPr>
          <p:cNvPr id="18" name="Text 16"/>
          <p:cNvSpPr/>
          <p:nvPr/>
        </p:nvSpPr>
        <p:spPr>
          <a:xfrm>
            <a:off x="9230639" y="4489704"/>
            <a:ext cx="2119808" cy="457200"/>
          </a:xfrm>
          <a:prstGeom prst="rect">
            <a:avLst/>
          </a:prstGeom>
          <a:noFill/>
          <a:ln/>
        </p:spPr>
        <p:txBody>
          <a:bodyPr wrap="square" lIns="0" tIns="0" rIns="0" bIns="0" rtlCol="0" anchor="t"/>
          <a:lstStyle/>
          <a:p>
            <a:pPr indent="0" marL="0">
              <a:buNone/>
            </a:pPr>
            <a:r>
              <a:rPr lang="en-US" sz="2600" b="1" dirty="0">
                <a:solidFill>
                  <a:srgbClr val="1E2BFA"/>
                </a:solidFill>
                <a:latin typeface="Arial" pitchFamily="34" charset="0"/>
                <a:ea typeface="Arial" pitchFamily="34" charset="-122"/>
                <a:cs typeface="Arial" pitchFamily="34" charset="-120"/>
              </a:rPr>
              <a:t>25 %</a:t>
            </a:r>
            <a:endParaRPr lang="en-US" sz="2600" dirty="0"/>
          </a:p>
        </p:txBody>
      </p:sp>
      <p:sp>
        <p:nvSpPr>
          <p:cNvPr id="19" name="Text 17"/>
          <p:cNvSpPr/>
          <p:nvPr/>
        </p:nvSpPr>
        <p:spPr>
          <a:xfrm>
            <a:off x="9230639" y="5020056"/>
            <a:ext cx="2119808" cy="777240"/>
          </a:xfrm>
          <a:prstGeom prst="rect">
            <a:avLst/>
          </a:prstGeom>
          <a:noFill/>
          <a:ln/>
        </p:spPr>
        <p:txBody>
          <a:bodyPr wrap="square" lIns="0" tIns="0" rIns="0" bIns="0" rtlCol="0" anchor="t"/>
          <a:lstStyle/>
          <a:p>
            <a:pPr indent="0" marL="0">
              <a:lnSpc>
                <a:spcPts val="1500"/>
              </a:lnSpc>
              <a:buNone/>
            </a:pPr>
            <a:r>
              <a:rPr lang="en-US" sz="1250" b="1" dirty="0">
                <a:solidFill>
                  <a:srgbClr val="111111"/>
                </a:solidFill>
                <a:latin typeface="Arial" pitchFamily="34" charset="0"/>
                <a:ea typeface="Arial" pitchFamily="34" charset="-122"/>
                <a:cs typeface="Arial" pitchFamily="34" charset="-120"/>
              </a:rPr>
              <a:t>de part de marché visée à 5 ans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8290353" y="0"/>
            <a:ext cx="3901342" cy="6858000"/>
          </a:xfrm>
          <a:prstGeom prst="rect">
            <a:avLst/>
          </a:prstGeom>
          <a:solidFill>
            <a:srgbClr val="E9E7E9"/>
          </a:solidFill>
          <a:ln/>
        </p:spPr>
      </p:sp>
      <p:sp>
        <p:nvSpPr>
          <p:cNvPr id="3" name="Shape 1"/>
          <p:cNvSpPr/>
          <p:nvPr/>
        </p:nvSpPr>
        <p:spPr>
          <a:xfrm>
            <a:off x="10271455" y="4663440"/>
            <a:ext cx="64008" cy="64008"/>
          </a:xfrm>
          <a:prstGeom prst="ellipse">
            <a:avLst/>
          </a:prstGeom>
          <a:solidFill>
            <a:srgbClr val="1E2BFA">
              <a:alpha val="30000"/>
            </a:srgbClr>
          </a:solidFill>
          <a:ln/>
        </p:spPr>
      </p:sp>
      <p:sp>
        <p:nvSpPr>
          <p:cNvPr id="4" name="Shape 2"/>
          <p:cNvSpPr/>
          <p:nvPr/>
        </p:nvSpPr>
        <p:spPr>
          <a:xfrm>
            <a:off x="10472623" y="4663440"/>
            <a:ext cx="64008" cy="64008"/>
          </a:xfrm>
          <a:prstGeom prst="ellipse">
            <a:avLst/>
          </a:prstGeom>
          <a:solidFill>
            <a:srgbClr val="1E2BFA">
              <a:alpha val="30000"/>
            </a:srgbClr>
          </a:solidFill>
          <a:ln/>
        </p:spPr>
      </p:sp>
      <p:sp>
        <p:nvSpPr>
          <p:cNvPr id="5" name="Shape 3"/>
          <p:cNvSpPr/>
          <p:nvPr/>
        </p:nvSpPr>
        <p:spPr>
          <a:xfrm>
            <a:off x="10673791" y="4663440"/>
            <a:ext cx="64008" cy="64008"/>
          </a:xfrm>
          <a:prstGeom prst="ellipse">
            <a:avLst/>
          </a:prstGeom>
          <a:solidFill>
            <a:srgbClr val="1E2BFA">
              <a:alpha val="30000"/>
            </a:srgbClr>
          </a:solidFill>
          <a:ln/>
        </p:spPr>
      </p:sp>
      <p:sp>
        <p:nvSpPr>
          <p:cNvPr id="6" name="Shape 4"/>
          <p:cNvSpPr/>
          <p:nvPr/>
        </p:nvSpPr>
        <p:spPr>
          <a:xfrm>
            <a:off x="10271455" y="4864608"/>
            <a:ext cx="64008" cy="64008"/>
          </a:xfrm>
          <a:prstGeom prst="ellipse">
            <a:avLst/>
          </a:prstGeom>
          <a:solidFill>
            <a:srgbClr val="1E2BFA">
              <a:alpha val="30000"/>
            </a:srgbClr>
          </a:solidFill>
          <a:ln/>
        </p:spPr>
      </p:sp>
      <p:sp>
        <p:nvSpPr>
          <p:cNvPr id="7" name="Shape 5"/>
          <p:cNvSpPr/>
          <p:nvPr/>
        </p:nvSpPr>
        <p:spPr>
          <a:xfrm>
            <a:off x="10472623" y="4864608"/>
            <a:ext cx="64008" cy="64008"/>
          </a:xfrm>
          <a:prstGeom prst="ellipse">
            <a:avLst/>
          </a:prstGeom>
          <a:solidFill>
            <a:srgbClr val="1E2BFA">
              <a:alpha val="30000"/>
            </a:srgbClr>
          </a:solidFill>
          <a:ln/>
        </p:spPr>
      </p:sp>
      <p:sp>
        <p:nvSpPr>
          <p:cNvPr id="8" name="Shape 6"/>
          <p:cNvSpPr/>
          <p:nvPr/>
        </p:nvSpPr>
        <p:spPr>
          <a:xfrm>
            <a:off x="10673791" y="4864608"/>
            <a:ext cx="64008" cy="64008"/>
          </a:xfrm>
          <a:prstGeom prst="ellipse">
            <a:avLst/>
          </a:prstGeom>
          <a:solidFill>
            <a:srgbClr val="1E2BFA">
              <a:alpha val="30000"/>
            </a:srgbClr>
          </a:solidFill>
          <a:ln/>
        </p:spPr>
      </p:sp>
      <p:sp>
        <p:nvSpPr>
          <p:cNvPr id="9" name="Shape 7"/>
          <p:cNvSpPr/>
          <p:nvPr/>
        </p:nvSpPr>
        <p:spPr>
          <a:xfrm>
            <a:off x="10271455" y="5065776"/>
            <a:ext cx="64008" cy="64008"/>
          </a:xfrm>
          <a:prstGeom prst="ellipse">
            <a:avLst/>
          </a:prstGeom>
          <a:solidFill>
            <a:srgbClr val="1E2BFA">
              <a:alpha val="30000"/>
            </a:srgbClr>
          </a:solidFill>
          <a:ln/>
        </p:spPr>
      </p:sp>
      <p:sp>
        <p:nvSpPr>
          <p:cNvPr id="10" name="Shape 8"/>
          <p:cNvSpPr/>
          <p:nvPr/>
        </p:nvSpPr>
        <p:spPr>
          <a:xfrm>
            <a:off x="10472623" y="5065776"/>
            <a:ext cx="64008" cy="64008"/>
          </a:xfrm>
          <a:prstGeom prst="ellipse">
            <a:avLst/>
          </a:prstGeom>
          <a:solidFill>
            <a:srgbClr val="1E2BFA">
              <a:alpha val="30000"/>
            </a:srgbClr>
          </a:solidFill>
          <a:ln/>
        </p:spPr>
      </p:sp>
      <p:sp>
        <p:nvSpPr>
          <p:cNvPr id="11" name="Shape 9"/>
          <p:cNvSpPr/>
          <p:nvPr/>
        </p:nvSpPr>
        <p:spPr>
          <a:xfrm>
            <a:off x="10673791" y="5065776"/>
            <a:ext cx="64008" cy="64008"/>
          </a:xfrm>
          <a:prstGeom prst="ellipse">
            <a:avLst/>
          </a:prstGeom>
          <a:solidFill>
            <a:srgbClr val="1E2BFA">
              <a:alpha val="30000"/>
            </a:srgbClr>
          </a:solidFill>
          <a:ln/>
        </p:spPr>
      </p:sp>
      <p:sp>
        <p:nvSpPr>
          <p:cNvPr id="12" name="Text 10"/>
          <p:cNvSpPr/>
          <p:nvPr/>
        </p:nvSpPr>
        <p:spPr>
          <a:xfrm>
            <a:off x="640080" y="2468880"/>
            <a:ext cx="7315200" cy="365760"/>
          </a:xfrm>
          <a:prstGeom prst="rect">
            <a:avLst/>
          </a:prstGeom>
          <a:noFill/>
          <a:ln/>
        </p:spPr>
        <p:txBody>
          <a:bodyPr wrap="square" lIns="0" tIns="0" rIns="0" bIns="0" rtlCol="0" anchor="ctr"/>
          <a:lstStyle/>
          <a:p>
            <a:pPr indent="0" marL="0">
              <a:buNone/>
            </a:pPr>
            <a:r>
              <a:rPr lang="en-US" sz="1300" b="1" spc="100" kern="0" dirty="0">
                <a:solidFill>
                  <a:srgbClr val="1E2BFA"/>
                </a:solidFill>
                <a:latin typeface="Arial" pitchFamily="34" charset="0"/>
                <a:ea typeface="Arial" pitchFamily="34" charset="-122"/>
                <a:cs typeface="Arial" pitchFamily="34" charset="-120"/>
              </a:rPr>
              <a:t>PARTIE 1 · 01</a:t>
            </a:r>
            <a:endParaRPr lang="en-US" sz="1300" dirty="0"/>
          </a:p>
        </p:txBody>
      </p:sp>
      <p:sp>
        <p:nvSpPr>
          <p:cNvPr id="13" name="Text 11"/>
          <p:cNvSpPr/>
          <p:nvPr/>
        </p:nvSpPr>
        <p:spPr>
          <a:xfrm>
            <a:off x="640080" y="2926080"/>
            <a:ext cx="7498080" cy="1737360"/>
          </a:xfrm>
          <a:prstGeom prst="rect">
            <a:avLst/>
          </a:prstGeom>
          <a:noFill/>
          <a:ln/>
        </p:spPr>
        <p:txBody>
          <a:bodyPr wrap="square" lIns="0" tIns="0" rIns="0" bIns="0" rtlCol="0" anchor="ctr"/>
          <a:lstStyle/>
          <a:p>
            <a:pPr indent="0" marL="0">
              <a:lnSpc>
                <a:spcPts val="3800"/>
              </a:lnSpc>
              <a:buNone/>
            </a:pPr>
            <a:r>
              <a:rPr lang="en-US" sz="3400" b="1" dirty="0">
                <a:solidFill>
                  <a:srgbClr val="111111"/>
                </a:solidFill>
                <a:latin typeface="Arial" pitchFamily="34" charset="0"/>
                <a:ea typeface="Arial" pitchFamily="34" charset="-122"/>
                <a:cs typeface="Arial" pitchFamily="34" charset="-120"/>
              </a:rPr>
              <a:t>Définir, prioriser et faire vivre le portefeuille de projets</a:t>
            </a:r>
            <a:endParaRPr lang="en-US" sz="3400" dirty="0"/>
          </a:p>
        </p:txBody>
      </p:sp>
      <p:sp>
        <p:nvSpPr>
          <p:cNvPr id="14" name="Text 12"/>
          <p:cNvSpPr/>
          <p:nvPr/>
        </p:nvSpPr>
        <p:spPr>
          <a:xfrm>
            <a:off x="640080" y="4617720"/>
            <a:ext cx="6858000" cy="914400"/>
          </a:xfrm>
          <a:prstGeom prst="rect">
            <a:avLst/>
          </a:prstGeom>
          <a:noFill/>
          <a:ln/>
        </p:spPr>
        <p:txBody>
          <a:bodyPr wrap="square" lIns="0" tIns="0" rIns="0" bIns="0" rtlCol="0" anchor="ctr"/>
          <a:lstStyle/>
          <a:p>
            <a:pPr indent="0" marL="0">
              <a:lnSpc>
                <a:spcPts val="2000"/>
              </a:lnSpc>
              <a:buNone/>
            </a:pPr>
            <a:r>
              <a:rPr lang="en-US" sz="1500" dirty="0">
                <a:solidFill>
                  <a:srgbClr val="6B6B6B"/>
                </a:solidFill>
                <a:latin typeface="Arial" pitchFamily="34" charset="0"/>
                <a:ea typeface="Arial" pitchFamily="34" charset="-122"/>
                <a:cs typeface="Arial" pitchFamily="34" charset="-120"/>
              </a:rPr>
              <a:t>Harmoniser le processus de management, bâtir un référentiel documentaire commun, et prioriser objectivement les 11 projets du portefeuille DSI.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457200"/>
            <a:ext cx="8863279" cy="320040"/>
          </a:xfrm>
          <a:prstGeom prst="rect">
            <a:avLst/>
          </a:prstGeom>
          <a:noFill/>
          <a:ln/>
        </p:spPr>
        <p:txBody>
          <a:bodyPr wrap="square" lIns="0" tIns="0" rIns="0" bIns="0" rtlCol="0" anchor="t"/>
          <a:lstStyle/>
          <a:p>
            <a:pPr algn="l" indent="0" marL="0">
              <a:buNone/>
            </a:pPr>
            <a:r>
              <a:rPr lang="en-US" sz="1200" b="1" spc="100" kern="0" dirty="0">
                <a:solidFill>
                  <a:srgbClr val="1E2BFA"/>
                </a:solidFill>
                <a:latin typeface="Arial" pitchFamily="34" charset="0"/>
                <a:ea typeface="Arial" pitchFamily="34" charset="-122"/>
                <a:cs typeface="Arial" pitchFamily="34" charset="-120"/>
              </a:rPr>
              <a:t>PARTIE 1 · 1.1</a:t>
            </a:r>
            <a:endParaRPr lang="en-US" sz="1200" dirty="0"/>
          </a:p>
        </p:txBody>
      </p:sp>
      <p:sp>
        <p:nvSpPr>
          <p:cNvPr id="3" name="Shape 1"/>
          <p:cNvSpPr/>
          <p:nvPr/>
        </p:nvSpPr>
        <p:spPr>
          <a:xfrm>
            <a:off x="9777679" y="420624"/>
            <a:ext cx="1773936" cy="329184"/>
          </a:xfrm>
          <a:prstGeom prst="roundRect">
            <a:avLst>
              <a:gd name="adj" fmla="val 50000"/>
            </a:avLst>
          </a:prstGeom>
          <a:solidFill>
            <a:srgbClr val="E9E7E9"/>
          </a:solidFill>
          <a:ln/>
        </p:spPr>
      </p:sp>
      <p:sp>
        <p:nvSpPr>
          <p:cNvPr id="4" name="Text 2"/>
          <p:cNvSpPr/>
          <p:nvPr/>
        </p:nvSpPr>
        <p:spPr>
          <a:xfrm>
            <a:off x="9777679" y="420624"/>
            <a:ext cx="1773936" cy="329184"/>
          </a:xfrm>
          <a:prstGeom prst="rect">
            <a:avLst/>
          </a:prstGeom>
          <a:noFill/>
          <a:ln/>
        </p:spPr>
        <p:txBody>
          <a:bodyPr wrap="square" lIns="0" tIns="0" rIns="0" bIns="0" rtlCol="0" anchor="ctr"/>
          <a:lstStyle/>
          <a:p>
            <a:pPr algn="ctr" indent="0" marL="0">
              <a:buNone/>
            </a:pPr>
            <a:r>
              <a:rPr lang="en-US" sz="1050" b="1" dirty="0">
                <a:solidFill>
                  <a:srgbClr val="1E2BFA"/>
                </a:solidFill>
                <a:latin typeface="Arial" pitchFamily="34" charset="0"/>
                <a:ea typeface="Arial" pitchFamily="34" charset="-122"/>
                <a:cs typeface="Arial" pitchFamily="34" charset="-120"/>
              </a:rPr>
              <a:t>Processus</a:t>
            </a:r>
            <a:endParaRPr lang="en-US" sz="1050" dirty="0"/>
          </a:p>
        </p:txBody>
      </p:sp>
      <p:sp>
        <p:nvSpPr>
          <p:cNvPr id="5" name="Text 3"/>
          <p:cNvSpPr/>
          <p:nvPr/>
        </p:nvSpPr>
        <p:spPr>
          <a:xfrm>
            <a:off x="640080" y="868680"/>
            <a:ext cx="10911535" cy="548640"/>
          </a:xfrm>
          <a:prstGeom prst="rect">
            <a:avLst/>
          </a:prstGeom>
          <a:noFill/>
          <a:ln/>
        </p:spPr>
        <p:txBody>
          <a:bodyPr wrap="square" lIns="0" tIns="0" rIns="0" bIns="0" rtlCol="0" anchor="t"/>
          <a:lstStyle/>
          <a:p>
            <a:pPr algn="l" indent="0" marL="0">
              <a:lnSpc>
                <a:spcPts val="2484"/>
              </a:lnSpc>
              <a:buNone/>
            </a:pPr>
            <a:r>
              <a:rPr lang="en-US" sz="2300" b="1" dirty="0">
                <a:solidFill>
                  <a:srgbClr val="111111"/>
                </a:solidFill>
                <a:latin typeface="Arial" pitchFamily="34" charset="0"/>
                <a:ea typeface="Arial" pitchFamily="34" charset="-122"/>
                <a:cs typeface="Arial" pitchFamily="34" charset="-120"/>
              </a:rPr>
              <a:t>Harmoniser le processus de management des projets</a:t>
            </a:r>
            <a:endParaRPr lang="en-US" sz="2300" dirty="0"/>
          </a:p>
        </p:txBody>
      </p:sp>
      <p:sp>
        <p:nvSpPr>
          <p:cNvPr id="6" name="Text 4"/>
          <p:cNvSpPr/>
          <p:nvPr/>
        </p:nvSpPr>
        <p:spPr>
          <a:xfrm>
            <a:off x="640080" y="1691640"/>
            <a:ext cx="10911535" cy="685800"/>
          </a:xfrm>
          <a:prstGeom prst="rect">
            <a:avLst/>
          </a:prstGeom>
          <a:noFill/>
          <a:ln/>
        </p:spPr>
        <p:txBody>
          <a:bodyPr wrap="square" lIns="0" tIns="0" rIns="0" bIns="0" rtlCol="0" anchor="t"/>
          <a:lstStyle/>
          <a:p>
            <a:pPr algn="l" indent="0" marL="0">
              <a:lnSpc>
                <a:spcPts val="1755"/>
              </a:lnSpc>
              <a:buNone/>
            </a:pPr>
            <a:r>
              <a:rPr lang="en-US" sz="1300" dirty="0">
                <a:solidFill>
                  <a:srgbClr val="6B6B6B"/>
                </a:solidFill>
                <a:latin typeface="Arial" pitchFamily="34" charset="0"/>
                <a:ea typeface="Arial" pitchFamily="34" charset="-122"/>
                <a:cs typeface="Arial" pitchFamily="34" charset="-120"/>
              </a:rPr>
              <a:t>Avant la cellule PMO, chaque chef de projet gérait son projet à sa manière. Nous retenons une trame commune, construite à partir de trois référentiels reconnus, adaptée à la taille des projets de Time'Eats plutôt qu'appliquée à la lettre.</a:t>
            </a:r>
            <a:endParaRPr lang="en-US" sz="1300" dirty="0"/>
          </a:p>
        </p:txBody>
      </p:sp>
      <p:sp>
        <p:nvSpPr>
          <p:cNvPr id="7" name="Text 5"/>
          <p:cNvSpPr/>
          <p:nvPr/>
        </p:nvSpPr>
        <p:spPr>
          <a:xfrm>
            <a:off x="640080" y="2423160"/>
            <a:ext cx="7315200" cy="274320"/>
          </a:xfrm>
          <a:prstGeom prst="rect">
            <a:avLst/>
          </a:prstGeom>
          <a:noFill/>
          <a:ln/>
        </p:spPr>
        <p:txBody>
          <a:bodyPr wrap="square" lIns="0" tIns="0" rIns="0" bIns="0" rtlCol="0" anchor="ctr"/>
          <a:lstStyle/>
          <a:p>
            <a:pPr indent="0" marL="0">
              <a:buNone/>
            </a:pPr>
            <a:r>
              <a:rPr lang="en-US" sz="1100" b="1" spc="80" kern="0" dirty="0">
                <a:solidFill>
                  <a:srgbClr val="1E2BFA"/>
                </a:solidFill>
                <a:latin typeface="Arial" pitchFamily="34" charset="0"/>
                <a:ea typeface="Arial" pitchFamily="34" charset="-122"/>
                <a:cs typeface="Arial" pitchFamily="34" charset="-120"/>
              </a:rPr>
              <a:t>FIGURE 1 — CYCLE DE VIE COMMUN EN 6 PHASES</a:t>
            </a:r>
            <a:endParaRPr lang="en-US" sz="1100" dirty="0"/>
          </a:p>
        </p:txBody>
      </p:sp>
      <p:sp>
        <p:nvSpPr>
          <p:cNvPr id="8" name="Shape 6"/>
          <p:cNvSpPr/>
          <p:nvPr/>
        </p:nvSpPr>
        <p:spPr>
          <a:xfrm>
            <a:off x="1265911" y="2962656"/>
            <a:ext cx="566928" cy="566928"/>
          </a:xfrm>
          <a:prstGeom prst="ellipse">
            <a:avLst/>
          </a:prstGeom>
          <a:solidFill>
            <a:srgbClr val="1E2BFA"/>
          </a:solidFill>
          <a:ln/>
        </p:spPr>
      </p:sp>
      <p:sp>
        <p:nvSpPr>
          <p:cNvPr id="9" name="Text 7"/>
          <p:cNvSpPr/>
          <p:nvPr/>
        </p:nvSpPr>
        <p:spPr>
          <a:xfrm>
            <a:off x="1265911" y="2962656"/>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0" name="Shape 8"/>
          <p:cNvSpPr/>
          <p:nvPr/>
        </p:nvSpPr>
        <p:spPr>
          <a:xfrm>
            <a:off x="1905991" y="3246120"/>
            <a:ext cx="1105357" cy="0"/>
          </a:xfrm>
          <a:prstGeom prst="line">
            <a:avLst/>
          </a:prstGeom>
          <a:noFill/>
          <a:ln w="19050">
            <a:solidFill>
              <a:srgbClr val="CCCCEB"/>
            </a:solidFill>
            <a:prstDash val="solid"/>
          </a:ln>
        </p:spPr>
      </p:sp>
      <p:sp>
        <p:nvSpPr>
          <p:cNvPr id="11" name="Text 9"/>
          <p:cNvSpPr/>
          <p:nvPr/>
        </p:nvSpPr>
        <p:spPr>
          <a:xfrm>
            <a:off x="640080" y="3657600"/>
            <a:ext cx="1818589" cy="502920"/>
          </a:xfrm>
          <a:prstGeom prst="rect">
            <a:avLst/>
          </a:prstGeom>
          <a:noFill/>
          <a:ln/>
        </p:spPr>
        <p:txBody>
          <a:bodyPr wrap="square" lIns="0" tIns="0" rIns="0" bIns="0" rtlCol="0" anchor="t"/>
          <a:lstStyle/>
          <a:p>
            <a:pPr algn="ctr" indent="0" marL="0">
              <a:lnSpc>
                <a:spcPts val="1300"/>
              </a:lnSpc>
              <a:buNone/>
            </a:pPr>
            <a:r>
              <a:rPr lang="en-US" sz="1150" b="1" dirty="0">
                <a:solidFill>
                  <a:srgbClr val="111111"/>
                </a:solidFill>
                <a:latin typeface="Arial" pitchFamily="34" charset="0"/>
                <a:ea typeface="Arial" pitchFamily="34" charset="-122"/>
                <a:cs typeface="Arial" pitchFamily="34" charset="-120"/>
              </a:rPr>
              <a:t>Cadrage &amp; lancement</a:t>
            </a:r>
            <a:endParaRPr lang="en-US" sz="1150" dirty="0"/>
          </a:p>
        </p:txBody>
      </p:sp>
      <p:sp>
        <p:nvSpPr>
          <p:cNvPr id="12" name="Shape 10"/>
          <p:cNvSpPr/>
          <p:nvPr/>
        </p:nvSpPr>
        <p:spPr>
          <a:xfrm>
            <a:off x="3084500" y="2962656"/>
            <a:ext cx="566928" cy="566928"/>
          </a:xfrm>
          <a:prstGeom prst="ellipse">
            <a:avLst/>
          </a:prstGeom>
          <a:solidFill>
            <a:srgbClr val="1E2BFA">
              <a:alpha val="97000"/>
            </a:srgbClr>
          </a:solidFill>
          <a:ln/>
        </p:spPr>
      </p:sp>
      <p:sp>
        <p:nvSpPr>
          <p:cNvPr id="13" name="Text 11"/>
          <p:cNvSpPr/>
          <p:nvPr/>
        </p:nvSpPr>
        <p:spPr>
          <a:xfrm>
            <a:off x="3084500" y="2962656"/>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Shape 12"/>
          <p:cNvSpPr/>
          <p:nvPr/>
        </p:nvSpPr>
        <p:spPr>
          <a:xfrm>
            <a:off x="3724580" y="3246120"/>
            <a:ext cx="1105357" cy="0"/>
          </a:xfrm>
          <a:prstGeom prst="line">
            <a:avLst/>
          </a:prstGeom>
          <a:noFill/>
          <a:ln w="19050">
            <a:solidFill>
              <a:srgbClr val="CCCCEB"/>
            </a:solidFill>
            <a:prstDash val="solid"/>
          </a:ln>
        </p:spPr>
      </p:sp>
      <p:sp>
        <p:nvSpPr>
          <p:cNvPr id="15" name="Text 13"/>
          <p:cNvSpPr/>
          <p:nvPr/>
        </p:nvSpPr>
        <p:spPr>
          <a:xfrm>
            <a:off x="2458669" y="3657600"/>
            <a:ext cx="1818589" cy="502920"/>
          </a:xfrm>
          <a:prstGeom prst="rect">
            <a:avLst/>
          </a:prstGeom>
          <a:noFill/>
          <a:ln/>
        </p:spPr>
        <p:txBody>
          <a:bodyPr wrap="square" lIns="0" tIns="0" rIns="0" bIns="0" rtlCol="0" anchor="t"/>
          <a:lstStyle/>
          <a:p>
            <a:pPr algn="ctr" indent="0" marL="0">
              <a:lnSpc>
                <a:spcPts val="1300"/>
              </a:lnSpc>
              <a:buNone/>
            </a:pPr>
            <a:r>
              <a:rPr lang="en-US" sz="1150" b="1" dirty="0">
                <a:solidFill>
                  <a:srgbClr val="111111"/>
                </a:solidFill>
                <a:latin typeface="Arial" pitchFamily="34" charset="0"/>
                <a:ea typeface="Arial" pitchFamily="34" charset="-122"/>
                <a:cs typeface="Arial" pitchFamily="34" charset="-120"/>
              </a:rPr>
              <a:t>Conception / paramétrage</a:t>
            </a:r>
            <a:endParaRPr lang="en-US" sz="1150" dirty="0"/>
          </a:p>
        </p:txBody>
      </p:sp>
      <p:sp>
        <p:nvSpPr>
          <p:cNvPr id="16" name="Shape 14"/>
          <p:cNvSpPr/>
          <p:nvPr/>
        </p:nvSpPr>
        <p:spPr>
          <a:xfrm>
            <a:off x="4903089" y="2962656"/>
            <a:ext cx="566928" cy="566928"/>
          </a:xfrm>
          <a:prstGeom prst="ellipse">
            <a:avLst/>
          </a:prstGeom>
          <a:solidFill>
            <a:srgbClr val="1E2BFA">
              <a:alpha val="94000"/>
            </a:srgbClr>
          </a:solidFill>
          <a:ln/>
        </p:spPr>
      </p:sp>
      <p:sp>
        <p:nvSpPr>
          <p:cNvPr id="17" name="Text 15"/>
          <p:cNvSpPr/>
          <p:nvPr/>
        </p:nvSpPr>
        <p:spPr>
          <a:xfrm>
            <a:off x="4903089" y="2962656"/>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Shape 16"/>
          <p:cNvSpPr/>
          <p:nvPr/>
        </p:nvSpPr>
        <p:spPr>
          <a:xfrm>
            <a:off x="5543169" y="3246120"/>
            <a:ext cx="1105357" cy="0"/>
          </a:xfrm>
          <a:prstGeom prst="line">
            <a:avLst/>
          </a:prstGeom>
          <a:noFill/>
          <a:ln w="19050">
            <a:solidFill>
              <a:srgbClr val="CCCCEB"/>
            </a:solidFill>
            <a:prstDash val="solid"/>
          </a:ln>
        </p:spPr>
      </p:sp>
      <p:sp>
        <p:nvSpPr>
          <p:cNvPr id="19" name="Text 17"/>
          <p:cNvSpPr/>
          <p:nvPr/>
        </p:nvSpPr>
        <p:spPr>
          <a:xfrm>
            <a:off x="4277258" y="3657600"/>
            <a:ext cx="1818589" cy="502920"/>
          </a:xfrm>
          <a:prstGeom prst="rect">
            <a:avLst/>
          </a:prstGeom>
          <a:noFill/>
          <a:ln/>
        </p:spPr>
        <p:txBody>
          <a:bodyPr wrap="square" lIns="0" tIns="0" rIns="0" bIns="0" rtlCol="0" anchor="t"/>
          <a:lstStyle/>
          <a:p>
            <a:pPr algn="ctr" indent="0" marL="0">
              <a:lnSpc>
                <a:spcPts val="1300"/>
              </a:lnSpc>
              <a:buNone/>
            </a:pPr>
            <a:r>
              <a:rPr lang="en-US" sz="1150" b="1" dirty="0">
                <a:solidFill>
                  <a:srgbClr val="111111"/>
                </a:solidFill>
                <a:latin typeface="Arial" pitchFamily="34" charset="0"/>
                <a:ea typeface="Arial" pitchFamily="34" charset="-122"/>
                <a:cs typeface="Arial" pitchFamily="34" charset="-120"/>
              </a:rPr>
              <a:t>Réalisation</a:t>
            </a:r>
            <a:endParaRPr lang="en-US" sz="1150" dirty="0"/>
          </a:p>
        </p:txBody>
      </p:sp>
      <p:sp>
        <p:nvSpPr>
          <p:cNvPr id="20" name="Shape 18"/>
          <p:cNvSpPr/>
          <p:nvPr/>
        </p:nvSpPr>
        <p:spPr>
          <a:xfrm>
            <a:off x="6721678" y="2962656"/>
            <a:ext cx="566928" cy="566928"/>
          </a:xfrm>
          <a:prstGeom prst="ellipse">
            <a:avLst/>
          </a:prstGeom>
          <a:solidFill>
            <a:srgbClr val="1E2BFA">
              <a:alpha val="91000"/>
            </a:srgbClr>
          </a:solidFill>
          <a:ln/>
        </p:spPr>
      </p:sp>
      <p:sp>
        <p:nvSpPr>
          <p:cNvPr id="21" name="Text 19"/>
          <p:cNvSpPr/>
          <p:nvPr/>
        </p:nvSpPr>
        <p:spPr>
          <a:xfrm>
            <a:off x="6721678" y="2962656"/>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Shape 20"/>
          <p:cNvSpPr/>
          <p:nvPr/>
        </p:nvSpPr>
        <p:spPr>
          <a:xfrm>
            <a:off x="7361758" y="3246120"/>
            <a:ext cx="1105357" cy="0"/>
          </a:xfrm>
          <a:prstGeom prst="line">
            <a:avLst/>
          </a:prstGeom>
          <a:noFill/>
          <a:ln w="19050">
            <a:solidFill>
              <a:srgbClr val="CCCCEB"/>
            </a:solidFill>
            <a:prstDash val="solid"/>
          </a:ln>
        </p:spPr>
      </p:sp>
      <p:sp>
        <p:nvSpPr>
          <p:cNvPr id="23" name="Text 21"/>
          <p:cNvSpPr/>
          <p:nvPr/>
        </p:nvSpPr>
        <p:spPr>
          <a:xfrm>
            <a:off x="6095848" y="3657600"/>
            <a:ext cx="1818589" cy="502920"/>
          </a:xfrm>
          <a:prstGeom prst="rect">
            <a:avLst/>
          </a:prstGeom>
          <a:noFill/>
          <a:ln/>
        </p:spPr>
        <p:txBody>
          <a:bodyPr wrap="square" lIns="0" tIns="0" rIns="0" bIns="0" rtlCol="0" anchor="t"/>
          <a:lstStyle/>
          <a:p>
            <a:pPr algn="ctr" indent="0" marL="0">
              <a:lnSpc>
                <a:spcPts val="1300"/>
              </a:lnSpc>
              <a:buNone/>
            </a:pPr>
            <a:r>
              <a:rPr lang="en-US" sz="1150" b="1" dirty="0">
                <a:solidFill>
                  <a:srgbClr val="111111"/>
                </a:solidFill>
                <a:latin typeface="Arial" pitchFamily="34" charset="0"/>
                <a:ea typeface="Arial" pitchFamily="34" charset="-122"/>
                <a:cs typeface="Arial" pitchFamily="34" charset="-120"/>
              </a:rPr>
              <a:t>Recette</a:t>
            </a:r>
            <a:endParaRPr lang="en-US" sz="1150" dirty="0"/>
          </a:p>
        </p:txBody>
      </p:sp>
      <p:sp>
        <p:nvSpPr>
          <p:cNvPr id="24" name="Shape 22"/>
          <p:cNvSpPr/>
          <p:nvPr/>
        </p:nvSpPr>
        <p:spPr>
          <a:xfrm>
            <a:off x="8540267" y="2962656"/>
            <a:ext cx="566928" cy="566928"/>
          </a:xfrm>
          <a:prstGeom prst="ellipse">
            <a:avLst/>
          </a:prstGeom>
          <a:solidFill>
            <a:srgbClr val="1E2BFA">
              <a:alpha val="88000"/>
            </a:srgbClr>
          </a:solidFill>
          <a:ln/>
        </p:spPr>
      </p:sp>
      <p:sp>
        <p:nvSpPr>
          <p:cNvPr id="25" name="Text 23"/>
          <p:cNvSpPr/>
          <p:nvPr/>
        </p:nvSpPr>
        <p:spPr>
          <a:xfrm>
            <a:off x="8540267" y="2962656"/>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6" name="Shape 24"/>
          <p:cNvSpPr/>
          <p:nvPr/>
        </p:nvSpPr>
        <p:spPr>
          <a:xfrm>
            <a:off x="9180347" y="3246120"/>
            <a:ext cx="1105357" cy="0"/>
          </a:xfrm>
          <a:prstGeom prst="line">
            <a:avLst/>
          </a:prstGeom>
          <a:noFill/>
          <a:ln w="19050">
            <a:solidFill>
              <a:srgbClr val="CCCCEB"/>
            </a:solidFill>
            <a:prstDash val="solid"/>
          </a:ln>
        </p:spPr>
      </p:sp>
      <p:sp>
        <p:nvSpPr>
          <p:cNvPr id="27" name="Text 25"/>
          <p:cNvSpPr/>
          <p:nvPr/>
        </p:nvSpPr>
        <p:spPr>
          <a:xfrm>
            <a:off x="7914437" y="3657600"/>
            <a:ext cx="1818589" cy="502920"/>
          </a:xfrm>
          <a:prstGeom prst="rect">
            <a:avLst/>
          </a:prstGeom>
          <a:noFill/>
          <a:ln/>
        </p:spPr>
        <p:txBody>
          <a:bodyPr wrap="square" lIns="0" tIns="0" rIns="0" bIns="0" rtlCol="0" anchor="t"/>
          <a:lstStyle/>
          <a:p>
            <a:pPr algn="ctr" indent="0" marL="0">
              <a:lnSpc>
                <a:spcPts val="1300"/>
              </a:lnSpc>
              <a:buNone/>
            </a:pPr>
            <a:r>
              <a:rPr lang="en-US" sz="1150" b="1" dirty="0">
                <a:solidFill>
                  <a:srgbClr val="111111"/>
                </a:solidFill>
                <a:latin typeface="Arial" pitchFamily="34" charset="0"/>
                <a:ea typeface="Arial" pitchFamily="34" charset="-122"/>
                <a:cs typeface="Arial" pitchFamily="34" charset="-120"/>
              </a:rPr>
              <a:t>Déploiement</a:t>
            </a:r>
            <a:endParaRPr lang="en-US" sz="1150" dirty="0"/>
          </a:p>
        </p:txBody>
      </p:sp>
      <p:sp>
        <p:nvSpPr>
          <p:cNvPr id="28" name="Shape 26"/>
          <p:cNvSpPr/>
          <p:nvPr/>
        </p:nvSpPr>
        <p:spPr>
          <a:xfrm>
            <a:off x="10358857" y="2962656"/>
            <a:ext cx="566928" cy="566928"/>
          </a:xfrm>
          <a:prstGeom prst="ellipse">
            <a:avLst/>
          </a:prstGeom>
          <a:solidFill>
            <a:srgbClr val="1E2BFA">
              <a:alpha val="85000"/>
            </a:srgbClr>
          </a:solidFill>
          <a:ln/>
        </p:spPr>
      </p:sp>
      <p:sp>
        <p:nvSpPr>
          <p:cNvPr id="29" name="Text 27"/>
          <p:cNvSpPr/>
          <p:nvPr/>
        </p:nvSpPr>
        <p:spPr>
          <a:xfrm>
            <a:off x="10358857" y="2962656"/>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30" name="Text 28"/>
          <p:cNvSpPr/>
          <p:nvPr/>
        </p:nvSpPr>
        <p:spPr>
          <a:xfrm>
            <a:off x="9733026" y="3657600"/>
            <a:ext cx="1818589" cy="502920"/>
          </a:xfrm>
          <a:prstGeom prst="rect">
            <a:avLst/>
          </a:prstGeom>
          <a:noFill/>
          <a:ln/>
        </p:spPr>
        <p:txBody>
          <a:bodyPr wrap="square" lIns="0" tIns="0" rIns="0" bIns="0" rtlCol="0" anchor="t"/>
          <a:lstStyle/>
          <a:p>
            <a:pPr algn="ctr" indent="0" marL="0">
              <a:lnSpc>
                <a:spcPts val="1300"/>
              </a:lnSpc>
              <a:buNone/>
            </a:pPr>
            <a:r>
              <a:rPr lang="en-US" sz="1150" b="1" dirty="0">
                <a:solidFill>
                  <a:srgbClr val="111111"/>
                </a:solidFill>
                <a:latin typeface="Arial" pitchFamily="34" charset="0"/>
                <a:ea typeface="Arial" pitchFamily="34" charset="-122"/>
                <a:cs typeface="Arial" pitchFamily="34" charset="-120"/>
              </a:rPr>
              <a:t>Clôture &amp; stabilisation</a:t>
            </a:r>
            <a:endParaRPr lang="en-US" sz="1150" dirty="0"/>
          </a:p>
        </p:txBody>
      </p:sp>
      <p:sp>
        <p:nvSpPr>
          <p:cNvPr id="31" name="Shape 29"/>
          <p:cNvSpPr/>
          <p:nvPr/>
        </p:nvSpPr>
        <p:spPr>
          <a:xfrm>
            <a:off x="640080" y="4434840"/>
            <a:ext cx="3454298" cy="1691640"/>
          </a:xfrm>
          <a:prstGeom prst="roundRect">
            <a:avLst>
              <a:gd name="adj" fmla="val 4865"/>
            </a:avLst>
          </a:prstGeom>
          <a:solidFill>
            <a:srgbClr val="F2F0E8"/>
          </a:solidFill>
          <a:ln w="12700">
            <a:solidFill>
              <a:srgbClr val="CCCCEB"/>
            </a:solidFill>
            <a:prstDash val="solid"/>
          </a:ln>
        </p:spPr>
      </p:sp>
      <p:sp>
        <p:nvSpPr>
          <p:cNvPr id="32" name="Text 30"/>
          <p:cNvSpPr/>
          <p:nvPr/>
        </p:nvSpPr>
        <p:spPr>
          <a:xfrm>
            <a:off x="841248" y="4581144"/>
            <a:ext cx="3051962" cy="502920"/>
          </a:xfrm>
          <a:prstGeom prst="rect">
            <a:avLst/>
          </a:prstGeom>
          <a:noFill/>
          <a:ln/>
        </p:spPr>
        <p:txBody>
          <a:bodyPr wrap="square" lIns="0" tIns="0" rIns="0" bIns="0" rtlCol="0" anchor="t"/>
          <a:lstStyle/>
          <a:p>
            <a:pPr indent="0" marL="0">
              <a:lnSpc>
                <a:spcPts val="1725"/>
              </a:lnSpc>
              <a:buNone/>
            </a:pPr>
            <a:r>
              <a:rPr lang="en-US" sz="1500" b="1" dirty="0">
                <a:solidFill>
                  <a:srgbClr val="111111"/>
                </a:solidFill>
                <a:latin typeface="Arial" pitchFamily="34" charset="0"/>
                <a:ea typeface="Arial" pitchFamily="34" charset="-122"/>
                <a:cs typeface="Arial" pitchFamily="34" charset="-120"/>
              </a:rPr>
              <a:t>PMI (PMBOK)</a:t>
            </a:r>
            <a:endParaRPr lang="en-US" sz="1500" dirty="0"/>
          </a:p>
        </p:txBody>
      </p:sp>
      <p:sp>
        <p:nvSpPr>
          <p:cNvPr id="33" name="Text 31"/>
          <p:cNvSpPr/>
          <p:nvPr/>
        </p:nvSpPr>
        <p:spPr>
          <a:xfrm>
            <a:off x="841248" y="5111496"/>
            <a:ext cx="3051962" cy="868680"/>
          </a:xfrm>
          <a:prstGeom prst="rect">
            <a:avLst/>
          </a:prstGeom>
          <a:noFill/>
          <a:ln/>
        </p:spPr>
        <p:txBody>
          <a:bodyPr wrap="square" lIns="0" tIns="0" rIns="0" bIns="0" rtlCol="0" anchor="t"/>
          <a:lstStyle/>
          <a:p>
            <a:pPr marL="177800" indent="-177800">
              <a:lnSpc>
                <a:spcPts val="1600"/>
              </a:lnSpc>
              <a:spcAft>
                <a:spcPts val="600"/>
              </a:spcAft>
              <a:buSzPct val="100000"/>
              <a:buChar char="•"/>
            </a:pPr>
            <a:r>
              <a:rPr lang="en-US" sz="1250" dirty="0">
                <a:solidFill>
                  <a:srgbClr val="6B6B6B"/>
                </a:solidFill>
                <a:latin typeface="Arial" pitchFamily="34" charset="0"/>
                <a:ea typeface="Arial" pitchFamily="34" charset="-122"/>
                <a:cs typeface="Arial" pitchFamily="34" charset="-120"/>
              </a:rPr>
              <a:t>Sert d'ossature : découpage en phases et rubriques du plan de management (charte, budget, planning, risques).</a:t>
            </a:r>
            <a:endParaRPr lang="en-US" sz="1250" dirty="0"/>
          </a:p>
        </p:txBody>
      </p:sp>
      <p:sp>
        <p:nvSpPr>
          <p:cNvPr id="34" name="Shape 32"/>
          <p:cNvSpPr/>
          <p:nvPr/>
        </p:nvSpPr>
        <p:spPr>
          <a:xfrm>
            <a:off x="4368698" y="4434840"/>
            <a:ext cx="3454298" cy="1691640"/>
          </a:xfrm>
          <a:prstGeom prst="roundRect">
            <a:avLst>
              <a:gd name="adj" fmla="val 4865"/>
            </a:avLst>
          </a:prstGeom>
          <a:solidFill>
            <a:srgbClr val="F2F0E8"/>
          </a:solidFill>
          <a:ln w="12700">
            <a:solidFill>
              <a:srgbClr val="CCCCEB"/>
            </a:solidFill>
            <a:prstDash val="solid"/>
          </a:ln>
        </p:spPr>
      </p:sp>
      <p:sp>
        <p:nvSpPr>
          <p:cNvPr id="35" name="Text 33"/>
          <p:cNvSpPr/>
          <p:nvPr/>
        </p:nvSpPr>
        <p:spPr>
          <a:xfrm>
            <a:off x="4569866" y="4581144"/>
            <a:ext cx="3051962" cy="502920"/>
          </a:xfrm>
          <a:prstGeom prst="rect">
            <a:avLst/>
          </a:prstGeom>
          <a:noFill/>
          <a:ln/>
        </p:spPr>
        <p:txBody>
          <a:bodyPr wrap="square" lIns="0" tIns="0" rIns="0" bIns="0" rtlCol="0" anchor="t"/>
          <a:lstStyle/>
          <a:p>
            <a:pPr indent="0" marL="0">
              <a:lnSpc>
                <a:spcPts val="1725"/>
              </a:lnSpc>
              <a:buNone/>
            </a:pPr>
            <a:r>
              <a:rPr lang="en-US" sz="1500" b="1" dirty="0">
                <a:solidFill>
                  <a:srgbClr val="111111"/>
                </a:solidFill>
                <a:latin typeface="Arial" pitchFamily="34" charset="0"/>
                <a:ea typeface="Arial" pitchFamily="34" charset="-122"/>
                <a:cs typeface="Arial" pitchFamily="34" charset="-120"/>
              </a:rPr>
              <a:t>PRINCE2</a:t>
            </a:r>
            <a:endParaRPr lang="en-US" sz="1500" dirty="0"/>
          </a:p>
        </p:txBody>
      </p:sp>
      <p:sp>
        <p:nvSpPr>
          <p:cNvPr id="36" name="Text 34"/>
          <p:cNvSpPr/>
          <p:nvPr/>
        </p:nvSpPr>
        <p:spPr>
          <a:xfrm>
            <a:off x="4569866" y="5111496"/>
            <a:ext cx="3051962" cy="868680"/>
          </a:xfrm>
          <a:prstGeom prst="rect">
            <a:avLst/>
          </a:prstGeom>
          <a:noFill/>
          <a:ln/>
        </p:spPr>
        <p:txBody>
          <a:bodyPr wrap="square" lIns="0" tIns="0" rIns="0" bIns="0" rtlCol="0" anchor="t"/>
          <a:lstStyle/>
          <a:p>
            <a:pPr marL="177800" indent="-177800">
              <a:lnSpc>
                <a:spcPts val="1600"/>
              </a:lnSpc>
              <a:spcAft>
                <a:spcPts val="600"/>
              </a:spcAft>
              <a:buSzPct val="100000"/>
              <a:buChar char="•"/>
            </a:pPr>
            <a:r>
              <a:rPr lang="en-US" sz="1250" dirty="0">
                <a:solidFill>
                  <a:srgbClr val="6B6B6B"/>
                </a:solidFill>
                <a:latin typeface="Arial" pitchFamily="34" charset="0"/>
                <a:ea typeface="Arial" pitchFamily="34" charset="-122"/>
                <a:cs typeface="Arial" pitchFamily="34" charset="-120"/>
              </a:rPr>
              <a:t>Inspire la gouvernance : un comité valide chaque jalon avant de passer à la phase suivante (logique de « Go / No-Go »).</a:t>
            </a:r>
            <a:endParaRPr lang="en-US" sz="1250" dirty="0"/>
          </a:p>
        </p:txBody>
      </p:sp>
      <p:sp>
        <p:nvSpPr>
          <p:cNvPr id="37" name="Shape 35"/>
          <p:cNvSpPr/>
          <p:nvPr/>
        </p:nvSpPr>
        <p:spPr>
          <a:xfrm>
            <a:off x="8097317" y="4434840"/>
            <a:ext cx="3454298" cy="1691640"/>
          </a:xfrm>
          <a:prstGeom prst="roundRect">
            <a:avLst>
              <a:gd name="adj" fmla="val 4865"/>
            </a:avLst>
          </a:prstGeom>
          <a:solidFill>
            <a:srgbClr val="F2F0E8"/>
          </a:solidFill>
          <a:ln w="12700">
            <a:solidFill>
              <a:srgbClr val="CCCCEB"/>
            </a:solidFill>
            <a:prstDash val="solid"/>
          </a:ln>
        </p:spPr>
      </p:sp>
      <p:sp>
        <p:nvSpPr>
          <p:cNvPr id="38" name="Text 36"/>
          <p:cNvSpPr/>
          <p:nvPr/>
        </p:nvSpPr>
        <p:spPr>
          <a:xfrm>
            <a:off x="8298485" y="4581144"/>
            <a:ext cx="3051962" cy="502920"/>
          </a:xfrm>
          <a:prstGeom prst="rect">
            <a:avLst/>
          </a:prstGeom>
          <a:noFill/>
          <a:ln/>
        </p:spPr>
        <p:txBody>
          <a:bodyPr wrap="square" lIns="0" tIns="0" rIns="0" bIns="0" rtlCol="0" anchor="t"/>
          <a:lstStyle/>
          <a:p>
            <a:pPr indent="0" marL="0">
              <a:lnSpc>
                <a:spcPts val="1725"/>
              </a:lnSpc>
              <a:buNone/>
            </a:pPr>
            <a:r>
              <a:rPr lang="en-US" sz="1500" b="1" dirty="0">
                <a:solidFill>
                  <a:srgbClr val="111111"/>
                </a:solidFill>
                <a:latin typeface="Arial" pitchFamily="34" charset="0"/>
                <a:ea typeface="Arial" pitchFamily="34" charset="-122"/>
                <a:cs typeface="Arial" pitchFamily="34" charset="-120"/>
              </a:rPr>
              <a:t>Agile (Scrum)</a:t>
            </a:r>
            <a:endParaRPr lang="en-US" sz="1500" dirty="0"/>
          </a:p>
        </p:txBody>
      </p:sp>
      <p:sp>
        <p:nvSpPr>
          <p:cNvPr id="39" name="Text 37"/>
          <p:cNvSpPr/>
          <p:nvPr/>
        </p:nvSpPr>
        <p:spPr>
          <a:xfrm>
            <a:off x="8298485" y="5111496"/>
            <a:ext cx="3051962" cy="868680"/>
          </a:xfrm>
          <a:prstGeom prst="rect">
            <a:avLst/>
          </a:prstGeom>
          <a:noFill/>
          <a:ln/>
        </p:spPr>
        <p:txBody>
          <a:bodyPr wrap="square" lIns="0" tIns="0" rIns="0" bIns="0" rtlCol="0" anchor="t"/>
          <a:lstStyle/>
          <a:p>
            <a:pPr marL="177800" indent="-177800">
              <a:lnSpc>
                <a:spcPts val="1600"/>
              </a:lnSpc>
              <a:spcAft>
                <a:spcPts val="600"/>
              </a:spcAft>
              <a:buSzPct val="100000"/>
              <a:buChar char="•"/>
            </a:pPr>
            <a:r>
              <a:rPr lang="en-US" sz="1250" dirty="0">
                <a:solidFill>
                  <a:srgbClr val="6B6B6B"/>
                </a:solidFill>
                <a:latin typeface="Arial" pitchFamily="34" charset="0"/>
                <a:ea typeface="Arial" pitchFamily="34" charset="-122"/>
                <a:cs typeface="Arial" pitchFamily="34" charset="-120"/>
              </a:rPr>
              <a:t>S'applique pendant la réalisation des projets applicatifs (CRM, applis mobiles, refonte web), par sprints courts.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457200"/>
            <a:ext cx="8570671" cy="320040"/>
          </a:xfrm>
          <a:prstGeom prst="rect">
            <a:avLst/>
          </a:prstGeom>
          <a:noFill/>
          <a:ln/>
        </p:spPr>
        <p:txBody>
          <a:bodyPr wrap="square" lIns="0" tIns="0" rIns="0" bIns="0" rtlCol="0" anchor="t"/>
          <a:lstStyle/>
          <a:p>
            <a:pPr algn="l" indent="0" marL="0">
              <a:buNone/>
            </a:pPr>
            <a:r>
              <a:rPr lang="en-US" sz="1200" b="1" spc="100" kern="0" dirty="0">
                <a:solidFill>
                  <a:srgbClr val="1E2BFA"/>
                </a:solidFill>
                <a:latin typeface="Arial" pitchFamily="34" charset="0"/>
                <a:ea typeface="Arial" pitchFamily="34" charset="-122"/>
                <a:cs typeface="Arial" pitchFamily="34" charset="-120"/>
              </a:rPr>
              <a:t>PARTIE 1 · 1.2</a:t>
            </a:r>
            <a:endParaRPr lang="en-US" sz="1200" dirty="0"/>
          </a:p>
        </p:txBody>
      </p:sp>
      <p:sp>
        <p:nvSpPr>
          <p:cNvPr id="3" name="Shape 1"/>
          <p:cNvSpPr/>
          <p:nvPr/>
        </p:nvSpPr>
        <p:spPr>
          <a:xfrm>
            <a:off x="9485071" y="420624"/>
            <a:ext cx="2066544" cy="329184"/>
          </a:xfrm>
          <a:prstGeom prst="roundRect">
            <a:avLst>
              <a:gd name="adj" fmla="val 50000"/>
            </a:avLst>
          </a:prstGeom>
          <a:solidFill>
            <a:srgbClr val="E9E7E9"/>
          </a:solidFill>
          <a:ln/>
        </p:spPr>
      </p:sp>
      <p:sp>
        <p:nvSpPr>
          <p:cNvPr id="4" name="Text 2"/>
          <p:cNvSpPr/>
          <p:nvPr/>
        </p:nvSpPr>
        <p:spPr>
          <a:xfrm>
            <a:off x="9485071" y="420624"/>
            <a:ext cx="2066544" cy="329184"/>
          </a:xfrm>
          <a:prstGeom prst="rect">
            <a:avLst/>
          </a:prstGeom>
          <a:noFill/>
          <a:ln/>
        </p:spPr>
        <p:txBody>
          <a:bodyPr wrap="square" lIns="0" tIns="0" rIns="0" bIns="0" rtlCol="0" anchor="ctr"/>
          <a:lstStyle/>
          <a:p>
            <a:pPr algn="ctr" indent="0" marL="0">
              <a:buNone/>
            </a:pPr>
            <a:r>
              <a:rPr lang="en-US" sz="1050" b="1" dirty="0">
                <a:solidFill>
                  <a:srgbClr val="1E2BFA"/>
                </a:solidFill>
                <a:latin typeface="Arial" pitchFamily="34" charset="0"/>
                <a:ea typeface="Arial" pitchFamily="34" charset="-122"/>
                <a:cs typeface="Arial" pitchFamily="34" charset="-120"/>
              </a:rPr>
              <a:t>Référentiel</a:t>
            </a:r>
            <a:endParaRPr lang="en-US" sz="1050" dirty="0"/>
          </a:p>
        </p:txBody>
      </p:sp>
      <p:sp>
        <p:nvSpPr>
          <p:cNvPr id="5" name="Text 3"/>
          <p:cNvSpPr/>
          <p:nvPr/>
        </p:nvSpPr>
        <p:spPr>
          <a:xfrm>
            <a:off x="640080" y="868680"/>
            <a:ext cx="10911535" cy="548640"/>
          </a:xfrm>
          <a:prstGeom prst="rect">
            <a:avLst/>
          </a:prstGeom>
          <a:noFill/>
          <a:ln/>
        </p:spPr>
        <p:txBody>
          <a:bodyPr wrap="square" lIns="0" tIns="0" rIns="0" bIns="0" rtlCol="0" anchor="t"/>
          <a:lstStyle/>
          <a:p>
            <a:pPr algn="l" indent="0" marL="0">
              <a:lnSpc>
                <a:spcPts val="2592"/>
              </a:lnSpc>
              <a:buNone/>
            </a:pPr>
            <a:r>
              <a:rPr lang="en-US" sz="2400" b="1" dirty="0">
                <a:solidFill>
                  <a:srgbClr val="111111"/>
                </a:solidFill>
                <a:latin typeface="Arial" pitchFamily="34" charset="0"/>
                <a:ea typeface="Arial" pitchFamily="34" charset="-122"/>
                <a:cs typeface="Arial" pitchFamily="34" charset="-120"/>
              </a:rPr>
              <a:t>Le référentiel documentaire commun</a:t>
            </a:r>
            <a:endParaRPr lang="en-US" sz="2400" dirty="0"/>
          </a:p>
        </p:txBody>
      </p:sp>
      <p:sp>
        <p:nvSpPr>
          <p:cNvPr id="6" name="Text 4"/>
          <p:cNvSpPr/>
          <p:nvPr/>
        </p:nvSpPr>
        <p:spPr>
          <a:xfrm>
            <a:off x="640080" y="1645920"/>
            <a:ext cx="10911535" cy="365760"/>
          </a:xfrm>
          <a:prstGeom prst="rect">
            <a:avLst/>
          </a:prstGeom>
          <a:noFill/>
          <a:ln/>
        </p:spPr>
        <p:txBody>
          <a:bodyPr wrap="square" lIns="0" tIns="0" rIns="0" bIns="0" rtlCol="0" anchor="t"/>
          <a:lstStyle/>
          <a:p>
            <a:pPr algn="l" indent="0" marL="0">
              <a:lnSpc>
                <a:spcPts val="1755"/>
              </a:lnSpc>
              <a:buNone/>
            </a:pPr>
            <a:r>
              <a:rPr lang="en-US" sz="1300" dirty="0">
                <a:solidFill>
                  <a:srgbClr val="6B6B6B"/>
                </a:solidFill>
                <a:latin typeface="Arial" pitchFamily="34" charset="0"/>
                <a:ea typeface="Arial" pitchFamily="34" charset="-122"/>
                <a:cs typeface="Arial" pitchFamily="34" charset="-120"/>
              </a:rPr>
              <a:t>Dix documents types couvrent l'ensemble du cycle de vie d'un projet IT, du cadrage à la capitalisation.</a:t>
            </a:r>
            <a:endParaRPr lang="en-US" sz="1300" dirty="0"/>
          </a:p>
        </p:txBody>
      </p:sp>
      <p:sp>
        <p:nvSpPr>
          <p:cNvPr id="7" name="Text 5"/>
          <p:cNvSpPr/>
          <p:nvPr/>
        </p:nvSpPr>
        <p:spPr>
          <a:xfrm>
            <a:off x="640080" y="2148840"/>
            <a:ext cx="5272888" cy="274320"/>
          </a:xfrm>
          <a:prstGeom prst="rect">
            <a:avLst/>
          </a:prstGeom>
          <a:noFill/>
          <a:ln/>
        </p:spPr>
        <p:txBody>
          <a:bodyPr wrap="square" lIns="0" tIns="0" rIns="0" bIns="0" rtlCol="0" anchor="ctr"/>
          <a:lstStyle/>
          <a:p>
            <a:pPr indent="0" marL="0">
              <a:buNone/>
            </a:pPr>
            <a:r>
              <a:rPr lang="en-US" sz="1050" b="1" dirty="0">
                <a:solidFill>
                  <a:srgbClr val="1E2BFA"/>
                </a:solidFill>
                <a:latin typeface="Arial" pitchFamily="34" charset="0"/>
                <a:ea typeface="Arial" pitchFamily="34" charset="-122"/>
                <a:cs typeface="Arial" pitchFamily="34" charset="-120"/>
              </a:rPr>
              <a:t>TABLEAU 1 — SOCLE DE CADRAGE</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450592"/>
          <a:ext cx="5272888" cy="914400"/>
        </p:xfrm>
        <a:graphic>
          <a:graphicData uri="http://schemas.openxmlformats.org/drawingml/2006/table">
            <a:tbl>
              <a:tblPr/>
              <a:tblGrid>
                <a:gridCol w="1476409"/>
                <a:gridCol w="2214613"/>
                <a:gridCol w="1581866"/>
              </a:tblGrid>
              <a:tr h="481889">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DOCUMENT</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OBJECTIF</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MOMENT</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r>
              <a:tr h="56692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Charte de projet</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Formaliser l'accord de lancement</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Cadrage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56692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Cahier des charges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Détailler les exigences à respecter</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Cadrage / conception</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56692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Budget prévisionnel</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Décomposer et justifier l'enveloppe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Lancement, mis à jour à chaque jalon</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56692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Planning prévisionnel</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Séquencer phases et jalons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Lancement, suivi hebdomadaire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56692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Registre des risques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Identifier, coter, traiter les risques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Tout au long du projet</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bl>
          </a:graphicData>
        </a:graphic>
      </p:graphicFrame>
      <p:sp>
        <p:nvSpPr>
          <p:cNvPr id="9" name="Text 6"/>
          <p:cNvSpPr/>
          <p:nvPr/>
        </p:nvSpPr>
        <p:spPr>
          <a:xfrm>
            <a:off x="6278728" y="2148840"/>
            <a:ext cx="5272888" cy="274320"/>
          </a:xfrm>
          <a:prstGeom prst="rect">
            <a:avLst/>
          </a:prstGeom>
          <a:noFill/>
          <a:ln/>
        </p:spPr>
        <p:txBody>
          <a:bodyPr wrap="square" lIns="0" tIns="0" rIns="0" bIns="0" rtlCol="0" anchor="ctr"/>
          <a:lstStyle/>
          <a:p>
            <a:pPr indent="0" marL="0">
              <a:buNone/>
            </a:pPr>
            <a:r>
              <a:rPr lang="en-US" sz="1050" b="1" dirty="0">
                <a:solidFill>
                  <a:srgbClr val="1E2BFA"/>
                </a:solidFill>
                <a:latin typeface="Arial" pitchFamily="34" charset="0"/>
                <a:ea typeface="Arial" pitchFamily="34" charset="-122"/>
                <a:cs typeface="Arial" pitchFamily="34" charset="-120"/>
              </a:rPr>
              <a:t>TABLEAU 2 — PILOTAGE ET CLÔTURE</a:t>
            </a:r>
            <a:endParaRPr lang="en-US" sz="10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278728" y="2450592"/>
          <a:ext cx="5272888" cy="914400"/>
        </p:xfrm>
        <a:graphic>
          <a:graphicData uri="http://schemas.openxmlformats.org/drawingml/2006/table">
            <a:tbl>
              <a:tblPr/>
              <a:tblGrid>
                <a:gridCol w="1581866"/>
                <a:gridCol w="2214613"/>
                <a:gridCol w="1476409"/>
              </a:tblGrid>
              <a:tr h="481889">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DOCUMENT</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OBJECTIF</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MOMENT</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r>
              <a:tr h="56692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Plan de communication</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Organiser messages, canaux, fréquences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Lancement, utilisé en continu</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56692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Tableau de bord de suivi</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Piloter avancement, budget, qualité</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En continu</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56692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Procès-verbal de recette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Acter la conformité des livrables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Clôture / mise en production</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56692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Document de clôture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Bilan administratif, contractuel, technique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Clôture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56692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Fiche de capitalisation (REX)</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Consigner les enseignements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Clôture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bl>
          </a:graphicData>
        </a:graphic>
      </p:graphicFrame>
      <p:sp>
        <p:nvSpPr>
          <p:cNvPr id="11" name="Text 7"/>
          <p:cNvSpPr/>
          <p:nvPr/>
        </p:nvSpPr>
        <p:spPr>
          <a:xfrm>
            <a:off x="640080" y="6172200"/>
            <a:ext cx="10911535" cy="365760"/>
          </a:xfrm>
          <a:prstGeom prst="rect">
            <a:avLst/>
          </a:prstGeom>
          <a:noFill/>
          <a:ln/>
        </p:spPr>
        <p:txBody>
          <a:bodyPr wrap="square" lIns="0" tIns="0" rIns="0" bIns="0" rtlCol="0" anchor="t"/>
          <a:lstStyle/>
          <a:p>
            <a:pPr algn="l" indent="0" marL="0">
              <a:lnSpc>
                <a:spcPts val="1553"/>
              </a:lnSpc>
              <a:buNone/>
            </a:pPr>
            <a:r>
              <a:rPr lang="en-US" sz="1150" dirty="0">
                <a:solidFill>
                  <a:srgbClr val="6B6B6B"/>
                </a:solidFill>
                <a:latin typeface="Arial" pitchFamily="34" charset="0"/>
                <a:ea typeface="Arial" pitchFamily="34" charset="-122"/>
                <a:cs typeface="Arial" pitchFamily="34" charset="-120"/>
              </a:rPr>
              <a:t>Les cinq premiers documents forment le socle minimal pour lancer tout projet DSI ; les cinq suivants accompagnent le pilotage et la clôture.</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457200"/>
            <a:ext cx="7839151" cy="320040"/>
          </a:xfrm>
          <a:prstGeom prst="rect">
            <a:avLst/>
          </a:prstGeom>
          <a:noFill/>
          <a:ln/>
        </p:spPr>
        <p:txBody>
          <a:bodyPr wrap="square" lIns="0" tIns="0" rIns="0" bIns="0" rtlCol="0" anchor="t"/>
          <a:lstStyle/>
          <a:p>
            <a:pPr algn="l" indent="0" marL="0">
              <a:buNone/>
            </a:pPr>
            <a:r>
              <a:rPr lang="en-US" sz="1200" b="1" spc="100" kern="0" dirty="0">
                <a:solidFill>
                  <a:srgbClr val="1E2BFA"/>
                </a:solidFill>
                <a:latin typeface="Arial" pitchFamily="34" charset="0"/>
                <a:ea typeface="Arial" pitchFamily="34" charset="-122"/>
                <a:cs typeface="Arial" pitchFamily="34" charset="-120"/>
              </a:rPr>
              <a:t>PARTIE 1 · 1.2</a:t>
            </a:r>
            <a:endParaRPr lang="en-US" sz="1200" dirty="0"/>
          </a:p>
        </p:txBody>
      </p:sp>
      <p:sp>
        <p:nvSpPr>
          <p:cNvPr id="3" name="Shape 1"/>
          <p:cNvSpPr/>
          <p:nvPr/>
        </p:nvSpPr>
        <p:spPr>
          <a:xfrm>
            <a:off x="8753551" y="420624"/>
            <a:ext cx="2798064" cy="329184"/>
          </a:xfrm>
          <a:prstGeom prst="roundRect">
            <a:avLst>
              <a:gd name="adj" fmla="val 50000"/>
            </a:avLst>
          </a:prstGeom>
          <a:solidFill>
            <a:srgbClr val="E9E7E9"/>
          </a:solidFill>
          <a:ln/>
        </p:spPr>
      </p:sp>
      <p:sp>
        <p:nvSpPr>
          <p:cNvPr id="4" name="Text 2"/>
          <p:cNvSpPr/>
          <p:nvPr/>
        </p:nvSpPr>
        <p:spPr>
          <a:xfrm>
            <a:off x="8753551" y="420624"/>
            <a:ext cx="2798064" cy="329184"/>
          </a:xfrm>
          <a:prstGeom prst="rect">
            <a:avLst/>
          </a:prstGeom>
          <a:noFill/>
          <a:ln/>
        </p:spPr>
        <p:txBody>
          <a:bodyPr wrap="square" lIns="0" tIns="0" rIns="0" bIns="0" rtlCol="0" anchor="ctr"/>
          <a:lstStyle/>
          <a:p>
            <a:pPr algn="ctr" indent="0" marL="0">
              <a:buNone/>
            </a:pPr>
            <a:r>
              <a:rPr lang="en-US" sz="1050" b="1" dirty="0">
                <a:solidFill>
                  <a:srgbClr val="1E2BFA"/>
                </a:solidFill>
                <a:latin typeface="Arial" pitchFamily="34" charset="0"/>
                <a:ea typeface="Arial" pitchFamily="34" charset="-122"/>
                <a:cs typeface="Arial" pitchFamily="34" charset="-120"/>
              </a:rPr>
              <a:t>Documents pivots</a:t>
            </a:r>
            <a:endParaRPr lang="en-US" sz="1050" dirty="0"/>
          </a:p>
        </p:txBody>
      </p:sp>
      <p:sp>
        <p:nvSpPr>
          <p:cNvPr id="5" name="Text 3"/>
          <p:cNvSpPr/>
          <p:nvPr/>
        </p:nvSpPr>
        <p:spPr>
          <a:xfrm>
            <a:off x="640080" y="868680"/>
            <a:ext cx="10911535" cy="548640"/>
          </a:xfrm>
          <a:prstGeom prst="rect">
            <a:avLst/>
          </a:prstGeom>
          <a:noFill/>
          <a:ln/>
        </p:spPr>
        <p:txBody>
          <a:bodyPr wrap="square" lIns="0" tIns="0" rIns="0" bIns="0" rtlCol="0" anchor="t"/>
          <a:lstStyle/>
          <a:p>
            <a:pPr algn="l" indent="0" marL="0">
              <a:lnSpc>
                <a:spcPts val="2700"/>
              </a:lnSpc>
              <a:buNone/>
            </a:pPr>
            <a:r>
              <a:rPr lang="en-US" sz="2500" b="1" dirty="0">
                <a:solidFill>
                  <a:srgbClr val="111111"/>
                </a:solidFill>
                <a:latin typeface="Arial" pitchFamily="34" charset="0"/>
                <a:ea typeface="Arial" pitchFamily="34" charset="-122"/>
                <a:cs typeface="Arial" pitchFamily="34" charset="-120"/>
              </a:rPr>
              <a:t>Rubriques clés de trois documents pivots</a:t>
            </a:r>
            <a:endParaRPr lang="en-US" sz="2500" dirty="0"/>
          </a:p>
        </p:txBody>
      </p:sp>
      <p:sp>
        <p:nvSpPr>
          <p:cNvPr id="6" name="Text 4"/>
          <p:cNvSpPr/>
          <p:nvPr/>
        </p:nvSpPr>
        <p:spPr>
          <a:xfrm>
            <a:off x="640080" y="1645920"/>
            <a:ext cx="10911535" cy="502920"/>
          </a:xfrm>
          <a:prstGeom prst="rect">
            <a:avLst/>
          </a:prstGeom>
          <a:noFill/>
          <a:ln/>
        </p:spPr>
        <p:txBody>
          <a:bodyPr wrap="square" lIns="0" tIns="0" rIns="0" bIns="0" rtlCol="0" anchor="t"/>
          <a:lstStyle/>
          <a:p>
            <a:pPr algn="l" indent="0" marL="0">
              <a:lnSpc>
                <a:spcPts val="1823"/>
              </a:lnSpc>
              <a:buNone/>
            </a:pPr>
            <a:r>
              <a:rPr lang="en-US" sz="1350" dirty="0">
                <a:solidFill>
                  <a:srgbClr val="6B6B6B"/>
                </a:solidFill>
                <a:latin typeface="Arial" pitchFamily="34" charset="0"/>
                <a:ea typeface="Arial" pitchFamily="34" charset="-122"/>
                <a:cs typeface="Arial" pitchFamily="34" charset="-120"/>
              </a:rPr>
              <a:t>Le formalisme complet de chaque document est laissé au chef de projet ; trois documents structurent tout le reste et méritent d'être détaillés.</a:t>
            </a:r>
            <a:endParaRPr lang="en-US" sz="1350" dirty="0"/>
          </a:p>
        </p:txBody>
      </p:sp>
      <p:sp>
        <p:nvSpPr>
          <p:cNvPr id="7" name="Shape 5"/>
          <p:cNvSpPr/>
          <p:nvPr/>
        </p:nvSpPr>
        <p:spPr>
          <a:xfrm>
            <a:off x="640080" y="2331720"/>
            <a:ext cx="3454298" cy="3246120"/>
          </a:xfrm>
          <a:prstGeom prst="roundRect">
            <a:avLst>
              <a:gd name="adj" fmla="val 2535"/>
            </a:avLst>
          </a:prstGeom>
          <a:solidFill>
            <a:srgbClr val="F2F0E8"/>
          </a:solidFill>
          <a:ln w="12700">
            <a:solidFill>
              <a:srgbClr val="CCCCEB"/>
            </a:solidFill>
            <a:prstDash val="solid"/>
          </a:ln>
        </p:spPr>
      </p:sp>
      <p:sp>
        <p:nvSpPr>
          <p:cNvPr id="8" name="Text 6"/>
          <p:cNvSpPr/>
          <p:nvPr/>
        </p:nvSpPr>
        <p:spPr>
          <a:xfrm>
            <a:off x="841248" y="2478024"/>
            <a:ext cx="3051962" cy="502920"/>
          </a:xfrm>
          <a:prstGeom prst="rect">
            <a:avLst/>
          </a:prstGeom>
          <a:noFill/>
          <a:ln/>
        </p:spPr>
        <p:txBody>
          <a:bodyPr wrap="square" lIns="0" tIns="0" rIns="0" bIns="0" rtlCol="0" anchor="t"/>
          <a:lstStyle/>
          <a:p>
            <a:pPr indent="0" marL="0">
              <a:lnSpc>
                <a:spcPts val="1725"/>
              </a:lnSpc>
              <a:buNone/>
            </a:pPr>
            <a:r>
              <a:rPr lang="en-US" sz="1500" b="1" dirty="0">
                <a:solidFill>
                  <a:srgbClr val="111111"/>
                </a:solidFill>
                <a:latin typeface="Arial" pitchFamily="34" charset="0"/>
                <a:ea typeface="Arial" pitchFamily="34" charset="-122"/>
                <a:cs typeface="Arial" pitchFamily="34" charset="-120"/>
              </a:rPr>
              <a:t>1 · Charte de projet (1 page)</a:t>
            </a:r>
            <a:endParaRPr lang="en-US" sz="1500" dirty="0"/>
          </a:p>
        </p:txBody>
      </p:sp>
      <p:sp>
        <p:nvSpPr>
          <p:cNvPr id="9" name="Text 7"/>
          <p:cNvSpPr/>
          <p:nvPr/>
        </p:nvSpPr>
        <p:spPr>
          <a:xfrm>
            <a:off x="841248" y="3008376"/>
            <a:ext cx="3051962" cy="2423160"/>
          </a:xfrm>
          <a:prstGeom prst="rect">
            <a:avLst/>
          </a:prstGeom>
          <a:noFill/>
          <a:ln/>
        </p:spPr>
        <p:txBody>
          <a:bodyPr wrap="square" lIns="0" tIns="0" rIns="0" bIns="0" rtlCol="0" anchor="t"/>
          <a:lstStyle/>
          <a:p>
            <a:pPr marL="177800" indent="-177800">
              <a:lnSpc>
                <a:spcPts val="1664"/>
              </a:lnSpc>
              <a:spcAft>
                <a:spcPts val="600"/>
              </a:spcAft>
              <a:buSzPct val="100000"/>
              <a:buChar char="•"/>
            </a:pPr>
            <a:r>
              <a:rPr lang="en-US" sz="1300" dirty="0">
                <a:solidFill>
                  <a:srgbClr val="6B6B6B"/>
                </a:solidFill>
                <a:latin typeface="Arial" pitchFamily="34" charset="0"/>
                <a:ea typeface="Arial" pitchFamily="34" charset="-122"/>
                <a:cs typeface="Arial" pitchFamily="34" charset="-120"/>
              </a:rPr>
              <a:t>Objectif et périmètre</a:t>
            </a:r>
            <a:endParaRPr lang="en-US" sz="1300" dirty="0"/>
          </a:p>
          <a:p>
            <a:pPr marL="177800" indent="-177800">
              <a:lnSpc>
                <a:spcPts val="1664"/>
              </a:lnSpc>
              <a:spcAft>
                <a:spcPts val="600"/>
              </a:spcAft>
              <a:buSzPct val="100000"/>
              <a:buChar char="•"/>
            </a:pPr>
            <a:r>
              <a:rPr lang="en-US" sz="1300" dirty="0">
                <a:solidFill>
                  <a:srgbClr val="6B6B6B"/>
                </a:solidFill>
                <a:latin typeface="Arial" pitchFamily="34" charset="0"/>
                <a:ea typeface="Arial" pitchFamily="34" charset="-122"/>
                <a:cs typeface="Arial" pitchFamily="34" charset="-120"/>
              </a:rPr>
              <a:t>Sponsor et chef de projet</a:t>
            </a:r>
            <a:endParaRPr lang="en-US" sz="1300" dirty="0"/>
          </a:p>
          <a:p>
            <a:pPr marL="177800" indent="-177800">
              <a:lnSpc>
                <a:spcPts val="1664"/>
              </a:lnSpc>
              <a:spcAft>
                <a:spcPts val="600"/>
              </a:spcAft>
              <a:buSzPct val="100000"/>
              <a:buChar char="•"/>
            </a:pPr>
            <a:r>
              <a:rPr lang="en-US" sz="1300" dirty="0">
                <a:solidFill>
                  <a:srgbClr val="6B6B6B"/>
                </a:solidFill>
                <a:latin typeface="Arial" pitchFamily="34" charset="0"/>
                <a:ea typeface="Arial" pitchFamily="34" charset="-122"/>
                <a:cs typeface="Arial" pitchFamily="34" charset="-120"/>
              </a:rPr>
              <a:t>Budget et planning cadres</a:t>
            </a:r>
            <a:endParaRPr lang="en-US" sz="1300" dirty="0"/>
          </a:p>
          <a:p>
            <a:pPr marL="177800" indent="-177800">
              <a:lnSpc>
                <a:spcPts val="1664"/>
              </a:lnSpc>
              <a:spcAft>
                <a:spcPts val="600"/>
              </a:spcAft>
              <a:buSzPct val="100000"/>
              <a:buChar char="•"/>
            </a:pPr>
            <a:r>
              <a:rPr lang="en-US" sz="1300" dirty="0">
                <a:solidFill>
                  <a:srgbClr val="6B6B6B"/>
                </a:solidFill>
                <a:latin typeface="Arial" pitchFamily="34" charset="0"/>
                <a:ea typeface="Arial" pitchFamily="34" charset="-122"/>
                <a:cs typeface="Arial" pitchFamily="34" charset="-120"/>
              </a:rPr>
              <a:t>Critères de succès</a:t>
            </a:r>
            <a:endParaRPr lang="en-US" sz="1300" dirty="0"/>
          </a:p>
        </p:txBody>
      </p:sp>
      <p:sp>
        <p:nvSpPr>
          <p:cNvPr id="10" name="Shape 8"/>
          <p:cNvSpPr/>
          <p:nvPr/>
        </p:nvSpPr>
        <p:spPr>
          <a:xfrm>
            <a:off x="4368698" y="2331720"/>
            <a:ext cx="3454298" cy="3246120"/>
          </a:xfrm>
          <a:prstGeom prst="roundRect">
            <a:avLst>
              <a:gd name="adj" fmla="val 2535"/>
            </a:avLst>
          </a:prstGeom>
          <a:solidFill>
            <a:srgbClr val="F2F0E8"/>
          </a:solidFill>
          <a:ln w="12700">
            <a:solidFill>
              <a:srgbClr val="CCCCEB"/>
            </a:solidFill>
            <a:prstDash val="solid"/>
          </a:ln>
        </p:spPr>
      </p:sp>
      <p:sp>
        <p:nvSpPr>
          <p:cNvPr id="11" name="Text 9"/>
          <p:cNvSpPr/>
          <p:nvPr/>
        </p:nvSpPr>
        <p:spPr>
          <a:xfrm>
            <a:off x="4569866" y="2478024"/>
            <a:ext cx="3051962" cy="502920"/>
          </a:xfrm>
          <a:prstGeom prst="rect">
            <a:avLst/>
          </a:prstGeom>
          <a:noFill/>
          <a:ln/>
        </p:spPr>
        <p:txBody>
          <a:bodyPr wrap="square" lIns="0" tIns="0" rIns="0" bIns="0" rtlCol="0" anchor="t"/>
          <a:lstStyle/>
          <a:p>
            <a:pPr indent="0" marL="0">
              <a:lnSpc>
                <a:spcPts val="1725"/>
              </a:lnSpc>
              <a:buNone/>
            </a:pPr>
            <a:r>
              <a:rPr lang="en-US" sz="1500" b="1" dirty="0">
                <a:solidFill>
                  <a:srgbClr val="111111"/>
                </a:solidFill>
                <a:latin typeface="Arial" pitchFamily="34" charset="0"/>
                <a:ea typeface="Arial" pitchFamily="34" charset="-122"/>
                <a:cs typeface="Arial" pitchFamily="34" charset="-120"/>
              </a:rPr>
              <a:t>2 · Cahier des charges (7 rubriques)</a:t>
            </a:r>
            <a:endParaRPr lang="en-US" sz="1500" dirty="0"/>
          </a:p>
        </p:txBody>
      </p:sp>
      <p:sp>
        <p:nvSpPr>
          <p:cNvPr id="12" name="Text 10"/>
          <p:cNvSpPr/>
          <p:nvPr/>
        </p:nvSpPr>
        <p:spPr>
          <a:xfrm>
            <a:off x="4569866" y="3008376"/>
            <a:ext cx="3051962" cy="2423160"/>
          </a:xfrm>
          <a:prstGeom prst="rect">
            <a:avLst/>
          </a:prstGeom>
          <a:noFill/>
          <a:ln/>
        </p:spPr>
        <p:txBody>
          <a:bodyPr wrap="square" lIns="0" tIns="0" rIns="0" bIns="0" rtlCol="0" anchor="t"/>
          <a:lstStyle/>
          <a:p>
            <a:pPr marL="177800" indent="-177800">
              <a:lnSpc>
                <a:spcPts val="1664"/>
              </a:lnSpc>
              <a:spcAft>
                <a:spcPts val="600"/>
              </a:spcAft>
              <a:buSzPct val="100000"/>
              <a:buChar char="•"/>
            </a:pPr>
            <a:r>
              <a:rPr lang="en-US" sz="1300" dirty="0">
                <a:solidFill>
                  <a:srgbClr val="6B6B6B"/>
                </a:solidFill>
                <a:latin typeface="Arial" pitchFamily="34" charset="0"/>
                <a:ea typeface="Arial" pitchFamily="34" charset="-122"/>
                <a:cs typeface="Arial" pitchFamily="34" charset="-120"/>
              </a:rPr>
              <a:t>Contexte et objectifs</a:t>
            </a:r>
            <a:endParaRPr lang="en-US" sz="1300" dirty="0"/>
          </a:p>
          <a:p>
            <a:pPr marL="177800" indent="-177800">
              <a:lnSpc>
                <a:spcPts val="1664"/>
              </a:lnSpc>
              <a:spcAft>
                <a:spcPts val="600"/>
              </a:spcAft>
              <a:buSzPct val="100000"/>
              <a:buChar char="•"/>
            </a:pPr>
            <a:r>
              <a:rPr lang="en-US" sz="1300" dirty="0">
                <a:solidFill>
                  <a:srgbClr val="6B6B6B"/>
                </a:solidFill>
                <a:latin typeface="Arial" pitchFamily="34" charset="0"/>
                <a:ea typeface="Arial" pitchFamily="34" charset="-122"/>
                <a:cs typeface="Arial" pitchFamily="34" charset="-120"/>
              </a:rPr>
              <a:t>Exigences fonctionnelles / non fonctionnelles</a:t>
            </a:r>
            <a:endParaRPr lang="en-US" sz="1300" dirty="0"/>
          </a:p>
          <a:p>
            <a:pPr marL="177800" indent="-177800">
              <a:lnSpc>
                <a:spcPts val="1664"/>
              </a:lnSpc>
              <a:spcAft>
                <a:spcPts val="600"/>
              </a:spcAft>
              <a:buSzPct val="100000"/>
              <a:buChar char="•"/>
            </a:pPr>
            <a:r>
              <a:rPr lang="en-US" sz="1300" dirty="0">
                <a:solidFill>
                  <a:srgbClr val="6B6B6B"/>
                </a:solidFill>
                <a:latin typeface="Arial" pitchFamily="34" charset="0"/>
                <a:ea typeface="Arial" pitchFamily="34" charset="-122"/>
                <a:cs typeface="Arial" pitchFamily="34" charset="-120"/>
              </a:rPr>
              <a:t>Contraintes et interfaces</a:t>
            </a:r>
            <a:endParaRPr lang="en-US" sz="1300" dirty="0"/>
          </a:p>
          <a:p>
            <a:pPr marL="177800" indent="-177800">
              <a:lnSpc>
                <a:spcPts val="1664"/>
              </a:lnSpc>
              <a:spcAft>
                <a:spcPts val="600"/>
              </a:spcAft>
              <a:buSzPct val="100000"/>
              <a:buChar char="•"/>
            </a:pPr>
            <a:r>
              <a:rPr lang="en-US" sz="1300" dirty="0">
                <a:solidFill>
                  <a:srgbClr val="6B6B6B"/>
                </a:solidFill>
                <a:latin typeface="Arial" pitchFamily="34" charset="0"/>
                <a:ea typeface="Arial" pitchFamily="34" charset="-122"/>
                <a:cs typeface="Arial" pitchFamily="34" charset="-120"/>
              </a:rPr>
              <a:t>Livrables attendus</a:t>
            </a:r>
            <a:endParaRPr lang="en-US" sz="1300" dirty="0"/>
          </a:p>
          <a:p>
            <a:pPr marL="177800" indent="-177800">
              <a:lnSpc>
                <a:spcPts val="1664"/>
              </a:lnSpc>
              <a:spcAft>
                <a:spcPts val="600"/>
              </a:spcAft>
              <a:buSzPct val="100000"/>
              <a:buChar char="•"/>
            </a:pPr>
            <a:r>
              <a:rPr lang="en-US" sz="1300" dirty="0">
                <a:solidFill>
                  <a:srgbClr val="6B6B6B"/>
                </a:solidFill>
                <a:latin typeface="Arial" pitchFamily="34" charset="0"/>
                <a:ea typeface="Arial" pitchFamily="34" charset="-122"/>
                <a:cs typeface="Arial" pitchFamily="34" charset="-120"/>
              </a:rPr>
              <a:t>Critères d'acceptation — Annexes</a:t>
            </a:r>
            <a:endParaRPr lang="en-US" sz="1300" dirty="0"/>
          </a:p>
        </p:txBody>
      </p:sp>
      <p:sp>
        <p:nvSpPr>
          <p:cNvPr id="13" name="Shape 11"/>
          <p:cNvSpPr/>
          <p:nvPr/>
        </p:nvSpPr>
        <p:spPr>
          <a:xfrm>
            <a:off x="8097317" y="2331720"/>
            <a:ext cx="3454298" cy="3246120"/>
          </a:xfrm>
          <a:prstGeom prst="roundRect">
            <a:avLst>
              <a:gd name="adj" fmla="val 2535"/>
            </a:avLst>
          </a:prstGeom>
          <a:solidFill>
            <a:srgbClr val="F2F0E8"/>
          </a:solidFill>
          <a:ln w="12700">
            <a:solidFill>
              <a:srgbClr val="CCCCEB"/>
            </a:solidFill>
            <a:prstDash val="solid"/>
          </a:ln>
        </p:spPr>
      </p:sp>
      <p:sp>
        <p:nvSpPr>
          <p:cNvPr id="14" name="Text 12"/>
          <p:cNvSpPr/>
          <p:nvPr/>
        </p:nvSpPr>
        <p:spPr>
          <a:xfrm>
            <a:off x="8298485" y="2478024"/>
            <a:ext cx="3051962" cy="502920"/>
          </a:xfrm>
          <a:prstGeom prst="rect">
            <a:avLst/>
          </a:prstGeom>
          <a:noFill/>
          <a:ln/>
        </p:spPr>
        <p:txBody>
          <a:bodyPr wrap="square" lIns="0" tIns="0" rIns="0" bIns="0" rtlCol="0" anchor="t"/>
          <a:lstStyle/>
          <a:p>
            <a:pPr indent="0" marL="0">
              <a:lnSpc>
                <a:spcPts val="1725"/>
              </a:lnSpc>
              <a:buNone/>
            </a:pPr>
            <a:r>
              <a:rPr lang="en-US" sz="1500" b="1" dirty="0">
                <a:solidFill>
                  <a:srgbClr val="111111"/>
                </a:solidFill>
                <a:latin typeface="Arial" pitchFamily="34" charset="0"/>
                <a:ea typeface="Arial" pitchFamily="34" charset="-122"/>
                <a:cs typeface="Arial" pitchFamily="34" charset="-120"/>
              </a:rPr>
              <a:t>3 · Registre des risques</a:t>
            </a:r>
            <a:endParaRPr lang="en-US" sz="1500" dirty="0"/>
          </a:p>
        </p:txBody>
      </p:sp>
      <p:sp>
        <p:nvSpPr>
          <p:cNvPr id="15" name="Text 13"/>
          <p:cNvSpPr/>
          <p:nvPr/>
        </p:nvSpPr>
        <p:spPr>
          <a:xfrm>
            <a:off x="8298485" y="3008376"/>
            <a:ext cx="3051962" cy="2423160"/>
          </a:xfrm>
          <a:prstGeom prst="rect">
            <a:avLst/>
          </a:prstGeom>
          <a:noFill/>
          <a:ln/>
        </p:spPr>
        <p:txBody>
          <a:bodyPr wrap="square" lIns="0" tIns="0" rIns="0" bIns="0" rtlCol="0" anchor="t"/>
          <a:lstStyle/>
          <a:p>
            <a:pPr marL="177800" indent="-177800">
              <a:lnSpc>
                <a:spcPts val="1664"/>
              </a:lnSpc>
              <a:spcAft>
                <a:spcPts val="600"/>
              </a:spcAft>
              <a:buSzPct val="100000"/>
              <a:buChar char="•"/>
            </a:pPr>
            <a:r>
              <a:rPr lang="en-US" sz="1300" dirty="0">
                <a:solidFill>
                  <a:srgbClr val="6B6B6B"/>
                </a:solidFill>
                <a:latin typeface="Arial" pitchFamily="34" charset="0"/>
                <a:ea typeface="Arial" pitchFamily="34" charset="-122"/>
                <a:cs typeface="Arial" pitchFamily="34" charset="-120"/>
              </a:rPr>
              <a:t>Identifiant et catégorie</a:t>
            </a:r>
            <a:endParaRPr lang="en-US" sz="1300" dirty="0"/>
          </a:p>
          <a:p>
            <a:pPr marL="177800" indent="-177800">
              <a:lnSpc>
                <a:spcPts val="1664"/>
              </a:lnSpc>
              <a:spcAft>
                <a:spcPts val="600"/>
              </a:spcAft>
              <a:buSzPct val="100000"/>
              <a:buChar char="•"/>
            </a:pPr>
            <a:r>
              <a:rPr lang="en-US" sz="1300" dirty="0">
                <a:solidFill>
                  <a:srgbClr val="6B6B6B"/>
                </a:solidFill>
                <a:latin typeface="Arial" pitchFamily="34" charset="0"/>
                <a:ea typeface="Arial" pitchFamily="34" charset="-122"/>
                <a:cs typeface="Arial" pitchFamily="34" charset="-120"/>
              </a:rPr>
              <a:t>Probabilité × impact = criticité</a:t>
            </a:r>
            <a:endParaRPr lang="en-US" sz="1300" dirty="0"/>
          </a:p>
          <a:p>
            <a:pPr marL="177800" indent="-177800">
              <a:lnSpc>
                <a:spcPts val="1664"/>
              </a:lnSpc>
              <a:spcAft>
                <a:spcPts val="600"/>
              </a:spcAft>
              <a:buSzPct val="100000"/>
              <a:buChar char="•"/>
            </a:pPr>
            <a:r>
              <a:rPr lang="en-US" sz="1300" dirty="0">
                <a:solidFill>
                  <a:srgbClr val="6B6B6B"/>
                </a:solidFill>
                <a:latin typeface="Arial" pitchFamily="34" charset="0"/>
                <a:ea typeface="Arial" pitchFamily="34" charset="-122"/>
                <a:cs typeface="Arial" pitchFamily="34" charset="-120"/>
              </a:rPr>
              <a:t>Stratégie de traitement</a:t>
            </a:r>
            <a:endParaRPr lang="en-US" sz="1300" dirty="0"/>
          </a:p>
          <a:p>
            <a:pPr marL="177800" indent="-177800">
              <a:lnSpc>
                <a:spcPts val="1664"/>
              </a:lnSpc>
              <a:spcAft>
                <a:spcPts val="600"/>
              </a:spcAft>
              <a:buSzPct val="100000"/>
              <a:buChar char="•"/>
            </a:pPr>
            <a:r>
              <a:rPr lang="en-US" sz="1300" dirty="0">
                <a:solidFill>
                  <a:srgbClr val="6B6B6B"/>
                </a:solidFill>
                <a:latin typeface="Arial" pitchFamily="34" charset="0"/>
                <a:ea typeface="Arial" pitchFamily="34" charset="-122"/>
                <a:cs typeface="Arial" pitchFamily="34" charset="-120"/>
              </a:rPr>
              <a:t>Plan d'action et responsable</a:t>
            </a:r>
            <a:endParaRPr lang="en-US" sz="1300" dirty="0"/>
          </a:p>
        </p:txBody>
      </p:sp>
      <p:sp>
        <p:nvSpPr>
          <p:cNvPr id="16" name="Text 14"/>
          <p:cNvSpPr/>
          <p:nvPr/>
        </p:nvSpPr>
        <p:spPr>
          <a:xfrm>
            <a:off x="640080" y="5806440"/>
            <a:ext cx="10911535" cy="365760"/>
          </a:xfrm>
          <a:prstGeom prst="rect">
            <a:avLst/>
          </a:prstGeom>
          <a:noFill/>
          <a:ln/>
        </p:spPr>
        <p:txBody>
          <a:bodyPr wrap="square" lIns="0" tIns="0" rIns="0" bIns="0" rtlCol="0" anchor="t"/>
          <a:lstStyle/>
          <a:p>
            <a:pPr algn="l" indent="0" marL="0">
              <a:lnSpc>
                <a:spcPts val="1620"/>
              </a:lnSpc>
              <a:buNone/>
            </a:pPr>
            <a:r>
              <a:rPr lang="en-US" sz="1200" dirty="0">
                <a:solidFill>
                  <a:srgbClr val="6B6B6B"/>
                </a:solidFill>
                <a:latin typeface="Arial" pitchFamily="34" charset="0"/>
                <a:ea typeface="Arial" pitchFamily="34" charset="-122"/>
                <a:cs typeface="Arial" pitchFamily="34" charset="-120"/>
              </a:rPr>
              <a:t>Ce référentiel commun facilite aussi l'arrivée d'un nouveau chef de projet dans la cellule PMO.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457200"/>
            <a:ext cx="8424367" cy="320040"/>
          </a:xfrm>
          <a:prstGeom prst="rect">
            <a:avLst/>
          </a:prstGeom>
          <a:noFill/>
          <a:ln/>
        </p:spPr>
        <p:txBody>
          <a:bodyPr wrap="square" lIns="0" tIns="0" rIns="0" bIns="0" rtlCol="0" anchor="t"/>
          <a:lstStyle/>
          <a:p>
            <a:pPr algn="l" indent="0" marL="0">
              <a:buNone/>
            </a:pPr>
            <a:r>
              <a:rPr lang="en-US" sz="1200" b="1" spc="100" kern="0" dirty="0">
                <a:solidFill>
                  <a:srgbClr val="1E2BFA"/>
                </a:solidFill>
                <a:latin typeface="Arial" pitchFamily="34" charset="0"/>
                <a:ea typeface="Arial" pitchFamily="34" charset="-122"/>
                <a:cs typeface="Arial" pitchFamily="34" charset="-120"/>
              </a:rPr>
              <a:t>PARTIE 1 · 1.3</a:t>
            </a:r>
            <a:endParaRPr lang="en-US" sz="1200" dirty="0"/>
          </a:p>
        </p:txBody>
      </p:sp>
      <p:sp>
        <p:nvSpPr>
          <p:cNvPr id="3" name="Shape 1"/>
          <p:cNvSpPr/>
          <p:nvPr/>
        </p:nvSpPr>
        <p:spPr>
          <a:xfrm>
            <a:off x="9338767" y="420624"/>
            <a:ext cx="2212848" cy="329184"/>
          </a:xfrm>
          <a:prstGeom prst="roundRect">
            <a:avLst>
              <a:gd name="adj" fmla="val 50000"/>
            </a:avLst>
          </a:prstGeom>
          <a:solidFill>
            <a:srgbClr val="E9E7E9"/>
          </a:solidFill>
          <a:ln/>
        </p:spPr>
      </p:sp>
      <p:sp>
        <p:nvSpPr>
          <p:cNvPr id="4" name="Text 2"/>
          <p:cNvSpPr/>
          <p:nvPr/>
        </p:nvSpPr>
        <p:spPr>
          <a:xfrm>
            <a:off x="9338767" y="420624"/>
            <a:ext cx="2212848" cy="329184"/>
          </a:xfrm>
          <a:prstGeom prst="rect">
            <a:avLst/>
          </a:prstGeom>
          <a:noFill/>
          <a:ln/>
        </p:spPr>
        <p:txBody>
          <a:bodyPr wrap="square" lIns="0" tIns="0" rIns="0" bIns="0" rtlCol="0" anchor="ctr"/>
          <a:lstStyle/>
          <a:p>
            <a:pPr algn="ctr" indent="0" marL="0">
              <a:buNone/>
            </a:pPr>
            <a:r>
              <a:rPr lang="en-US" sz="1050" b="1" dirty="0">
                <a:solidFill>
                  <a:srgbClr val="1E2BFA"/>
                </a:solidFill>
                <a:latin typeface="Arial" pitchFamily="34" charset="0"/>
                <a:ea typeface="Arial" pitchFamily="34" charset="-122"/>
                <a:cs typeface="Arial" pitchFamily="34" charset="-120"/>
              </a:rPr>
              <a:t>Priorisation</a:t>
            </a:r>
            <a:endParaRPr lang="en-US" sz="1050" dirty="0"/>
          </a:p>
        </p:txBody>
      </p:sp>
      <p:sp>
        <p:nvSpPr>
          <p:cNvPr id="5" name="Text 3"/>
          <p:cNvSpPr/>
          <p:nvPr/>
        </p:nvSpPr>
        <p:spPr>
          <a:xfrm>
            <a:off x="640080" y="868680"/>
            <a:ext cx="10911535" cy="502920"/>
          </a:xfrm>
          <a:prstGeom prst="rect">
            <a:avLst/>
          </a:prstGeom>
          <a:noFill/>
          <a:ln/>
        </p:spPr>
        <p:txBody>
          <a:bodyPr wrap="square" lIns="0" tIns="0" rIns="0" bIns="0" rtlCol="0" anchor="t"/>
          <a:lstStyle/>
          <a:p>
            <a:pPr algn="l" indent="0" marL="0">
              <a:lnSpc>
                <a:spcPts val="2376"/>
              </a:lnSpc>
              <a:buNone/>
            </a:pPr>
            <a:r>
              <a:rPr lang="en-US" sz="2200" b="1" dirty="0">
                <a:solidFill>
                  <a:srgbClr val="111111"/>
                </a:solidFill>
                <a:latin typeface="Arial" pitchFamily="34" charset="0"/>
                <a:ea typeface="Arial" pitchFamily="34" charset="-122"/>
                <a:cs typeface="Arial" pitchFamily="34" charset="-120"/>
              </a:rPr>
              <a:t>Le tableau de bord de supervision du portefeuille</a:t>
            </a:r>
            <a:endParaRPr lang="en-US" sz="2200" dirty="0"/>
          </a:p>
        </p:txBody>
      </p:sp>
      <p:sp>
        <p:nvSpPr>
          <p:cNvPr id="6" name="Text 4"/>
          <p:cNvSpPr/>
          <p:nvPr/>
        </p:nvSpPr>
        <p:spPr>
          <a:xfrm>
            <a:off x="640080" y="1600200"/>
            <a:ext cx="10911535" cy="411480"/>
          </a:xfrm>
          <a:prstGeom prst="rect">
            <a:avLst/>
          </a:prstGeom>
          <a:noFill/>
          <a:ln/>
        </p:spPr>
        <p:txBody>
          <a:bodyPr wrap="square" lIns="0" tIns="0" rIns="0" bIns="0" rtlCol="0" anchor="t"/>
          <a:lstStyle/>
          <a:p>
            <a:pPr algn="l" indent="0" marL="0">
              <a:lnSpc>
                <a:spcPts val="1755"/>
              </a:lnSpc>
              <a:buNone/>
            </a:pPr>
            <a:r>
              <a:rPr lang="en-US" sz="1300" dirty="0">
                <a:solidFill>
                  <a:srgbClr val="6B6B6B"/>
                </a:solidFill>
                <a:latin typeface="Arial" pitchFamily="34" charset="0"/>
                <a:ea typeface="Arial" pitchFamily="34" charset="-122"/>
                <a:cs typeface="Arial" pitchFamily="34" charset="-120"/>
              </a:rPr>
              <a:t>La priorisation suit la stratégie de l'entreprise plutôt que des impressions personnelles. Cinq axes en découlent :</a:t>
            </a:r>
            <a:endParaRPr lang="en-US" sz="1300" dirty="0"/>
          </a:p>
        </p:txBody>
      </p:sp>
      <p:sp>
        <p:nvSpPr>
          <p:cNvPr id="7" name="Text 5"/>
          <p:cNvSpPr/>
          <p:nvPr/>
        </p:nvSpPr>
        <p:spPr>
          <a:xfrm>
            <a:off x="640080" y="2194560"/>
            <a:ext cx="457200" cy="566928"/>
          </a:xfrm>
          <a:prstGeom prst="rect">
            <a:avLst/>
          </a:prstGeom>
          <a:noFill/>
          <a:ln/>
        </p:spPr>
        <p:txBody>
          <a:bodyPr wrap="square" lIns="0" tIns="0" rIns="0" bIns="0" rtlCol="0" anchor="t"/>
          <a:lstStyle/>
          <a:p>
            <a:pPr indent="0" marL="0">
              <a:buNone/>
            </a:pPr>
            <a:r>
              <a:rPr lang="en-US" sz="1250" b="1" dirty="0">
                <a:solidFill>
                  <a:srgbClr val="1E2BFA"/>
                </a:solidFill>
                <a:latin typeface="Arial" pitchFamily="34" charset="0"/>
                <a:ea typeface="Arial" pitchFamily="34" charset="-122"/>
                <a:cs typeface="Arial" pitchFamily="34" charset="-120"/>
              </a:rPr>
              <a:t>01</a:t>
            </a:r>
            <a:endParaRPr lang="en-US" sz="1250" dirty="0"/>
          </a:p>
        </p:txBody>
      </p:sp>
      <p:sp>
        <p:nvSpPr>
          <p:cNvPr id="8" name="Text 6"/>
          <p:cNvSpPr/>
          <p:nvPr/>
        </p:nvSpPr>
        <p:spPr>
          <a:xfrm>
            <a:off x="1143000" y="2194560"/>
            <a:ext cx="3207002" cy="566928"/>
          </a:xfrm>
          <a:prstGeom prst="rect">
            <a:avLst/>
          </a:prstGeom>
          <a:noFill/>
          <a:ln/>
        </p:spPr>
        <p:txBody>
          <a:bodyPr wrap="square" lIns="0" tIns="0" rIns="0" bIns="0" rtlCol="0" anchor="t"/>
          <a:lstStyle/>
          <a:p>
            <a:pPr indent="0" marL="0">
              <a:lnSpc>
                <a:spcPts val="1755"/>
              </a:lnSpc>
              <a:buNone/>
            </a:pPr>
            <a:r>
              <a:rPr lang="en-US" sz="1350" dirty="0">
                <a:solidFill>
                  <a:srgbClr val="111111"/>
                </a:solidFill>
                <a:latin typeface="Arial" pitchFamily="34" charset="0"/>
                <a:ea typeface="Arial" pitchFamily="34" charset="-122"/>
                <a:cs typeface="Arial" pitchFamily="34" charset="-120"/>
              </a:rPr>
              <a:t>Conquérir de nouveaux clients</a:t>
            </a:r>
            <a:endParaRPr lang="en-US" sz="1350" dirty="0"/>
          </a:p>
        </p:txBody>
      </p:sp>
      <p:sp>
        <p:nvSpPr>
          <p:cNvPr id="9" name="Text 7"/>
          <p:cNvSpPr/>
          <p:nvPr/>
        </p:nvSpPr>
        <p:spPr>
          <a:xfrm>
            <a:off x="640080" y="3015488"/>
            <a:ext cx="457200" cy="566928"/>
          </a:xfrm>
          <a:prstGeom prst="rect">
            <a:avLst/>
          </a:prstGeom>
          <a:noFill/>
          <a:ln/>
        </p:spPr>
        <p:txBody>
          <a:bodyPr wrap="square" lIns="0" tIns="0" rIns="0" bIns="0" rtlCol="0" anchor="t"/>
          <a:lstStyle/>
          <a:p>
            <a:pPr indent="0" marL="0">
              <a:buNone/>
            </a:pPr>
            <a:r>
              <a:rPr lang="en-US" sz="1250" b="1" dirty="0">
                <a:solidFill>
                  <a:srgbClr val="1E2BFA"/>
                </a:solidFill>
                <a:latin typeface="Arial" pitchFamily="34" charset="0"/>
                <a:ea typeface="Arial" pitchFamily="34" charset="-122"/>
                <a:cs typeface="Arial" pitchFamily="34" charset="-120"/>
              </a:rPr>
              <a:t>02</a:t>
            </a:r>
            <a:endParaRPr lang="en-US" sz="1250" dirty="0"/>
          </a:p>
        </p:txBody>
      </p:sp>
      <p:sp>
        <p:nvSpPr>
          <p:cNvPr id="10" name="Text 8"/>
          <p:cNvSpPr/>
          <p:nvPr/>
        </p:nvSpPr>
        <p:spPr>
          <a:xfrm>
            <a:off x="1143000" y="3015488"/>
            <a:ext cx="3207002" cy="566928"/>
          </a:xfrm>
          <a:prstGeom prst="rect">
            <a:avLst/>
          </a:prstGeom>
          <a:noFill/>
          <a:ln/>
        </p:spPr>
        <p:txBody>
          <a:bodyPr wrap="square" lIns="0" tIns="0" rIns="0" bIns="0" rtlCol="0" anchor="t"/>
          <a:lstStyle/>
          <a:p>
            <a:pPr indent="0" marL="0">
              <a:lnSpc>
                <a:spcPts val="1755"/>
              </a:lnSpc>
              <a:buNone/>
            </a:pPr>
            <a:r>
              <a:rPr lang="en-US" sz="1350" dirty="0">
                <a:solidFill>
                  <a:srgbClr val="111111"/>
                </a:solidFill>
                <a:latin typeface="Arial" pitchFamily="34" charset="0"/>
                <a:ea typeface="Arial" pitchFamily="34" charset="-122"/>
                <a:cs typeface="Arial" pitchFamily="34" charset="-120"/>
              </a:rPr>
              <a:t>Construire un socle technique fiable</a:t>
            </a:r>
            <a:endParaRPr lang="en-US" sz="1350" dirty="0"/>
          </a:p>
        </p:txBody>
      </p:sp>
      <p:sp>
        <p:nvSpPr>
          <p:cNvPr id="11" name="Text 9"/>
          <p:cNvSpPr/>
          <p:nvPr/>
        </p:nvSpPr>
        <p:spPr>
          <a:xfrm>
            <a:off x="640080" y="3836416"/>
            <a:ext cx="457200" cy="566928"/>
          </a:xfrm>
          <a:prstGeom prst="rect">
            <a:avLst/>
          </a:prstGeom>
          <a:noFill/>
          <a:ln/>
        </p:spPr>
        <p:txBody>
          <a:bodyPr wrap="square" lIns="0" tIns="0" rIns="0" bIns="0" rtlCol="0" anchor="t"/>
          <a:lstStyle/>
          <a:p>
            <a:pPr indent="0" marL="0">
              <a:buNone/>
            </a:pPr>
            <a:r>
              <a:rPr lang="en-US" sz="1250" b="1" dirty="0">
                <a:solidFill>
                  <a:srgbClr val="1E2BFA"/>
                </a:solidFill>
                <a:latin typeface="Arial" pitchFamily="34" charset="0"/>
                <a:ea typeface="Arial" pitchFamily="34" charset="-122"/>
                <a:cs typeface="Arial" pitchFamily="34" charset="-120"/>
              </a:rPr>
              <a:t>03</a:t>
            </a:r>
            <a:endParaRPr lang="en-US" sz="1250" dirty="0"/>
          </a:p>
        </p:txBody>
      </p:sp>
      <p:sp>
        <p:nvSpPr>
          <p:cNvPr id="12" name="Text 10"/>
          <p:cNvSpPr/>
          <p:nvPr/>
        </p:nvSpPr>
        <p:spPr>
          <a:xfrm>
            <a:off x="1143000" y="3836416"/>
            <a:ext cx="3207002" cy="566928"/>
          </a:xfrm>
          <a:prstGeom prst="rect">
            <a:avLst/>
          </a:prstGeom>
          <a:noFill/>
          <a:ln/>
        </p:spPr>
        <p:txBody>
          <a:bodyPr wrap="square" lIns="0" tIns="0" rIns="0" bIns="0" rtlCol="0" anchor="t"/>
          <a:lstStyle/>
          <a:p>
            <a:pPr indent="0" marL="0">
              <a:lnSpc>
                <a:spcPts val="1755"/>
              </a:lnSpc>
              <a:buNone/>
            </a:pPr>
            <a:r>
              <a:rPr lang="en-US" sz="1350" dirty="0">
                <a:solidFill>
                  <a:srgbClr val="111111"/>
                </a:solidFill>
                <a:latin typeface="Arial" pitchFamily="34" charset="0"/>
                <a:ea typeface="Arial" pitchFamily="34" charset="-122"/>
                <a:cs typeface="Arial" pitchFamily="34" charset="-120"/>
              </a:rPr>
              <a:t>Limiter les risques, garder l'activité en marche</a:t>
            </a:r>
            <a:endParaRPr lang="en-US" sz="1350" dirty="0"/>
          </a:p>
        </p:txBody>
      </p:sp>
      <p:sp>
        <p:nvSpPr>
          <p:cNvPr id="13" name="Text 11"/>
          <p:cNvSpPr/>
          <p:nvPr/>
        </p:nvSpPr>
        <p:spPr>
          <a:xfrm>
            <a:off x="640080" y="4657344"/>
            <a:ext cx="457200" cy="566928"/>
          </a:xfrm>
          <a:prstGeom prst="rect">
            <a:avLst/>
          </a:prstGeom>
          <a:noFill/>
          <a:ln/>
        </p:spPr>
        <p:txBody>
          <a:bodyPr wrap="square" lIns="0" tIns="0" rIns="0" bIns="0" rtlCol="0" anchor="t"/>
          <a:lstStyle/>
          <a:p>
            <a:pPr indent="0" marL="0">
              <a:buNone/>
            </a:pPr>
            <a:r>
              <a:rPr lang="en-US" sz="1250" b="1" dirty="0">
                <a:solidFill>
                  <a:srgbClr val="1E2BFA"/>
                </a:solidFill>
                <a:latin typeface="Arial" pitchFamily="34" charset="0"/>
                <a:ea typeface="Arial" pitchFamily="34" charset="-122"/>
                <a:cs typeface="Arial" pitchFamily="34" charset="-120"/>
              </a:rPr>
              <a:t>04</a:t>
            </a:r>
            <a:endParaRPr lang="en-US" sz="1250" dirty="0"/>
          </a:p>
        </p:txBody>
      </p:sp>
      <p:sp>
        <p:nvSpPr>
          <p:cNvPr id="14" name="Text 12"/>
          <p:cNvSpPr/>
          <p:nvPr/>
        </p:nvSpPr>
        <p:spPr>
          <a:xfrm>
            <a:off x="1143000" y="4657344"/>
            <a:ext cx="3207002" cy="566928"/>
          </a:xfrm>
          <a:prstGeom prst="rect">
            <a:avLst/>
          </a:prstGeom>
          <a:noFill/>
          <a:ln/>
        </p:spPr>
        <p:txBody>
          <a:bodyPr wrap="square" lIns="0" tIns="0" rIns="0" bIns="0" rtlCol="0" anchor="t"/>
          <a:lstStyle/>
          <a:p>
            <a:pPr indent="0" marL="0">
              <a:lnSpc>
                <a:spcPts val="1755"/>
              </a:lnSpc>
              <a:buNone/>
            </a:pPr>
            <a:r>
              <a:rPr lang="en-US" sz="1350" dirty="0">
                <a:solidFill>
                  <a:srgbClr val="111111"/>
                </a:solidFill>
                <a:latin typeface="Arial" pitchFamily="34" charset="0"/>
                <a:ea typeface="Arial" pitchFamily="34" charset="-122"/>
                <a:cs typeface="Arial" pitchFamily="34" charset="-120"/>
              </a:rPr>
              <a:t>Respecter la réglementation</a:t>
            </a:r>
            <a:endParaRPr lang="en-US" sz="1350" dirty="0"/>
          </a:p>
        </p:txBody>
      </p:sp>
      <p:sp>
        <p:nvSpPr>
          <p:cNvPr id="15" name="Text 13"/>
          <p:cNvSpPr/>
          <p:nvPr/>
        </p:nvSpPr>
        <p:spPr>
          <a:xfrm>
            <a:off x="640080" y="5478272"/>
            <a:ext cx="457200" cy="566928"/>
          </a:xfrm>
          <a:prstGeom prst="rect">
            <a:avLst/>
          </a:prstGeom>
          <a:noFill/>
          <a:ln/>
        </p:spPr>
        <p:txBody>
          <a:bodyPr wrap="square" lIns="0" tIns="0" rIns="0" bIns="0" rtlCol="0" anchor="t"/>
          <a:lstStyle/>
          <a:p>
            <a:pPr indent="0" marL="0">
              <a:buNone/>
            </a:pPr>
            <a:r>
              <a:rPr lang="en-US" sz="1250" b="1" dirty="0">
                <a:solidFill>
                  <a:srgbClr val="1E2BFA"/>
                </a:solidFill>
                <a:latin typeface="Arial" pitchFamily="34" charset="0"/>
                <a:ea typeface="Arial" pitchFamily="34" charset="-122"/>
                <a:cs typeface="Arial" pitchFamily="34" charset="-120"/>
              </a:rPr>
              <a:t>05</a:t>
            </a:r>
            <a:endParaRPr lang="en-US" sz="1250" dirty="0"/>
          </a:p>
        </p:txBody>
      </p:sp>
      <p:sp>
        <p:nvSpPr>
          <p:cNvPr id="16" name="Text 14"/>
          <p:cNvSpPr/>
          <p:nvPr/>
        </p:nvSpPr>
        <p:spPr>
          <a:xfrm>
            <a:off x="1143000" y="5478272"/>
            <a:ext cx="3207002" cy="566928"/>
          </a:xfrm>
          <a:prstGeom prst="rect">
            <a:avLst/>
          </a:prstGeom>
          <a:noFill/>
          <a:ln/>
        </p:spPr>
        <p:txBody>
          <a:bodyPr wrap="square" lIns="0" tIns="0" rIns="0" bIns="0" rtlCol="0" anchor="t"/>
          <a:lstStyle/>
          <a:p>
            <a:pPr indent="0" marL="0">
              <a:lnSpc>
                <a:spcPts val="1755"/>
              </a:lnSpc>
              <a:buNone/>
            </a:pPr>
            <a:r>
              <a:rPr lang="en-US" sz="1350" dirty="0">
                <a:solidFill>
                  <a:srgbClr val="111111"/>
                </a:solidFill>
                <a:latin typeface="Arial" pitchFamily="34" charset="0"/>
                <a:ea typeface="Arial" pitchFamily="34" charset="-122"/>
                <a:cs typeface="Arial" pitchFamily="34" charset="-120"/>
              </a:rPr>
              <a:t>Maîtriser les coûts, donner de la visibilité à la Direction</a:t>
            </a:r>
            <a:endParaRPr lang="en-US" sz="1350" dirty="0"/>
          </a:p>
        </p:txBody>
      </p:sp>
      <p:sp>
        <p:nvSpPr>
          <p:cNvPr id="17" name="Text 15"/>
          <p:cNvSpPr/>
          <p:nvPr/>
        </p:nvSpPr>
        <p:spPr>
          <a:xfrm>
            <a:off x="4715762" y="2103120"/>
            <a:ext cx="6835853" cy="274320"/>
          </a:xfrm>
          <a:prstGeom prst="rect">
            <a:avLst/>
          </a:prstGeom>
          <a:noFill/>
          <a:ln/>
        </p:spPr>
        <p:txBody>
          <a:bodyPr wrap="square" lIns="0" tIns="0" rIns="0" bIns="0" rtlCol="0" anchor="ctr"/>
          <a:lstStyle/>
          <a:p>
            <a:pPr indent="0" marL="0">
              <a:buNone/>
            </a:pPr>
            <a:r>
              <a:rPr lang="en-US" sz="1050" b="1" dirty="0">
                <a:solidFill>
                  <a:srgbClr val="1E2BFA"/>
                </a:solidFill>
                <a:latin typeface="Arial" pitchFamily="34" charset="0"/>
                <a:ea typeface="Arial" pitchFamily="34" charset="-122"/>
                <a:cs typeface="Arial" pitchFamily="34" charset="-120"/>
              </a:rPr>
              <a:t>TABLEAU 3 — CRITÈRES DE PRIORISATION ET COTATION</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715762" y="2404872"/>
          <a:ext cx="6835853" cy="914400"/>
        </p:xfrm>
        <a:graphic>
          <a:graphicData uri="http://schemas.openxmlformats.org/drawingml/2006/table">
            <a:tbl>
              <a:tblPr/>
              <a:tblGrid>
                <a:gridCol w="1640605"/>
                <a:gridCol w="2392549"/>
                <a:gridCol w="2802700"/>
              </a:tblGrid>
              <a:tr h="559613">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CRITÈRE</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CE QU'IL MESURE</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ÉCHELLE</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r>
              <a:tr h="65836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Nécessité stratégique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Importance pour la stratégie Time'Eats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1 à 5 — un projet réglementaire est toujours coté 5</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65836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Rentabilité attendue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Nouveaux clients, CA, économies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1 (faible) à 5 (fort)</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65836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Maîtrise des risques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Confiance de l'équipe dans le projet</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1 (mal maîtrisés) à 5 (bien maîtrisés)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bl>
          </a:graphicData>
        </a:graphic>
      </p:graphicFrame>
      <p:sp>
        <p:nvSpPr>
          <p:cNvPr id="19" name="Shape 16"/>
          <p:cNvSpPr/>
          <p:nvPr/>
        </p:nvSpPr>
        <p:spPr>
          <a:xfrm>
            <a:off x="4715762" y="4526280"/>
            <a:ext cx="6835853" cy="1508760"/>
          </a:xfrm>
          <a:prstGeom prst="roundRect">
            <a:avLst>
              <a:gd name="adj" fmla="val 5455"/>
            </a:avLst>
          </a:prstGeom>
          <a:solidFill>
            <a:srgbClr val="E9E7E9"/>
          </a:solidFill>
          <a:ln/>
        </p:spPr>
      </p:sp>
      <p:sp>
        <p:nvSpPr>
          <p:cNvPr id="20" name="Text 17"/>
          <p:cNvSpPr/>
          <p:nvPr/>
        </p:nvSpPr>
        <p:spPr>
          <a:xfrm>
            <a:off x="4990082" y="4690872"/>
            <a:ext cx="6287213" cy="1179576"/>
          </a:xfrm>
          <a:prstGeom prst="rect">
            <a:avLst/>
          </a:prstGeom>
          <a:noFill/>
          <a:ln/>
        </p:spPr>
        <p:txBody>
          <a:bodyPr wrap="square" lIns="0" tIns="0" rIns="0" bIns="0" rtlCol="0" anchor="ctr"/>
          <a:lstStyle/>
          <a:p>
            <a:pPr indent="0" marL="0">
              <a:lnSpc>
                <a:spcPts val="2000"/>
              </a:lnSpc>
              <a:buNone/>
            </a:pPr>
            <a:r>
              <a:rPr lang="en-US" sz="1250" b="1" dirty="0">
                <a:solidFill>
                  <a:srgbClr val="1E2BFA"/>
                </a:solidFill>
                <a:latin typeface="Arial" pitchFamily="34" charset="0"/>
                <a:ea typeface="Arial" pitchFamily="34" charset="-122"/>
                <a:cs typeface="Arial" pitchFamily="34" charset="-120"/>
              </a:rPr>
              <a:t>Score = Nécessité + Rentabilité + Maîtrise des risques</a:t>
            </a:r>
            <a:endParaRPr lang="en-US" sz="1250" dirty="0"/>
          </a:p>
          <a:p>
            <a:pPr indent="0" marL="0">
              <a:lnSpc>
                <a:spcPts val="2000"/>
              </a:lnSpc>
              <a:buNone/>
            </a:pPr>
            <a:r>
              <a:rPr lang="en-US" sz="1250" dirty="0">
                <a:solidFill>
                  <a:srgbClr val="111111"/>
                </a:solidFill>
                <a:latin typeface="Arial" pitchFamily="34" charset="0"/>
                <a:ea typeface="Arial" pitchFamily="34" charset="-122"/>
                <a:cs typeface="Arial" pitchFamily="34" charset="-120"/>
              </a:rPr>
              <a:t> (sur 15). P1 — Engagé (≥ 12) · P2 — Important (9-11) · P3 — À surveiller (≤ 8).</a:t>
            </a:r>
            <a:endParaRPr lang="en-US" sz="1250" dirty="0"/>
          </a:p>
          <a:p>
            <a:pPr indent="0" marL="0">
              <a:lnSpc>
                <a:spcPts val="2000"/>
              </a:lnSpc>
              <a:buNone/>
            </a:pPr>
            <a:r>
              <a:rPr lang="en-US" sz="1100" i="1" dirty="0">
                <a:solidFill>
                  <a:srgbClr val="6B6B6B"/>
                </a:solidFill>
                <a:latin typeface="Arial" pitchFamily="34" charset="0"/>
                <a:ea typeface="Arial" pitchFamily="34" charset="-122"/>
                <a:cs typeface="Arial" pitchFamily="34" charset="-120"/>
              </a:rPr>
              <a:t>Exception : un projet réglementaire reste engagé quel que soit son score.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457200"/>
            <a:ext cx="8424367" cy="320040"/>
          </a:xfrm>
          <a:prstGeom prst="rect">
            <a:avLst/>
          </a:prstGeom>
          <a:noFill/>
          <a:ln/>
        </p:spPr>
        <p:txBody>
          <a:bodyPr wrap="square" lIns="0" tIns="0" rIns="0" bIns="0" rtlCol="0" anchor="t"/>
          <a:lstStyle/>
          <a:p>
            <a:pPr algn="l" indent="0" marL="0">
              <a:buNone/>
            </a:pPr>
            <a:r>
              <a:rPr lang="en-US" sz="1200" b="1" spc="100" kern="0" dirty="0">
                <a:solidFill>
                  <a:srgbClr val="1E2BFA"/>
                </a:solidFill>
                <a:latin typeface="Arial" pitchFamily="34" charset="0"/>
                <a:ea typeface="Arial" pitchFamily="34" charset="-122"/>
                <a:cs typeface="Arial" pitchFamily="34" charset="-120"/>
              </a:rPr>
              <a:t>PARTIE 1 · 1.3</a:t>
            </a:r>
            <a:endParaRPr lang="en-US" sz="1200" dirty="0"/>
          </a:p>
        </p:txBody>
      </p:sp>
      <p:sp>
        <p:nvSpPr>
          <p:cNvPr id="3" name="Shape 1"/>
          <p:cNvSpPr/>
          <p:nvPr/>
        </p:nvSpPr>
        <p:spPr>
          <a:xfrm>
            <a:off x="9338767" y="420624"/>
            <a:ext cx="2212848" cy="329184"/>
          </a:xfrm>
          <a:prstGeom prst="roundRect">
            <a:avLst>
              <a:gd name="adj" fmla="val 50000"/>
            </a:avLst>
          </a:prstGeom>
          <a:solidFill>
            <a:srgbClr val="E9E7E9"/>
          </a:solidFill>
          <a:ln/>
        </p:spPr>
      </p:sp>
      <p:sp>
        <p:nvSpPr>
          <p:cNvPr id="4" name="Text 2"/>
          <p:cNvSpPr/>
          <p:nvPr/>
        </p:nvSpPr>
        <p:spPr>
          <a:xfrm>
            <a:off x="9338767" y="420624"/>
            <a:ext cx="2212848" cy="329184"/>
          </a:xfrm>
          <a:prstGeom prst="rect">
            <a:avLst/>
          </a:prstGeom>
          <a:noFill/>
          <a:ln/>
        </p:spPr>
        <p:txBody>
          <a:bodyPr wrap="square" lIns="0" tIns="0" rIns="0" bIns="0" rtlCol="0" anchor="ctr"/>
          <a:lstStyle/>
          <a:p>
            <a:pPr algn="ctr" indent="0" marL="0">
              <a:buNone/>
            </a:pPr>
            <a:r>
              <a:rPr lang="en-US" sz="1050" b="1" dirty="0">
                <a:solidFill>
                  <a:srgbClr val="1E2BFA"/>
                </a:solidFill>
                <a:latin typeface="Arial" pitchFamily="34" charset="0"/>
                <a:ea typeface="Arial" pitchFamily="34" charset="-122"/>
                <a:cs typeface="Arial" pitchFamily="34" charset="-120"/>
              </a:rPr>
              <a:t>Portefeuille</a:t>
            </a:r>
            <a:endParaRPr lang="en-US" sz="1050" dirty="0"/>
          </a:p>
        </p:txBody>
      </p:sp>
      <p:sp>
        <p:nvSpPr>
          <p:cNvPr id="5" name="Text 3"/>
          <p:cNvSpPr/>
          <p:nvPr/>
        </p:nvSpPr>
        <p:spPr>
          <a:xfrm>
            <a:off x="640080" y="868680"/>
            <a:ext cx="10911535" cy="502920"/>
          </a:xfrm>
          <a:prstGeom prst="rect">
            <a:avLst/>
          </a:prstGeom>
          <a:noFill/>
          <a:ln/>
        </p:spPr>
        <p:txBody>
          <a:bodyPr wrap="square" lIns="0" tIns="0" rIns="0" bIns="0" rtlCol="0" anchor="t"/>
          <a:lstStyle/>
          <a:p>
            <a:pPr algn="l" indent="0" marL="0">
              <a:lnSpc>
                <a:spcPts val="2376"/>
              </a:lnSpc>
              <a:buNone/>
            </a:pPr>
            <a:r>
              <a:rPr lang="en-US" sz="2200" b="1" dirty="0">
                <a:solidFill>
                  <a:srgbClr val="111111"/>
                </a:solidFill>
                <a:latin typeface="Arial" pitchFamily="34" charset="0"/>
                <a:ea typeface="Arial" pitchFamily="34" charset="-122"/>
                <a:cs typeface="Arial" pitchFamily="34" charset="-120"/>
              </a:rPr>
              <a:t>Application de la grille aux 11 projets du portefeuille</a:t>
            </a:r>
            <a:endParaRPr lang="en-US" sz="2200" dirty="0"/>
          </a:p>
        </p:txBody>
      </p:sp>
      <p:sp>
        <p:nvSpPr>
          <p:cNvPr id="6" name="Text 4"/>
          <p:cNvSpPr/>
          <p:nvPr/>
        </p:nvSpPr>
        <p:spPr>
          <a:xfrm>
            <a:off x="640080" y="1600200"/>
            <a:ext cx="10911535" cy="274320"/>
          </a:xfrm>
          <a:prstGeom prst="rect">
            <a:avLst/>
          </a:prstGeom>
          <a:noFill/>
          <a:ln/>
        </p:spPr>
        <p:txBody>
          <a:bodyPr wrap="square" lIns="0" tIns="0" rIns="0" bIns="0" rtlCol="0" anchor="ctr"/>
          <a:lstStyle/>
          <a:p>
            <a:pPr indent="0" marL="0">
              <a:buNone/>
            </a:pPr>
            <a:r>
              <a:rPr lang="en-US" sz="1050" b="1" dirty="0">
                <a:solidFill>
                  <a:srgbClr val="1E2BFA"/>
                </a:solidFill>
                <a:latin typeface="Arial" pitchFamily="34" charset="0"/>
                <a:ea typeface="Arial" pitchFamily="34" charset="-122"/>
                <a:cs typeface="Arial" pitchFamily="34" charset="-120"/>
              </a:rPr>
              <a:t>TABLEAU 4 — CLASSEMENT DES 11 PROJETS DU PORTEFEUILLE</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11535" cy="914400"/>
        </p:xfrm>
        <a:graphic>
          <a:graphicData uri="http://schemas.openxmlformats.org/drawingml/2006/table">
            <a:tbl>
              <a:tblPr/>
              <a:tblGrid>
                <a:gridCol w="640080"/>
                <a:gridCol w="6065215"/>
                <a:gridCol w="822960"/>
                <a:gridCol w="822960"/>
                <a:gridCol w="822960"/>
                <a:gridCol w="914400"/>
                <a:gridCol w="822960"/>
              </a:tblGrid>
              <a:tr h="264262">
                <a:tc>
                  <a:txBody>
                    <a:bodyPr/>
                    <a:lstStyle/>
                    <a:p>
                      <a:pPr algn="ctr" indent="0" marL="0">
                        <a:buNone/>
                      </a:pPr>
                      <a:r>
                        <a:rPr lang="en-US" sz="950" b="1" dirty="0">
                          <a:solidFill>
                            <a:srgbClr val="1E2BFA"/>
                          </a:solidFill>
                          <a:latin typeface="Arial" pitchFamily="34" charset="0"/>
                          <a:ea typeface="Arial" pitchFamily="34" charset="-122"/>
                          <a:cs typeface="Arial" pitchFamily="34" charset="-120"/>
                        </a:rPr>
                        <a:t>RANG</a:t>
                      </a:r>
                      <a:endParaRPr lang="en-US" sz="95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950" b="1" dirty="0">
                          <a:solidFill>
                            <a:srgbClr val="1E2BFA"/>
                          </a:solidFill>
                          <a:latin typeface="Arial" pitchFamily="34" charset="0"/>
                          <a:ea typeface="Arial" pitchFamily="34" charset="-122"/>
                          <a:cs typeface="Arial" pitchFamily="34" charset="-120"/>
                        </a:rPr>
                        <a:t>PROJET</a:t>
                      </a:r>
                      <a:endParaRPr lang="en-US" sz="95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ctr" indent="0" marL="0">
                        <a:buNone/>
                      </a:pPr>
                      <a:r>
                        <a:rPr lang="en-US" sz="950" b="1" dirty="0">
                          <a:solidFill>
                            <a:srgbClr val="1E2BFA"/>
                          </a:solidFill>
                          <a:latin typeface="Arial" pitchFamily="34" charset="0"/>
                          <a:ea typeface="Arial" pitchFamily="34" charset="-122"/>
                          <a:cs typeface="Arial" pitchFamily="34" charset="-120"/>
                        </a:rPr>
                        <a:t>NÉC.</a:t>
                      </a:r>
                      <a:endParaRPr lang="en-US" sz="95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ctr" indent="0" marL="0">
                        <a:buNone/>
                      </a:pPr>
                      <a:r>
                        <a:rPr lang="en-US" sz="950" b="1" dirty="0">
                          <a:solidFill>
                            <a:srgbClr val="1E2BFA"/>
                          </a:solidFill>
                          <a:latin typeface="Arial" pitchFamily="34" charset="0"/>
                          <a:ea typeface="Arial" pitchFamily="34" charset="-122"/>
                          <a:cs typeface="Arial" pitchFamily="34" charset="-120"/>
                        </a:rPr>
                        <a:t>RENT.</a:t>
                      </a:r>
                      <a:endParaRPr lang="en-US" sz="95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ctr" indent="0" marL="0">
                        <a:buNone/>
                      </a:pPr>
                      <a:r>
                        <a:rPr lang="en-US" sz="950" b="1" dirty="0">
                          <a:solidFill>
                            <a:srgbClr val="1E2BFA"/>
                          </a:solidFill>
                          <a:latin typeface="Arial" pitchFamily="34" charset="0"/>
                          <a:ea typeface="Arial" pitchFamily="34" charset="-122"/>
                          <a:cs typeface="Arial" pitchFamily="34" charset="-120"/>
                        </a:rPr>
                        <a:t>M.R.</a:t>
                      </a:r>
                      <a:endParaRPr lang="en-US" sz="95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ctr" indent="0" marL="0">
                        <a:buNone/>
                      </a:pPr>
                      <a:r>
                        <a:rPr lang="en-US" sz="950" b="1" dirty="0">
                          <a:solidFill>
                            <a:srgbClr val="1E2BFA"/>
                          </a:solidFill>
                          <a:latin typeface="Arial" pitchFamily="34" charset="0"/>
                          <a:ea typeface="Arial" pitchFamily="34" charset="-122"/>
                          <a:cs typeface="Arial" pitchFamily="34" charset="-120"/>
                        </a:rPr>
                        <a:t>SCORE /15</a:t>
                      </a:r>
                      <a:endParaRPr lang="en-US" sz="95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ctr" indent="0" marL="0">
                        <a:buNone/>
                      </a:pPr>
                      <a:r>
                        <a:rPr lang="en-US" sz="950" b="1" dirty="0">
                          <a:solidFill>
                            <a:srgbClr val="1E2BFA"/>
                          </a:solidFill>
                          <a:latin typeface="Arial" pitchFamily="34" charset="0"/>
                          <a:ea typeface="Arial" pitchFamily="34" charset="-122"/>
                          <a:cs typeface="Arial" pitchFamily="34" charset="-120"/>
                        </a:rPr>
                        <a:t>PRIORITÉ</a:t>
                      </a:r>
                      <a:endParaRPr lang="en-US" sz="95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r>
              <a:tr h="310896">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Application mobile clients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5</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5</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13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P1</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310896">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Sauvegarde Cloud</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5</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5</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13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P1</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310896">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Mise en place d'un CRM</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5</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4</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12</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P1</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310896">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Application mobile fournisseurs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5</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5</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2</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12</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P1</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310896">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Refonte de l'application web</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5</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5</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2</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12</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P1</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310896">
                <a:tc>
                  <a:txBody>
                    <a:bodyPr/>
                    <a:lstStyle/>
                    <a:p>
                      <a:pPr algn="ctr" indent="0" marL="0">
                        <a:buNone/>
                      </a:pPr>
                      <a:r>
                        <a:rPr lang="en-US" sz="1050" b="1" dirty="0">
                          <a:solidFill>
                            <a:srgbClr val="111111"/>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D9D9EA"/>
                    </a:solidFill>
                  </a:tcPr>
                </a:tc>
                <a:tc>
                  <a:txBody>
                    <a:bodyPr/>
                    <a:lstStyle/>
                    <a:p>
                      <a:pPr algn="l" indent="0" marL="0">
                        <a:buNone/>
                      </a:pPr>
                      <a:r>
                        <a:rPr lang="en-US" sz="1050" b="1" dirty="0">
                          <a:solidFill>
                            <a:srgbClr val="111111"/>
                          </a:solidFill>
                          <a:latin typeface="Arial" pitchFamily="34" charset="0"/>
                          <a:ea typeface="Arial" pitchFamily="34" charset="-122"/>
                          <a:cs typeface="Arial" pitchFamily="34" charset="-120"/>
                        </a:rPr>
                        <a:t>Authentification forte des utilisateurs internes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D9D9EA"/>
                    </a:solidFill>
                  </a:tcPr>
                </a:tc>
                <a:tc>
                  <a:txBody>
                    <a:bodyPr/>
                    <a:lstStyle/>
                    <a:p>
                      <a:pPr algn="ctr" indent="0" marL="0">
                        <a:buNone/>
                      </a:pPr>
                      <a:r>
                        <a:rPr lang="en-US" sz="1050" b="1" dirty="0">
                          <a:solidFill>
                            <a:srgbClr val="111111"/>
                          </a:solidFill>
                          <a:latin typeface="Arial" pitchFamily="34" charset="0"/>
                          <a:ea typeface="Arial" pitchFamily="34" charset="-122"/>
                          <a:cs typeface="Arial" pitchFamily="34" charset="-120"/>
                        </a:rPr>
                        <a:t>5</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D9D9EA"/>
                    </a:solidFill>
                  </a:tcPr>
                </a:tc>
                <a:tc>
                  <a:txBody>
                    <a:bodyPr/>
                    <a:lstStyle/>
                    <a:p>
                      <a:pPr algn="ctr" indent="0" marL="0">
                        <a:buNone/>
                      </a:pPr>
                      <a:r>
                        <a:rPr lang="en-US" sz="1050" b="1" dirty="0">
                          <a:solidFill>
                            <a:srgbClr val="111111"/>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D9D9EA"/>
                    </a:solidFill>
                  </a:tcPr>
                </a:tc>
                <a:tc>
                  <a:txBody>
                    <a:bodyPr/>
                    <a:lstStyle/>
                    <a:p>
                      <a:pPr algn="ctr" indent="0" marL="0">
                        <a:buNone/>
                      </a:pPr>
                      <a:r>
                        <a:rPr lang="en-US" sz="1050" b="1" dirty="0">
                          <a:solidFill>
                            <a:srgbClr val="111111"/>
                          </a:solidFill>
                          <a:latin typeface="Arial" pitchFamily="34" charset="0"/>
                          <a:ea typeface="Arial" pitchFamily="34" charset="-122"/>
                          <a:cs typeface="Arial" pitchFamily="34" charset="-120"/>
                        </a:rPr>
                        <a:t>4</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D9D9EA"/>
                    </a:solidFill>
                  </a:tcPr>
                </a:tc>
                <a:tc>
                  <a:txBody>
                    <a:bodyPr/>
                    <a:lstStyle/>
                    <a:p>
                      <a:pPr algn="ctr" indent="0" marL="0">
                        <a:buNone/>
                      </a:pPr>
                      <a:r>
                        <a:rPr lang="en-US" sz="1050" b="1" dirty="0">
                          <a:solidFill>
                            <a:srgbClr val="111111"/>
                          </a:solidFill>
                          <a:latin typeface="Arial" pitchFamily="34" charset="0"/>
                          <a:ea typeface="Arial" pitchFamily="34" charset="-122"/>
                          <a:cs typeface="Arial" pitchFamily="34" charset="-120"/>
                        </a:rPr>
                        <a:t>12</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D9D9EA"/>
                    </a:solidFill>
                  </a:tcPr>
                </a:tc>
                <a:tc>
                  <a:txBody>
                    <a:bodyPr/>
                    <a:lstStyle/>
                    <a:p>
                      <a:pPr algn="ctr" indent="0" marL="0">
                        <a:buNone/>
                      </a:pPr>
                      <a:r>
                        <a:rPr lang="en-US" sz="1050" b="1" dirty="0">
                          <a:solidFill>
                            <a:srgbClr val="111111"/>
                          </a:solidFill>
                          <a:latin typeface="Arial" pitchFamily="34" charset="0"/>
                          <a:ea typeface="Arial" pitchFamily="34" charset="-122"/>
                          <a:cs typeface="Arial" pitchFamily="34" charset="-120"/>
                        </a:rPr>
                        <a:t>P1</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D9D9EA"/>
                    </a:solidFill>
                  </a:tcPr>
                </a:tc>
              </a:tr>
              <a:tr h="310896">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7=</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MAJ réglementaire des outils de paie *</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5</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4</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10</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P2</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310896">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7=</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Stockage / gestion des fichiers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4</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10</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P2</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310896">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Mise en place d'Office 365</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4</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2</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P2</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310896">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Plateforme de livraison continue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P2</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310896">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11</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Migration MS Azure des applications métiers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4</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8</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P3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bl>
          </a:graphicData>
        </a:graphic>
      </p:graphicFrame>
      <p:sp>
        <p:nvSpPr>
          <p:cNvPr id="8" name="Text 5"/>
          <p:cNvSpPr/>
          <p:nvPr/>
        </p:nvSpPr>
        <p:spPr>
          <a:xfrm>
            <a:off x="640080" y="5532120"/>
            <a:ext cx="10911535" cy="685800"/>
          </a:xfrm>
          <a:prstGeom prst="rect">
            <a:avLst/>
          </a:prstGeom>
          <a:noFill/>
          <a:ln/>
        </p:spPr>
        <p:txBody>
          <a:bodyPr wrap="square" lIns="0" tIns="0" rIns="0" bIns="0" rtlCol="0" anchor="t"/>
          <a:lstStyle/>
          <a:p>
            <a:pPr algn="l" indent="0" marL="0">
              <a:lnSpc>
                <a:spcPts val="1485"/>
              </a:lnSpc>
              <a:buNone/>
            </a:pPr>
            <a:r>
              <a:rPr lang="en-US" sz="1100" dirty="0">
                <a:solidFill>
                  <a:srgbClr val="6B6B6B"/>
                </a:solidFill>
                <a:latin typeface="Arial" pitchFamily="34" charset="0"/>
                <a:ea typeface="Arial" pitchFamily="34" charset="-122"/>
                <a:cs typeface="Arial" pitchFamily="34" charset="-120"/>
              </a:rPr>
              <a:t>* Projet réglementaire : engagé quel que soit son score. L'authentification forte (juillet) et la sauvegarde Cloud (octobre) ne se chevauchent pas dans le temps. Elle se classe en Priorité 1 (rang 3 sur 11), ce qui confirme la pertinence du projet imposé pour cet exercice.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8290353" y="0"/>
            <a:ext cx="3901342" cy="6858000"/>
          </a:xfrm>
          <a:prstGeom prst="rect">
            <a:avLst/>
          </a:prstGeom>
          <a:solidFill>
            <a:srgbClr val="E9E7E9"/>
          </a:solidFill>
          <a:ln/>
        </p:spPr>
      </p:sp>
      <p:sp>
        <p:nvSpPr>
          <p:cNvPr id="3" name="Shape 1"/>
          <p:cNvSpPr/>
          <p:nvPr/>
        </p:nvSpPr>
        <p:spPr>
          <a:xfrm>
            <a:off x="10271455" y="4663440"/>
            <a:ext cx="64008" cy="64008"/>
          </a:xfrm>
          <a:prstGeom prst="ellipse">
            <a:avLst/>
          </a:prstGeom>
          <a:solidFill>
            <a:srgbClr val="1E2BFA">
              <a:alpha val="30000"/>
            </a:srgbClr>
          </a:solidFill>
          <a:ln/>
        </p:spPr>
      </p:sp>
      <p:sp>
        <p:nvSpPr>
          <p:cNvPr id="4" name="Shape 2"/>
          <p:cNvSpPr/>
          <p:nvPr/>
        </p:nvSpPr>
        <p:spPr>
          <a:xfrm>
            <a:off x="10472623" y="4663440"/>
            <a:ext cx="64008" cy="64008"/>
          </a:xfrm>
          <a:prstGeom prst="ellipse">
            <a:avLst/>
          </a:prstGeom>
          <a:solidFill>
            <a:srgbClr val="1E2BFA">
              <a:alpha val="30000"/>
            </a:srgbClr>
          </a:solidFill>
          <a:ln/>
        </p:spPr>
      </p:sp>
      <p:sp>
        <p:nvSpPr>
          <p:cNvPr id="5" name="Shape 3"/>
          <p:cNvSpPr/>
          <p:nvPr/>
        </p:nvSpPr>
        <p:spPr>
          <a:xfrm>
            <a:off x="10673791" y="4663440"/>
            <a:ext cx="64008" cy="64008"/>
          </a:xfrm>
          <a:prstGeom prst="ellipse">
            <a:avLst/>
          </a:prstGeom>
          <a:solidFill>
            <a:srgbClr val="1E2BFA">
              <a:alpha val="30000"/>
            </a:srgbClr>
          </a:solidFill>
          <a:ln/>
        </p:spPr>
      </p:sp>
      <p:sp>
        <p:nvSpPr>
          <p:cNvPr id="6" name="Shape 4"/>
          <p:cNvSpPr/>
          <p:nvPr/>
        </p:nvSpPr>
        <p:spPr>
          <a:xfrm>
            <a:off x="10271455" y="4864608"/>
            <a:ext cx="64008" cy="64008"/>
          </a:xfrm>
          <a:prstGeom prst="ellipse">
            <a:avLst/>
          </a:prstGeom>
          <a:solidFill>
            <a:srgbClr val="1E2BFA">
              <a:alpha val="30000"/>
            </a:srgbClr>
          </a:solidFill>
          <a:ln/>
        </p:spPr>
      </p:sp>
      <p:sp>
        <p:nvSpPr>
          <p:cNvPr id="7" name="Shape 5"/>
          <p:cNvSpPr/>
          <p:nvPr/>
        </p:nvSpPr>
        <p:spPr>
          <a:xfrm>
            <a:off x="10472623" y="4864608"/>
            <a:ext cx="64008" cy="64008"/>
          </a:xfrm>
          <a:prstGeom prst="ellipse">
            <a:avLst/>
          </a:prstGeom>
          <a:solidFill>
            <a:srgbClr val="1E2BFA">
              <a:alpha val="30000"/>
            </a:srgbClr>
          </a:solidFill>
          <a:ln/>
        </p:spPr>
      </p:sp>
      <p:sp>
        <p:nvSpPr>
          <p:cNvPr id="8" name="Shape 6"/>
          <p:cNvSpPr/>
          <p:nvPr/>
        </p:nvSpPr>
        <p:spPr>
          <a:xfrm>
            <a:off x="10673791" y="4864608"/>
            <a:ext cx="64008" cy="64008"/>
          </a:xfrm>
          <a:prstGeom prst="ellipse">
            <a:avLst/>
          </a:prstGeom>
          <a:solidFill>
            <a:srgbClr val="1E2BFA">
              <a:alpha val="30000"/>
            </a:srgbClr>
          </a:solidFill>
          <a:ln/>
        </p:spPr>
      </p:sp>
      <p:sp>
        <p:nvSpPr>
          <p:cNvPr id="9" name="Shape 7"/>
          <p:cNvSpPr/>
          <p:nvPr/>
        </p:nvSpPr>
        <p:spPr>
          <a:xfrm>
            <a:off x="10271455" y="5065776"/>
            <a:ext cx="64008" cy="64008"/>
          </a:xfrm>
          <a:prstGeom prst="ellipse">
            <a:avLst/>
          </a:prstGeom>
          <a:solidFill>
            <a:srgbClr val="1E2BFA">
              <a:alpha val="30000"/>
            </a:srgbClr>
          </a:solidFill>
          <a:ln/>
        </p:spPr>
      </p:sp>
      <p:sp>
        <p:nvSpPr>
          <p:cNvPr id="10" name="Shape 8"/>
          <p:cNvSpPr/>
          <p:nvPr/>
        </p:nvSpPr>
        <p:spPr>
          <a:xfrm>
            <a:off x="10472623" y="5065776"/>
            <a:ext cx="64008" cy="64008"/>
          </a:xfrm>
          <a:prstGeom prst="ellipse">
            <a:avLst/>
          </a:prstGeom>
          <a:solidFill>
            <a:srgbClr val="1E2BFA">
              <a:alpha val="30000"/>
            </a:srgbClr>
          </a:solidFill>
          <a:ln/>
        </p:spPr>
      </p:sp>
      <p:sp>
        <p:nvSpPr>
          <p:cNvPr id="11" name="Shape 9"/>
          <p:cNvSpPr/>
          <p:nvPr/>
        </p:nvSpPr>
        <p:spPr>
          <a:xfrm>
            <a:off x="10673791" y="5065776"/>
            <a:ext cx="64008" cy="64008"/>
          </a:xfrm>
          <a:prstGeom prst="ellipse">
            <a:avLst/>
          </a:prstGeom>
          <a:solidFill>
            <a:srgbClr val="1E2BFA">
              <a:alpha val="30000"/>
            </a:srgbClr>
          </a:solidFill>
          <a:ln/>
        </p:spPr>
      </p:sp>
      <p:sp>
        <p:nvSpPr>
          <p:cNvPr id="12" name="Text 10"/>
          <p:cNvSpPr/>
          <p:nvPr/>
        </p:nvSpPr>
        <p:spPr>
          <a:xfrm>
            <a:off x="640080" y="2468880"/>
            <a:ext cx="7315200" cy="365760"/>
          </a:xfrm>
          <a:prstGeom prst="rect">
            <a:avLst/>
          </a:prstGeom>
          <a:noFill/>
          <a:ln/>
        </p:spPr>
        <p:txBody>
          <a:bodyPr wrap="square" lIns="0" tIns="0" rIns="0" bIns="0" rtlCol="0" anchor="ctr"/>
          <a:lstStyle/>
          <a:p>
            <a:pPr indent="0" marL="0">
              <a:buNone/>
            </a:pPr>
            <a:r>
              <a:rPr lang="en-US" sz="1300" b="1" spc="100" kern="0" dirty="0">
                <a:solidFill>
                  <a:srgbClr val="1E2BFA"/>
                </a:solidFill>
                <a:latin typeface="Arial" pitchFamily="34" charset="0"/>
                <a:ea typeface="Arial" pitchFamily="34" charset="-122"/>
                <a:cs typeface="Arial" pitchFamily="34" charset="-120"/>
              </a:rPr>
              <a:t>PARTIE 2 · 02</a:t>
            </a:r>
            <a:endParaRPr lang="en-US" sz="1300" dirty="0"/>
          </a:p>
        </p:txBody>
      </p:sp>
      <p:sp>
        <p:nvSpPr>
          <p:cNvPr id="13" name="Text 11"/>
          <p:cNvSpPr/>
          <p:nvPr/>
        </p:nvSpPr>
        <p:spPr>
          <a:xfrm>
            <a:off x="640080" y="2926080"/>
            <a:ext cx="7498080" cy="1737360"/>
          </a:xfrm>
          <a:prstGeom prst="rect">
            <a:avLst/>
          </a:prstGeom>
          <a:noFill/>
          <a:ln/>
        </p:spPr>
        <p:txBody>
          <a:bodyPr wrap="square" lIns="0" tIns="0" rIns="0" bIns="0" rtlCol="0" anchor="ctr"/>
          <a:lstStyle/>
          <a:p>
            <a:pPr indent="0" marL="0">
              <a:lnSpc>
                <a:spcPts val="3800"/>
              </a:lnSpc>
              <a:buNone/>
            </a:pPr>
            <a:r>
              <a:rPr lang="en-US" sz="3400" b="1" dirty="0">
                <a:solidFill>
                  <a:srgbClr val="111111"/>
                </a:solidFill>
                <a:latin typeface="Arial" pitchFamily="34" charset="0"/>
                <a:ea typeface="Arial" pitchFamily="34" charset="-122"/>
                <a:cs typeface="Arial" pitchFamily="34" charset="-120"/>
              </a:rPr>
              <a:t>Superviser et conduire le projet sélectionné</a:t>
            </a:r>
            <a:endParaRPr lang="en-US" sz="3400" dirty="0"/>
          </a:p>
        </p:txBody>
      </p:sp>
      <p:sp>
        <p:nvSpPr>
          <p:cNvPr id="14" name="Text 12"/>
          <p:cNvSpPr/>
          <p:nvPr/>
        </p:nvSpPr>
        <p:spPr>
          <a:xfrm>
            <a:off x="640080" y="4617720"/>
            <a:ext cx="6858000" cy="914400"/>
          </a:xfrm>
          <a:prstGeom prst="rect">
            <a:avLst/>
          </a:prstGeom>
          <a:noFill/>
          <a:ln/>
        </p:spPr>
        <p:txBody>
          <a:bodyPr wrap="square" lIns="0" tIns="0" rIns="0" bIns="0" rtlCol="0" anchor="ctr"/>
          <a:lstStyle/>
          <a:p>
            <a:pPr indent="0" marL="0">
              <a:lnSpc>
                <a:spcPts val="2000"/>
              </a:lnSpc>
              <a:buNone/>
            </a:pPr>
            <a:r>
              <a:rPr lang="en-US" sz="1500" dirty="0">
                <a:solidFill>
                  <a:srgbClr val="6B6B6B"/>
                </a:solidFill>
                <a:latin typeface="Arial" pitchFamily="34" charset="0"/>
                <a:ea typeface="Arial" pitchFamily="34" charset="-122"/>
                <a:cs typeface="Arial" pitchFamily="34" charset="-120"/>
              </a:rPr>
              <a:t>Authentification forte des utilisateurs internes — de la charte de projet au tableau de bord de suivi.</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457200"/>
            <a:ext cx="8424367" cy="320040"/>
          </a:xfrm>
          <a:prstGeom prst="rect">
            <a:avLst/>
          </a:prstGeom>
          <a:noFill/>
          <a:ln/>
        </p:spPr>
        <p:txBody>
          <a:bodyPr wrap="square" lIns="0" tIns="0" rIns="0" bIns="0" rtlCol="0" anchor="t"/>
          <a:lstStyle/>
          <a:p>
            <a:pPr algn="l" indent="0" marL="0">
              <a:buNone/>
            </a:pPr>
            <a:r>
              <a:rPr lang="en-US" sz="1200" b="1" spc="100" kern="0" dirty="0">
                <a:solidFill>
                  <a:srgbClr val="1E2BFA"/>
                </a:solidFill>
                <a:latin typeface="Arial" pitchFamily="34" charset="0"/>
                <a:ea typeface="Arial" pitchFamily="34" charset="-122"/>
                <a:cs typeface="Arial" pitchFamily="34" charset="-120"/>
              </a:rPr>
              <a:t>PARTIE 2 · PRÉSENTATION</a:t>
            </a:r>
            <a:endParaRPr lang="en-US" sz="1200" dirty="0"/>
          </a:p>
        </p:txBody>
      </p:sp>
      <p:sp>
        <p:nvSpPr>
          <p:cNvPr id="3" name="Shape 1"/>
          <p:cNvSpPr/>
          <p:nvPr/>
        </p:nvSpPr>
        <p:spPr>
          <a:xfrm>
            <a:off x="9338767" y="420624"/>
            <a:ext cx="2212848" cy="329184"/>
          </a:xfrm>
          <a:prstGeom prst="roundRect">
            <a:avLst>
              <a:gd name="adj" fmla="val 50000"/>
            </a:avLst>
          </a:prstGeom>
          <a:solidFill>
            <a:srgbClr val="E9E7E9"/>
          </a:solidFill>
          <a:ln/>
        </p:spPr>
      </p:sp>
      <p:sp>
        <p:nvSpPr>
          <p:cNvPr id="4" name="Text 2"/>
          <p:cNvSpPr/>
          <p:nvPr/>
        </p:nvSpPr>
        <p:spPr>
          <a:xfrm>
            <a:off x="9338767" y="420624"/>
            <a:ext cx="2212848" cy="329184"/>
          </a:xfrm>
          <a:prstGeom prst="rect">
            <a:avLst/>
          </a:prstGeom>
          <a:noFill/>
          <a:ln/>
        </p:spPr>
        <p:txBody>
          <a:bodyPr wrap="square" lIns="0" tIns="0" rIns="0" bIns="0" rtlCol="0" anchor="ctr"/>
          <a:lstStyle/>
          <a:p>
            <a:pPr algn="ctr" indent="0" marL="0">
              <a:buNone/>
            </a:pPr>
            <a:r>
              <a:rPr lang="en-US" sz="1050" b="1" dirty="0">
                <a:solidFill>
                  <a:srgbClr val="1E2BFA"/>
                </a:solidFill>
                <a:latin typeface="Arial" pitchFamily="34" charset="0"/>
                <a:ea typeface="Arial" pitchFamily="34" charset="-122"/>
                <a:cs typeface="Arial" pitchFamily="34" charset="-120"/>
              </a:rPr>
              <a:t>Fiche projet</a:t>
            </a:r>
            <a:endParaRPr lang="en-US" sz="1050" dirty="0"/>
          </a:p>
        </p:txBody>
      </p:sp>
      <p:sp>
        <p:nvSpPr>
          <p:cNvPr id="5" name="Text 3"/>
          <p:cNvSpPr/>
          <p:nvPr/>
        </p:nvSpPr>
        <p:spPr>
          <a:xfrm>
            <a:off x="640080" y="868680"/>
            <a:ext cx="10911535" cy="548640"/>
          </a:xfrm>
          <a:prstGeom prst="rect">
            <a:avLst/>
          </a:prstGeom>
          <a:noFill/>
          <a:ln/>
        </p:spPr>
        <p:txBody>
          <a:bodyPr wrap="square" lIns="0" tIns="0" rIns="0" bIns="0" rtlCol="0" anchor="t"/>
          <a:lstStyle/>
          <a:p>
            <a:pPr algn="l" indent="0" marL="0">
              <a:lnSpc>
                <a:spcPts val="2700"/>
              </a:lnSpc>
              <a:buNone/>
            </a:pPr>
            <a:r>
              <a:rPr lang="en-US" sz="2500" b="1" dirty="0">
                <a:solidFill>
                  <a:srgbClr val="111111"/>
                </a:solidFill>
                <a:latin typeface="Arial" pitchFamily="34" charset="0"/>
                <a:ea typeface="Arial" pitchFamily="34" charset="-122"/>
                <a:cs typeface="Arial" pitchFamily="34" charset="-120"/>
              </a:rPr>
              <a:t>Authentification forte des utilisateurs internes</a:t>
            </a:r>
            <a:endParaRPr lang="en-US" sz="2500" dirty="0"/>
          </a:p>
        </p:txBody>
      </p:sp>
      <p:sp>
        <p:nvSpPr>
          <p:cNvPr id="6" name="Text 4"/>
          <p:cNvSpPr/>
          <p:nvPr/>
        </p:nvSpPr>
        <p:spPr>
          <a:xfrm>
            <a:off x="640080" y="1691640"/>
            <a:ext cx="10911535" cy="777240"/>
          </a:xfrm>
          <a:prstGeom prst="rect">
            <a:avLst/>
          </a:prstGeom>
          <a:noFill/>
          <a:ln/>
        </p:spPr>
        <p:txBody>
          <a:bodyPr wrap="square" lIns="0" tIns="0" rIns="0" bIns="0" rtlCol="0" anchor="t"/>
          <a:lstStyle/>
          <a:p>
            <a:pPr algn="l" indent="0" marL="0">
              <a:lnSpc>
                <a:spcPts val="1823"/>
              </a:lnSpc>
              <a:buNone/>
            </a:pPr>
            <a:r>
              <a:rPr lang="en-US" sz="1350" dirty="0">
                <a:solidFill>
                  <a:srgbClr val="6B6B6B"/>
                </a:solidFill>
                <a:latin typeface="Arial" pitchFamily="34" charset="0"/>
                <a:ea typeface="Arial" pitchFamily="34" charset="-122"/>
                <a:cs typeface="Arial" pitchFamily="34" charset="-120"/>
              </a:rPr>
              <a:t>Intégrer une solution d'authentification multi-facteurs (MFA) pour renforcer la sécurité des accès aux applications internes et tierces de Time'Eats, et protéger les données sensibles. Le projet concerne l'ensemble des collaborateurs, tous sites confondus.</a:t>
            </a:r>
            <a:endParaRPr lang="en-US" sz="1350" dirty="0"/>
          </a:p>
        </p:txBody>
      </p:sp>
      <p:sp>
        <p:nvSpPr>
          <p:cNvPr id="7" name="Shape 5"/>
          <p:cNvSpPr/>
          <p:nvPr/>
        </p:nvSpPr>
        <p:spPr>
          <a:xfrm>
            <a:off x="640080" y="2606040"/>
            <a:ext cx="2522144" cy="1417320"/>
          </a:xfrm>
          <a:prstGeom prst="roundRect">
            <a:avLst>
              <a:gd name="adj" fmla="val 6452"/>
            </a:avLst>
          </a:prstGeom>
          <a:solidFill>
            <a:srgbClr val="F2F0E8"/>
          </a:solidFill>
          <a:ln w="15875">
            <a:solidFill>
              <a:srgbClr val="CCCCEB"/>
            </a:solidFill>
            <a:prstDash val="solid"/>
          </a:ln>
        </p:spPr>
      </p:sp>
      <p:sp>
        <p:nvSpPr>
          <p:cNvPr id="8" name="Text 6"/>
          <p:cNvSpPr/>
          <p:nvPr/>
        </p:nvSpPr>
        <p:spPr>
          <a:xfrm>
            <a:off x="841248" y="2752344"/>
            <a:ext cx="2119808" cy="457200"/>
          </a:xfrm>
          <a:prstGeom prst="rect">
            <a:avLst/>
          </a:prstGeom>
          <a:noFill/>
          <a:ln/>
        </p:spPr>
        <p:txBody>
          <a:bodyPr wrap="square" lIns="0" tIns="0" rIns="0" bIns="0" rtlCol="0" anchor="t"/>
          <a:lstStyle/>
          <a:p>
            <a:pPr indent="0" marL="0">
              <a:buNone/>
            </a:pPr>
            <a:r>
              <a:rPr lang="en-US" sz="2600" b="1" dirty="0">
                <a:solidFill>
                  <a:srgbClr val="1E2BFA"/>
                </a:solidFill>
                <a:latin typeface="Arial" pitchFamily="34" charset="0"/>
                <a:ea typeface="Arial" pitchFamily="34" charset="-122"/>
                <a:cs typeface="Arial" pitchFamily="34" charset="-120"/>
              </a:rPr>
              <a:t>150 k€</a:t>
            </a:r>
            <a:endParaRPr lang="en-US" sz="2600" dirty="0"/>
          </a:p>
        </p:txBody>
      </p:sp>
      <p:sp>
        <p:nvSpPr>
          <p:cNvPr id="9" name="Text 7"/>
          <p:cNvSpPr/>
          <p:nvPr/>
        </p:nvSpPr>
        <p:spPr>
          <a:xfrm>
            <a:off x="841248" y="3282696"/>
            <a:ext cx="2119808" cy="594360"/>
          </a:xfrm>
          <a:prstGeom prst="rect">
            <a:avLst/>
          </a:prstGeom>
          <a:noFill/>
          <a:ln/>
        </p:spPr>
        <p:txBody>
          <a:bodyPr wrap="square" lIns="0" tIns="0" rIns="0" bIns="0" rtlCol="0" anchor="t"/>
          <a:lstStyle/>
          <a:p>
            <a:pPr indent="0" marL="0">
              <a:lnSpc>
                <a:spcPts val="1500"/>
              </a:lnSpc>
              <a:buNone/>
            </a:pPr>
            <a:r>
              <a:rPr lang="en-US" sz="1250" b="1" dirty="0">
                <a:solidFill>
                  <a:srgbClr val="111111"/>
                </a:solidFill>
                <a:latin typeface="Arial" pitchFamily="34" charset="0"/>
                <a:ea typeface="Arial" pitchFamily="34" charset="-122"/>
                <a:cs typeface="Arial" pitchFamily="34" charset="-120"/>
              </a:rPr>
              <a:t>Budget prévisionnel</a:t>
            </a:r>
            <a:endParaRPr lang="en-US" sz="1250" dirty="0"/>
          </a:p>
        </p:txBody>
      </p:sp>
      <p:sp>
        <p:nvSpPr>
          <p:cNvPr id="10" name="Shape 8"/>
          <p:cNvSpPr/>
          <p:nvPr/>
        </p:nvSpPr>
        <p:spPr>
          <a:xfrm>
            <a:off x="3436544" y="2606040"/>
            <a:ext cx="2522144" cy="1417320"/>
          </a:xfrm>
          <a:prstGeom prst="roundRect">
            <a:avLst>
              <a:gd name="adj" fmla="val 6452"/>
            </a:avLst>
          </a:prstGeom>
          <a:solidFill>
            <a:srgbClr val="F2F0E8"/>
          </a:solidFill>
          <a:ln w="15875">
            <a:solidFill>
              <a:srgbClr val="CCCCEB"/>
            </a:solidFill>
            <a:prstDash val="solid"/>
          </a:ln>
        </p:spPr>
      </p:sp>
      <p:sp>
        <p:nvSpPr>
          <p:cNvPr id="11" name="Text 9"/>
          <p:cNvSpPr/>
          <p:nvPr/>
        </p:nvSpPr>
        <p:spPr>
          <a:xfrm>
            <a:off x="3637712" y="2752344"/>
            <a:ext cx="2119808" cy="457200"/>
          </a:xfrm>
          <a:prstGeom prst="rect">
            <a:avLst/>
          </a:prstGeom>
          <a:noFill/>
          <a:ln/>
        </p:spPr>
        <p:txBody>
          <a:bodyPr wrap="square" lIns="0" tIns="0" rIns="0" bIns="0" rtlCol="0" anchor="t"/>
          <a:lstStyle/>
          <a:p>
            <a:pPr indent="0" marL="0">
              <a:buNone/>
            </a:pPr>
            <a:r>
              <a:rPr lang="en-US" sz="2600" b="1" dirty="0">
                <a:solidFill>
                  <a:srgbClr val="1E2BFA"/>
                </a:solidFill>
                <a:latin typeface="Arial" pitchFamily="34" charset="0"/>
                <a:ea typeface="Arial" pitchFamily="34" charset="-122"/>
                <a:cs typeface="Arial" pitchFamily="34" charset="-120"/>
              </a:rPr>
              <a:t>4 mois</a:t>
            </a:r>
            <a:endParaRPr lang="en-US" sz="2600" dirty="0"/>
          </a:p>
        </p:txBody>
      </p:sp>
      <p:sp>
        <p:nvSpPr>
          <p:cNvPr id="12" name="Text 10"/>
          <p:cNvSpPr/>
          <p:nvPr/>
        </p:nvSpPr>
        <p:spPr>
          <a:xfrm>
            <a:off x="3637712" y="3282696"/>
            <a:ext cx="2119808" cy="594360"/>
          </a:xfrm>
          <a:prstGeom prst="rect">
            <a:avLst/>
          </a:prstGeom>
          <a:noFill/>
          <a:ln/>
        </p:spPr>
        <p:txBody>
          <a:bodyPr wrap="square" lIns="0" tIns="0" rIns="0" bIns="0" rtlCol="0" anchor="t"/>
          <a:lstStyle/>
          <a:p>
            <a:pPr indent="0" marL="0">
              <a:lnSpc>
                <a:spcPts val="1500"/>
              </a:lnSpc>
              <a:buNone/>
            </a:pPr>
            <a:r>
              <a:rPr lang="en-US" sz="1250" b="1" dirty="0">
                <a:solidFill>
                  <a:srgbClr val="111111"/>
                </a:solidFill>
                <a:latin typeface="Arial" pitchFamily="34" charset="0"/>
                <a:ea typeface="Arial" pitchFamily="34" charset="-122"/>
                <a:cs typeface="Arial" pitchFamily="34" charset="-120"/>
              </a:rPr>
              <a:t>Juillet → Octobre N</a:t>
            </a:r>
            <a:endParaRPr lang="en-US" sz="1250" dirty="0"/>
          </a:p>
        </p:txBody>
      </p:sp>
      <p:sp>
        <p:nvSpPr>
          <p:cNvPr id="13" name="Shape 11"/>
          <p:cNvSpPr/>
          <p:nvPr/>
        </p:nvSpPr>
        <p:spPr>
          <a:xfrm>
            <a:off x="6233008" y="2606040"/>
            <a:ext cx="2522144" cy="1417320"/>
          </a:xfrm>
          <a:prstGeom prst="roundRect">
            <a:avLst>
              <a:gd name="adj" fmla="val 6452"/>
            </a:avLst>
          </a:prstGeom>
          <a:solidFill>
            <a:srgbClr val="F2F0E8"/>
          </a:solidFill>
          <a:ln w="15875">
            <a:solidFill>
              <a:srgbClr val="CCCCEB"/>
            </a:solidFill>
            <a:prstDash val="solid"/>
          </a:ln>
        </p:spPr>
      </p:sp>
      <p:sp>
        <p:nvSpPr>
          <p:cNvPr id="14" name="Text 12"/>
          <p:cNvSpPr/>
          <p:nvPr/>
        </p:nvSpPr>
        <p:spPr>
          <a:xfrm>
            <a:off x="6434176" y="2752344"/>
            <a:ext cx="2119808" cy="457200"/>
          </a:xfrm>
          <a:prstGeom prst="rect">
            <a:avLst/>
          </a:prstGeom>
          <a:noFill/>
          <a:ln/>
        </p:spPr>
        <p:txBody>
          <a:bodyPr wrap="square" lIns="0" tIns="0" rIns="0" bIns="0" rtlCol="0" anchor="t"/>
          <a:lstStyle/>
          <a:p>
            <a:pPr indent="0" marL="0">
              <a:buNone/>
            </a:pPr>
            <a:r>
              <a:rPr lang="en-US" sz="2600" b="1" dirty="0">
                <a:solidFill>
                  <a:srgbClr val="1E2BFA"/>
                </a:solidFill>
                <a:latin typeface="Arial" pitchFamily="34" charset="0"/>
                <a:ea typeface="Arial" pitchFamily="34" charset="-122"/>
                <a:cs typeface="Arial" pitchFamily="34" charset="-120"/>
              </a:rPr>
              <a:t>120 j/h</a:t>
            </a:r>
            <a:endParaRPr lang="en-US" sz="2600" dirty="0"/>
          </a:p>
        </p:txBody>
      </p:sp>
      <p:sp>
        <p:nvSpPr>
          <p:cNvPr id="15" name="Text 13"/>
          <p:cNvSpPr/>
          <p:nvPr/>
        </p:nvSpPr>
        <p:spPr>
          <a:xfrm>
            <a:off x="6434176" y="3282696"/>
            <a:ext cx="2119808" cy="594360"/>
          </a:xfrm>
          <a:prstGeom prst="rect">
            <a:avLst/>
          </a:prstGeom>
          <a:noFill/>
          <a:ln/>
        </p:spPr>
        <p:txBody>
          <a:bodyPr wrap="square" lIns="0" tIns="0" rIns="0" bIns="0" rtlCol="0" anchor="t"/>
          <a:lstStyle/>
          <a:p>
            <a:pPr indent="0" marL="0">
              <a:lnSpc>
                <a:spcPts val="1500"/>
              </a:lnSpc>
              <a:buNone/>
            </a:pPr>
            <a:r>
              <a:rPr lang="en-US" sz="1250" b="1" dirty="0">
                <a:solidFill>
                  <a:srgbClr val="111111"/>
                </a:solidFill>
                <a:latin typeface="Arial" pitchFamily="34" charset="0"/>
                <a:ea typeface="Arial" pitchFamily="34" charset="-122"/>
                <a:cs typeface="Arial" pitchFamily="34" charset="-120"/>
              </a:rPr>
              <a:t>Charge de travail estimée</a:t>
            </a:r>
            <a:endParaRPr lang="en-US" sz="1250" dirty="0"/>
          </a:p>
        </p:txBody>
      </p:sp>
      <p:sp>
        <p:nvSpPr>
          <p:cNvPr id="16" name="Shape 14"/>
          <p:cNvSpPr/>
          <p:nvPr/>
        </p:nvSpPr>
        <p:spPr>
          <a:xfrm>
            <a:off x="9029471" y="2606040"/>
            <a:ext cx="2522144" cy="1417320"/>
          </a:xfrm>
          <a:prstGeom prst="roundRect">
            <a:avLst>
              <a:gd name="adj" fmla="val 6452"/>
            </a:avLst>
          </a:prstGeom>
          <a:solidFill>
            <a:srgbClr val="F2F0E8"/>
          </a:solidFill>
          <a:ln w="15875">
            <a:solidFill>
              <a:srgbClr val="CCCCEB"/>
            </a:solidFill>
            <a:prstDash val="solid"/>
          </a:ln>
        </p:spPr>
      </p:sp>
      <p:sp>
        <p:nvSpPr>
          <p:cNvPr id="17" name="Text 15"/>
          <p:cNvSpPr/>
          <p:nvPr/>
        </p:nvSpPr>
        <p:spPr>
          <a:xfrm>
            <a:off x="9230639" y="2752344"/>
            <a:ext cx="2119808" cy="457200"/>
          </a:xfrm>
          <a:prstGeom prst="rect">
            <a:avLst/>
          </a:prstGeom>
          <a:noFill/>
          <a:ln/>
        </p:spPr>
        <p:txBody>
          <a:bodyPr wrap="square" lIns="0" tIns="0" rIns="0" bIns="0" rtlCol="0" anchor="t"/>
          <a:lstStyle/>
          <a:p>
            <a:pPr indent="0" marL="0">
              <a:buNone/>
            </a:pPr>
            <a:r>
              <a:rPr lang="en-US" sz="2600" b="1" dirty="0">
                <a:solidFill>
                  <a:srgbClr val="1E2BFA"/>
                </a:solidFill>
                <a:latin typeface="Arial" pitchFamily="34" charset="0"/>
                <a:ea typeface="Arial" pitchFamily="34" charset="-122"/>
                <a:cs typeface="Arial" pitchFamily="34" charset="-120"/>
              </a:rPr>
              <a:t>12/15 — P1</a:t>
            </a:r>
            <a:endParaRPr lang="en-US" sz="2600" dirty="0"/>
          </a:p>
        </p:txBody>
      </p:sp>
      <p:sp>
        <p:nvSpPr>
          <p:cNvPr id="18" name="Text 16"/>
          <p:cNvSpPr/>
          <p:nvPr/>
        </p:nvSpPr>
        <p:spPr>
          <a:xfrm>
            <a:off x="9230639" y="3282696"/>
            <a:ext cx="2119808" cy="594360"/>
          </a:xfrm>
          <a:prstGeom prst="rect">
            <a:avLst/>
          </a:prstGeom>
          <a:noFill/>
          <a:ln/>
        </p:spPr>
        <p:txBody>
          <a:bodyPr wrap="square" lIns="0" tIns="0" rIns="0" bIns="0" rtlCol="0" anchor="t"/>
          <a:lstStyle/>
          <a:p>
            <a:pPr indent="0" marL="0">
              <a:lnSpc>
                <a:spcPts val="1500"/>
              </a:lnSpc>
              <a:buNone/>
            </a:pPr>
            <a:r>
              <a:rPr lang="en-US" sz="1250" b="1" dirty="0">
                <a:solidFill>
                  <a:srgbClr val="111111"/>
                </a:solidFill>
                <a:latin typeface="Arial" pitchFamily="34" charset="0"/>
                <a:ea typeface="Arial" pitchFamily="34" charset="-122"/>
                <a:cs typeface="Arial" pitchFamily="34" charset="-120"/>
              </a:rPr>
              <a:t>Score et priorité (rang 3/11)</a:t>
            </a:r>
            <a:endParaRPr lang="en-US" sz="1250" dirty="0"/>
          </a:p>
        </p:txBody>
      </p:sp>
      <p:sp>
        <p:nvSpPr>
          <p:cNvPr id="19" name="Text 17"/>
          <p:cNvSpPr/>
          <p:nvPr/>
        </p:nvSpPr>
        <p:spPr>
          <a:xfrm>
            <a:off x="640080" y="4343400"/>
            <a:ext cx="10911535" cy="274320"/>
          </a:xfrm>
          <a:prstGeom prst="rect">
            <a:avLst/>
          </a:prstGeom>
          <a:noFill/>
          <a:ln/>
        </p:spPr>
        <p:txBody>
          <a:bodyPr wrap="square" lIns="0" tIns="0" rIns="0" bIns="0" rtlCol="0" anchor="ctr"/>
          <a:lstStyle/>
          <a:p>
            <a:pPr indent="0" marL="0">
              <a:buNone/>
            </a:pPr>
            <a:r>
              <a:rPr lang="en-US" sz="1150" b="1" dirty="0">
                <a:solidFill>
                  <a:srgbClr val="1E2BFA"/>
                </a:solidFill>
                <a:latin typeface="Arial" pitchFamily="34" charset="0"/>
                <a:ea typeface="Arial" pitchFamily="34" charset="-122"/>
                <a:cs typeface="Arial" pitchFamily="34" charset="-120"/>
              </a:rPr>
              <a:t>POURQUOI CE PROJET A ÉTÉ RETENU</a:t>
            </a:r>
            <a:endParaRPr lang="en-US" sz="1150" dirty="0"/>
          </a:p>
        </p:txBody>
      </p:sp>
      <p:sp>
        <p:nvSpPr>
          <p:cNvPr id="20" name="Text 18"/>
          <p:cNvSpPr/>
          <p:nvPr/>
        </p:nvSpPr>
        <p:spPr>
          <a:xfrm>
            <a:off x="640080" y="4663440"/>
            <a:ext cx="10911535" cy="1188720"/>
          </a:xfrm>
          <a:prstGeom prst="rect">
            <a:avLst/>
          </a:prstGeom>
          <a:noFill/>
          <a:ln/>
        </p:spPr>
        <p:txBody>
          <a:bodyPr wrap="square" lIns="0" tIns="0" rIns="0" bIns="0" rtlCol="0" anchor="t"/>
          <a:lstStyle/>
          <a:p>
            <a:pPr algn="l" indent="0" marL="0">
              <a:lnSpc>
                <a:spcPts val="1823"/>
              </a:lnSpc>
              <a:buNone/>
            </a:pPr>
            <a:r>
              <a:rPr lang="en-US" sz="1350" dirty="0">
                <a:solidFill>
                  <a:srgbClr val="6B6B6B"/>
                </a:solidFill>
                <a:latin typeface="Arial" pitchFamily="34" charset="0"/>
                <a:ea typeface="Arial" pitchFamily="34" charset="-122"/>
                <a:cs typeface="Arial" pitchFamily="34" charset="-120"/>
              </a:rPr>
              <a:t>Le sujet impose ce projet à tous les groupes pour cet exercice — mais il se classe aussi en Priorité 1 du portefeuille (Partie 1.3), avec un profil proche du CRM. Sécuriser les accès est une base à poser avant la montée en puissance du CRM et des applications mobiles.</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457200"/>
            <a:ext cx="8424367" cy="320040"/>
          </a:xfrm>
          <a:prstGeom prst="rect">
            <a:avLst/>
          </a:prstGeom>
          <a:noFill/>
          <a:ln/>
        </p:spPr>
        <p:txBody>
          <a:bodyPr wrap="square" lIns="0" tIns="0" rIns="0" bIns="0" rtlCol="0" anchor="t"/>
          <a:lstStyle/>
          <a:p>
            <a:pPr algn="l" indent="0" marL="0">
              <a:buNone/>
            </a:pPr>
            <a:r>
              <a:rPr lang="en-US" sz="1200" b="1" spc="100" kern="0" dirty="0">
                <a:solidFill>
                  <a:srgbClr val="1E2BFA"/>
                </a:solidFill>
                <a:latin typeface="Arial" pitchFamily="34" charset="0"/>
                <a:ea typeface="Arial" pitchFamily="34" charset="-122"/>
                <a:cs typeface="Arial" pitchFamily="34" charset="-120"/>
              </a:rPr>
              <a:t>PARTIE 2 · 2.1 PLAN DE MANAGEMENT (1/3)</a:t>
            </a:r>
            <a:endParaRPr lang="en-US" sz="1200" dirty="0"/>
          </a:p>
        </p:txBody>
      </p:sp>
      <p:sp>
        <p:nvSpPr>
          <p:cNvPr id="3" name="Shape 1"/>
          <p:cNvSpPr/>
          <p:nvPr/>
        </p:nvSpPr>
        <p:spPr>
          <a:xfrm>
            <a:off x="9338767" y="420624"/>
            <a:ext cx="2212848" cy="329184"/>
          </a:xfrm>
          <a:prstGeom prst="roundRect">
            <a:avLst>
              <a:gd name="adj" fmla="val 50000"/>
            </a:avLst>
          </a:prstGeom>
          <a:solidFill>
            <a:srgbClr val="E9E7E9"/>
          </a:solidFill>
          <a:ln/>
        </p:spPr>
      </p:sp>
      <p:sp>
        <p:nvSpPr>
          <p:cNvPr id="4" name="Text 2"/>
          <p:cNvSpPr/>
          <p:nvPr/>
        </p:nvSpPr>
        <p:spPr>
          <a:xfrm>
            <a:off x="9338767" y="420624"/>
            <a:ext cx="2212848" cy="329184"/>
          </a:xfrm>
          <a:prstGeom prst="rect">
            <a:avLst/>
          </a:prstGeom>
          <a:noFill/>
          <a:ln/>
        </p:spPr>
        <p:txBody>
          <a:bodyPr wrap="square" lIns="0" tIns="0" rIns="0" bIns="0" rtlCol="0" anchor="ctr"/>
          <a:lstStyle/>
          <a:p>
            <a:pPr algn="ctr" indent="0" marL="0">
              <a:buNone/>
            </a:pPr>
            <a:r>
              <a:rPr lang="en-US" sz="1050" b="1" dirty="0">
                <a:solidFill>
                  <a:srgbClr val="1E2BFA"/>
                </a:solidFill>
                <a:latin typeface="Arial" pitchFamily="34" charset="0"/>
                <a:ea typeface="Arial" pitchFamily="34" charset="-122"/>
                <a:cs typeface="Arial" pitchFamily="34" charset="-120"/>
              </a:rPr>
              <a:t>Charte &amp; CDC</a:t>
            </a:r>
            <a:endParaRPr lang="en-US" sz="1050" dirty="0"/>
          </a:p>
        </p:txBody>
      </p:sp>
      <p:sp>
        <p:nvSpPr>
          <p:cNvPr id="5" name="Text 3"/>
          <p:cNvSpPr/>
          <p:nvPr/>
        </p:nvSpPr>
        <p:spPr>
          <a:xfrm>
            <a:off x="640080" y="868680"/>
            <a:ext cx="10911535" cy="502920"/>
          </a:xfrm>
          <a:prstGeom prst="rect">
            <a:avLst/>
          </a:prstGeom>
          <a:noFill/>
          <a:ln/>
        </p:spPr>
        <p:txBody>
          <a:bodyPr wrap="square" lIns="0" tIns="0" rIns="0" bIns="0" rtlCol="0" anchor="t"/>
          <a:lstStyle/>
          <a:p>
            <a:pPr algn="l" indent="0" marL="0">
              <a:lnSpc>
                <a:spcPts val="2592"/>
              </a:lnSpc>
              <a:buNone/>
            </a:pPr>
            <a:r>
              <a:rPr lang="en-US" sz="2400" b="1" dirty="0">
                <a:solidFill>
                  <a:srgbClr val="111111"/>
                </a:solidFill>
                <a:latin typeface="Arial" pitchFamily="34" charset="0"/>
                <a:ea typeface="Arial" pitchFamily="34" charset="-122"/>
                <a:cs typeface="Arial" pitchFamily="34" charset="-120"/>
              </a:rPr>
              <a:t>Charte de projet et cahier des charges</a:t>
            </a:r>
            <a:endParaRPr lang="en-US" sz="2400" dirty="0"/>
          </a:p>
        </p:txBody>
      </p:sp>
      <p:sp>
        <p:nvSpPr>
          <p:cNvPr id="6" name="Text 4"/>
          <p:cNvSpPr/>
          <p:nvPr/>
        </p:nvSpPr>
        <p:spPr>
          <a:xfrm>
            <a:off x="640080" y="1600200"/>
            <a:ext cx="10911535" cy="411480"/>
          </a:xfrm>
          <a:prstGeom prst="rect">
            <a:avLst/>
          </a:prstGeom>
          <a:noFill/>
          <a:ln/>
        </p:spPr>
        <p:txBody>
          <a:bodyPr wrap="square" lIns="0" tIns="0" rIns="0" bIns="0" rtlCol="0" anchor="ctr"/>
          <a:lstStyle/>
          <a:p>
            <a:pPr indent="0" marL="0">
              <a:lnSpc>
                <a:spcPts val="1600"/>
              </a:lnSpc>
              <a:buNone/>
            </a:pPr>
            <a:r>
              <a:rPr lang="en-US" sz="1200" i="1" dirty="0">
                <a:solidFill>
                  <a:srgbClr val="6B6B6B"/>
                </a:solidFill>
                <a:latin typeface="Arial" pitchFamily="34" charset="0"/>
                <a:ea typeface="Arial" pitchFamily="34" charset="-122"/>
                <a:cs typeface="Arial" pitchFamily="34" charset="-120"/>
              </a:rPr>
              <a:t>Les consignes excluent un plan de management complet pour ce projet : nous détaillons l'intérêt de chaque rubrique, sans détailler chaque champ.</a:t>
            </a:r>
            <a:endParaRPr lang="en-US" sz="1200" dirty="0"/>
          </a:p>
        </p:txBody>
      </p:sp>
      <p:sp>
        <p:nvSpPr>
          <p:cNvPr id="7" name="Shape 5"/>
          <p:cNvSpPr/>
          <p:nvPr/>
        </p:nvSpPr>
        <p:spPr>
          <a:xfrm>
            <a:off x="640080" y="2148840"/>
            <a:ext cx="5272888" cy="3794760"/>
          </a:xfrm>
          <a:prstGeom prst="roundRect">
            <a:avLst>
              <a:gd name="adj" fmla="val 2169"/>
            </a:avLst>
          </a:prstGeom>
          <a:solidFill>
            <a:srgbClr val="F2F0E8"/>
          </a:solidFill>
          <a:ln w="12700">
            <a:solidFill>
              <a:srgbClr val="CCCCEB"/>
            </a:solidFill>
            <a:prstDash val="solid"/>
          </a:ln>
        </p:spPr>
      </p:sp>
      <p:sp>
        <p:nvSpPr>
          <p:cNvPr id="8" name="Text 6"/>
          <p:cNvSpPr/>
          <p:nvPr/>
        </p:nvSpPr>
        <p:spPr>
          <a:xfrm>
            <a:off x="841248" y="2295144"/>
            <a:ext cx="4870552" cy="502920"/>
          </a:xfrm>
          <a:prstGeom prst="rect">
            <a:avLst/>
          </a:prstGeom>
          <a:noFill/>
          <a:ln/>
        </p:spPr>
        <p:txBody>
          <a:bodyPr wrap="square" lIns="0" tIns="0" rIns="0" bIns="0" rtlCol="0" anchor="t"/>
          <a:lstStyle/>
          <a:p>
            <a:pPr indent="0" marL="0">
              <a:lnSpc>
                <a:spcPts val="1840"/>
              </a:lnSpc>
              <a:buNone/>
            </a:pPr>
            <a:r>
              <a:rPr lang="en-US" sz="1600" b="1" dirty="0">
                <a:solidFill>
                  <a:srgbClr val="111111"/>
                </a:solidFill>
                <a:latin typeface="Arial" pitchFamily="34" charset="0"/>
                <a:ea typeface="Arial" pitchFamily="34" charset="-122"/>
                <a:cs typeface="Arial" pitchFamily="34" charset="-120"/>
              </a:rPr>
              <a:t>Charte de projet</a:t>
            </a:r>
            <a:endParaRPr lang="en-US" sz="1600" dirty="0"/>
          </a:p>
        </p:txBody>
      </p:sp>
      <p:sp>
        <p:nvSpPr>
          <p:cNvPr id="9" name="Text 7"/>
          <p:cNvSpPr/>
          <p:nvPr/>
        </p:nvSpPr>
        <p:spPr>
          <a:xfrm>
            <a:off x="841248" y="2825496"/>
            <a:ext cx="4870552" cy="2971800"/>
          </a:xfrm>
          <a:prstGeom prst="rect">
            <a:avLst/>
          </a:prstGeom>
          <a:noFill/>
          <a:ln/>
        </p:spPr>
        <p:txBody>
          <a:bodyPr wrap="square" lIns="0" tIns="0" rIns="0" bIns="0" rtlCol="0" anchor="t"/>
          <a:lstStyle/>
          <a:p>
            <a:pPr marL="177800" indent="-177800">
              <a:lnSpc>
                <a:spcPts val="1600"/>
              </a:lnSpc>
              <a:spcAft>
                <a:spcPts val="600"/>
              </a:spcAft>
              <a:buSzPct val="100000"/>
              <a:buChar char="•"/>
            </a:pPr>
            <a:r>
              <a:rPr lang="en-US" sz="1250" dirty="0">
                <a:solidFill>
                  <a:srgbClr val="6B6B6B"/>
                </a:solidFill>
                <a:latin typeface="Arial" pitchFamily="34" charset="0"/>
                <a:ea typeface="Arial" pitchFamily="34" charset="-122"/>
                <a:cs typeface="Arial" pitchFamily="34" charset="-120"/>
              </a:rPr>
              <a:t>Objectif — Sécuriser l'accès aux applications internes et tierces par une authentification à plusieurs facteurs</a:t>
            </a:r>
            <a:endParaRPr lang="en-US" sz="1250" dirty="0"/>
          </a:p>
          <a:p>
            <a:pPr marL="177800" indent="-177800">
              <a:lnSpc>
                <a:spcPts val="1600"/>
              </a:lnSpc>
              <a:spcAft>
                <a:spcPts val="600"/>
              </a:spcAft>
              <a:buSzPct val="100000"/>
              <a:buChar char="•"/>
            </a:pPr>
            <a:r>
              <a:rPr lang="en-US" sz="1250" dirty="0">
                <a:solidFill>
                  <a:srgbClr val="6B6B6B"/>
                </a:solidFill>
                <a:latin typeface="Arial" pitchFamily="34" charset="0"/>
                <a:ea typeface="Arial" pitchFamily="34" charset="-122"/>
                <a:cs typeface="Arial" pitchFamily="34" charset="-120"/>
              </a:rPr>
              <a:t>Périmètre — Tous les collaborateurs Time'Eats, tous sites (Rennes, Morlaix, Concarneau, bureaux régionaux)</a:t>
            </a:r>
            <a:endParaRPr lang="en-US" sz="1250" dirty="0"/>
          </a:p>
          <a:p>
            <a:pPr marL="177800" indent="-177800">
              <a:lnSpc>
                <a:spcPts val="1600"/>
              </a:lnSpc>
              <a:spcAft>
                <a:spcPts val="600"/>
              </a:spcAft>
              <a:buSzPct val="100000"/>
              <a:buChar char="•"/>
            </a:pPr>
            <a:r>
              <a:rPr lang="en-US" sz="1250" dirty="0">
                <a:solidFill>
                  <a:srgbClr val="6B6B6B"/>
                </a:solidFill>
                <a:latin typeface="Arial" pitchFamily="34" charset="0"/>
                <a:ea typeface="Arial" pitchFamily="34" charset="-122"/>
                <a:cs typeface="Arial" pitchFamily="34" charset="-120"/>
              </a:rPr>
              <a:t>Cadre budget / délai — 150 k€ — 4 mois (juillet à octobre N)</a:t>
            </a:r>
            <a:endParaRPr lang="en-US" sz="1250" dirty="0"/>
          </a:p>
          <a:p>
            <a:pPr marL="177800" indent="-177800">
              <a:lnSpc>
                <a:spcPts val="1600"/>
              </a:lnSpc>
              <a:spcAft>
                <a:spcPts val="600"/>
              </a:spcAft>
              <a:buSzPct val="100000"/>
              <a:buChar char="•"/>
            </a:pPr>
            <a:r>
              <a:rPr lang="en-US" sz="1250" dirty="0">
                <a:solidFill>
                  <a:srgbClr val="6B6B6B"/>
                </a:solidFill>
                <a:latin typeface="Arial" pitchFamily="34" charset="0"/>
                <a:ea typeface="Arial" pitchFamily="34" charset="-122"/>
                <a:cs typeface="Arial" pitchFamily="34" charset="-120"/>
              </a:rPr>
              <a:t>Sponsor — Directeur des Systèmes d'Information (RSSI)</a:t>
            </a:r>
            <a:endParaRPr lang="en-US" sz="1250" dirty="0"/>
          </a:p>
          <a:p>
            <a:pPr marL="177800" indent="-177800">
              <a:lnSpc>
                <a:spcPts val="1600"/>
              </a:lnSpc>
              <a:spcAft>
                <a:spcPts val="600"/>
              </a:spcAft>
              <a:buSzPct val="100000"/>
              <a:buChar char="•"/>
            </a:pPr>
            <a:r>
              <a:rPr lang="en-US" sz="1250" dirty="0">
                <a:solidFill>
                  <a:srgbClr val="6B6B6B"/>
                </a:solidFill>
                <a:latin typeface="Arial" pitchFamily="34" charset="0"/>
                <a:ea typeface="Arial" pitchFamily="34" charset="-122"/>
                <a:cs typeface="Arial" pitchFamily="34" charset="-120"/>
              </a:rPr>
              <a:t>Critère de succès — MFA actif sur 100 % des comptes à risque fin octobre, sans interruption de service majeure</a:t>
            </a:r>
            <a:endParaRPr lang="en-US" sz="1250" dirty="0"/>
          </a:p>
        </p:txBody>
      </p:sp>
      <p:sp>
        <p:nvSpPr>
          <p:cNvPr id="10" name="Shape 8"/>
          <p:cNvSpPr/>
          <p:nvPr/>
        </p:nvSpPr>
        <p:spPr>
          <a:xfrm>
            <a:off x="6278728" y="2148840"/>
            <a:ext cx="5272888" cy="3794760"/>
          </a:xfrm>
          <a:prstGeom prst="roundRect">
            <a:avLst>
              <a:gd name="adj" fmla="val 2169"/>
            </a:avLst>
          </a:prstGeom>
          <a:solidFill>
            <a:srgbClr val="F2F0E8"/>
          </a:solidFill>
          <a:ln w="12700">
            <a:solidFill>
              <a:srgbClr val="CCCCEB"/>
            </a:solidFill>
            <a:prstDash val="solid"/>
          </a:ln>
        </p:spPr>
      </p:sp>
      <p:sp>
        <p:nvSpPr>
          <p:cNvPr id="11" name="Text 9"/>
          <p:cNvSpPr/>
          <p:nvPr/>
        </p:nvSpPr>
        <p:spPr>
          <a:xfrm>
            <a:off x="6479896" y="2295144"/>
            <a:ext cx="4870552" cy="502920"/>
          </a:xfrm>
          <a:prstGeom prst="rect">
            <a:avLst/>
          </a:prstGeom>
          <a:noFill/>
          <a:ln/>
        </p:spPr>
        <p:txBody>
          <a:bodyPr wrap="square" lIns="0" tIns="0" rIns="0" bIns="0" rtlCol="0" anchor="t"/>
          <a:lstStyle/>
          <a:p>
            <a:pPr indent="0" marL="0">
              <a:lnSpc>
                <a:spcPts val="1840"/>
              </a:lnSpc>
              <a:buNone/>
            </a:pPr>
            <a:r>
              <a:rPr lang="en-US" sz="1600" b="1" dirty="0">
                <a:solidFill>
                  <a:srgbClr val="111111"/>
                </a:solidFill>
                <a:latin typeface="Arial" pitchFamily="34" charset="0"/>
                <a:ea typeface="Arial" pitchFamily="34" charset="-122"/>
                <a:cs typeface="Arial" pitchFamily="34" charset="-120"/>
              </a:rPr>
              <a:t>Cahier des charges</a:t>
            </a:r>
            <a:endParaRPr lang="en-US" sz="1600" dirty="0"/>
          </a:p>
        </p:txBody>
      </p:sp>
      <p:sp>
        <p:nvSpPr>
          <p:cNvPr id="12" name="Text 10"/>
          <p:cNvSpPr/>
          <p:nvPr/>
        </p:nvSpPr>
        <p:spPr>
          <a:xfrm>
            <a:off x="6479896" y="2825496"/>
            <a:ext cx="4870552" cy="2971800"/>
          </a:xfrm>
          <a:prstGeom prst="rect">
            <a:avLst/>
          </a:prstGeom>
          <a:noFill/>
          <a:ln/>
        </p:spPr>
        <p:txBody>
          <a:bodyPr wrap="square" lIns="0" tIns="0" rIns="0" bIns="0" rtlCol="0" anchor="t"/>
          <a:lstStyle/>
          <a:p>
            <a:pPr marL="177800" indent="-177800">
              <a:lnSpc>
                <a:spcPts val="1600"/>
              </a:lnSpc>
              <a:spcAft>
                <a:spcPts val="600"/>
              </a:spcAft>
              <a:buSzPct val="100000"/>
              <a:buChar char="•"/>
            </a:pPr>
            <a:r>
              <a:rPr lang="en-US" sz="1250" dirty="0">
                <a:solidFill>
                  <a:srgbClr val="6B6B6B"/>
                </a:solidFill>
                <a:latin typeface="Arial" pitchFamily="34" charset="0"/>
                <a:ea typeface="Arial" pitchFamily="34" charset="-122"/>
                <a:cs typeface="Arial" pitchFamily="34" charset="-120"/>
              </a:rPr>
              <a:t>Exigences fonctionnelles — Au moins 2 méthodes MFA au choix, auto-inscription guidée, SSO avec l'AD existant</a:t>
            </a:r>
            <a:endParaRPr lang="en-US" sz="1250" dirty="0"/>
          </a:p>
          <a:p>
            <a:pPr marL="177800" indent="-177800">
              <a:lnSpc>
                <a:spcPts val="1600"/>
              </a:lnSpc>
              <a:spcAft>
                <a:spcPts val="600"/>
              </a:spcAft>
              <a:buSzPct val="100000"/>
              <a:buChar char="•"/>
            </a:pPr>
            <a:r>
              <a:rPr lang="en-US" sz="1250" dirty="0">
                <a:solidFill>
                  <a:srgbClr val="6B6B6B"/>
                </a:solidFill>
                <a:latin typeface="Arial" pitchFamily="34" charset="0"/>
                <a:ea typeface="Arial" pitchFamily="34" charset="-122"/>
                <a:cs typeface="Arial" pitchFamily="34" charset="-120"/>
              </a:rPr>
              <a:t>Exigences non fonctionnelles — Disponibilité ≥ 99,5 %, compatibilité avec les applications tierces, accessible à tous les profils</a:t>
            </a:r>
            <a:endParaRPr lang="en-US" sz="1250" dirty="0"/>
          </a:p>
          <a:p>
            <a:pPr marL="177800" indent="-177800">
              <a:lnSpc>
                <a:spcPts val="1600"/>
              </a:lnSpc>
              <a:spcAft>
                <a:spcPts val="600"/>
              </a:spcAft>
              <a:buSzPct val="100000"/>
              <a:buChar char="•"/>
            </a:pPr>
            <a:r>
              <a:rPr lang="en-US" sz="1250" dirty="0">
                <a:solidFill>
                  <a:srgbClr val="6B6B6B"/>
                </a:solidFill>
                <a:latin typeface="Arial" pitchFamily="34" charset="0"/>
                <a:ea typeface="Arial" pitchFamily="34" charset="-122"/>
                <a:cs typeface="Arial" pitchFamily="34" charset="-120"/>
              </a:rPr>
              <a:t>Livrables attendus — Solution MFA déployée, guide utilisateur, procédure de support</a:t>
            </a:r>
            <a:endParaRPr lang="en-US" sz="1250" dirty="0"/>
          </a:p>
          <a:p>
            <a:pPr marL="177800" indent="-177800">
              <a:lnSpc>
                <a:spcPts val="1600"/>
              </a:lnSpc>
              <a:spcAft>
                <a:spcPts val="600"/>
              </a:spcAft>
              <a:buSzPct val="100000"/>
              <a:buChar char="•"/>
            </a:pPr>
            <a:r>
              <a:rPr lang="en-US" sz="1250" dirty="0">
                <a:solidFill>
                  <a:srgbClr val="6B6B6B"/>
                </a:solidFill>
                <a:latin typeface="Arial" pitchFamily="34" charset="0"/>
                <a:ea typeface="Arial" pitchFamily="34" charset="-122"/>
                <a:cs typeface="Arial" pitchFamily="34" charset="-120"/>
              </a:rPr>
              <a:t>Critères d'acceptation — Base du plan de test — voir Partie 3 (clôture)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457200"/>
            <a:ext cx="7692847" cy="320040"/>
          </a:xfrm>
          <a:prstGeom prst="rect">
            <a:avLst/>
          </a:prstGeom>
          <a:noFill/>
          <a:ln/>
        </p:spPr>
        <p:txBody>
          <a:bodyPr wrap="square" lIns="0" tIns="0" rIns="0" bIns="0" rtlCol="0" anchor="t"/>
          <a:lstStyle/>
          <a:p>
            <a:pPr algn="l" indent="0" marL="0">
              <a:buNone/>
            </a:pPr>
            <a:r>
              <a:rPr lang="en-US" sz="1200" b="1" spc="100" kern="0" dirty="0">
                <a:solidFill>
                  <a:srgbClr val="1E2BFA"/>
                </a:solidFill>
                <a:latin typeface="Arial" pitchFamily="34" charset="0"/>
                <a:ea typeface="Arial" pitchFamily="34" charset="-122"/>
                <a:cs typeface="Arial" pitchFamily="34" charset="-120"/>
              </a:rPr>
              <a:t>PARTIE 2 · 2.1 PLAN DE MANAGEMENT (2/3)</a:t>
            </a:r>
            <a:endParaRPr lang="en-US" sz="1200" dirty="0"/>
          </a:p>
        </p:txBody>
      </p:sp>
      <p:sp>
        <p:nvSpPr>
          <p:cNvPr id="3" name="Shape 1"/>
          <p:cNvSpPr/>
          <p:nvPr/>
        </p:nvSpPr>
        <p:spPr>
          <a:xfrm>
            <a:off x="8607247" y="420624"/>
            <a:ext cx="2944368" cy="329184"/>
          </a:xfrm>
          <a:prstGeom prst="roundRect">
            <a:avLst>
              <a:gd name="adj" fmla="val 50000"/>
            </a:avLst>
          </a:prstGeom>
          <a:solidFill>
            <a:srgbClr val="E9E7E9"/>
          </a:solidFill>
          <a:ln/>
        </p:spPr>
      </p:sp>
      <p:sp>
        <p:nvSpPr>
          <p:cNvPr id="4" name="Text 2"/>
          <p:cNvSpPr/>
          <p:nvPr/>
        </p:nvSpPr>
        <p:spPr>
          <a:xfrm>
            <a:off x="8607247" y="420624"/>
            <a:ext cx="2944368" cy="329184"/>
          </a:xfrm>
          <a:prstGeom prst="rect">
            <a:avLst/>
          </a:prstGeom>
          <a:noFill/>
          <a:ln/>
        </p:spPr>
        <p:txBody>
          <a:bodyPr wrap="square" lIns="0" tIns="0" rIns="0" bIns="0" rtlCol="0" anchor="ctr"/>
          <a:lstStyle/>
          <a:p>
            <a:pPr algn="ctr" indent="0" marL="0">
              <a:buNone/>
            </a:pPr>
            <a:r>
              <a:rPr lang="en-US" sz="1050" b="1" dirty="0">
                <a:solidFill>
                  <a:srgbClr val="1E2BFA"/>
                </a:solidFill>
                <a:latin typeface="Arial" pitchFamily="34" charset="0"/>
                <a:ea typeface="Arial" pitchFamily="34" charset="-122"/>
                <a:cs typeface="Arial" pitchFamily="34" charset="-120"/>
              </a:rPr>
              <a:t>Budget &amp; planning</a:t>
            </a:r>
            <a:endParaRPr lang="en-US" sz="1050" dirty="0"/>
          </a:p>
        </p:txBody>
      </p:sp>
      <p:sp>
        <p:nvSpPr>
          <p:cNvPr id="5" name="Text 3"/>
          <p:cNvSpPr/>
          <p:nvPr/>
        </p:nvSpPr>
        <p:spPr>
          <a:xfrm>
            <a:off x="640080" y="868680"/>
            <a:ext cx="10911535" cy="502920"/>
          </a:xfrm>
          <a:prstGeom prst="rect">
            <a:avLst/>
          </a:prstGeom>
          <a:noFill/>
          <a:ln/>
        </p:spPr>
        <p:txBody>
          <a:bodyPr wrap="square" lIns="0" tIns="0" rIns="0" bIns="0" rtlCol="0" anchor="t"/>
          <a:lstStyle/>
          <a:p>
            <a:pPr algn="l" indent="0" marL="0">
              <a:lnSpc>
                <a:spcPts val="2592"/>
              </a:lnSpc>
              <a:buNone/>
            </a:pPr>
            <a:r>
              <a:rPr lang="en-US" sz="2400" b="1" dirty="0">
                <a:solidFill>
                  <a:srgbClr val="111111"/>
                </a:solidFill>
                <a:latin typeface="Arial" pitchFamily="34" charset="0"/>
                <a:ea typeface="Arial" pitchFamily="34" charset="-122"/>
                <a:cs typeface="Arial" pitchFamily="34" charset="-120"/>
              </a:rPr>
              <a:t>Budget prévisionnel et planning</a:t>
            </a:r>
            <a:endParaRPr lang="en-US" sz="2400" dirty="0"/>
          </a:p>
        </p:txBody>
      </p:sp>
      <p:sp>
        <p:nvSpPr>
          <p:cNvPr id="6" name="Text 4"/>
          <p:cNvSpPr/>
          <p:nvPr/>
        </p:nvSpPr>
        <p:spPr>
          <a:xfrm>
            <a:off x="640080" y="1737360"/>
            <a:ext cx="5272888" cy="274320"/>
          </a:xfrm>
          <a:prstGeom prst="rect">
            <a:avLst/>
          </a:prstGeom>
          <a:noFill/>
          <a:ln/>
        </p:spPr>
        <p:txBody>
          <a:bodyPr wrap="square" lIns="0" tIns="0" rIns="0" bIns="0" rtlCol="0" anchor="ctr"/>
          <a:lstStyle/>
          <a:p>
            <a:pPr indent="0" marL="0">
              <a:buNone/>
            </a:pPr>
            <a:r>
              <a:rPr lang="en-US" sz="1050" b="1" dirty="0">
                <a:solidFill>
                  <a:srgbClr val="1E2BFA"/>
                </a:solidFill>
                <a:latin typeface="Arial" pitchFamily="34" charset="0"/>
                <a:ea typeface="Arial" pitchFamily="34" charset="-122"/>
                <a:cs typeface="Arial" pitchFamily="34" charset="-120"/>
              </a:rPr>
              <a:t>TABLEAU 5 — BUDGET PRÉVISIONNEL (150 K€)</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2039112"/>
          <a:ext cx="5272888" cy="914400"/>
        </p:xfrm>
        <a:graphic>
          <a:graphicData uri="http://schemas.openxmlformats.org/drawingml/2006/table">
            <a:tbl>
              <a:tblPr/>
              <a:tblGrid>
                <a:gridCol w="2003697"/>
                <a:gridCol w="949120"/>
                <a:gridCol w="2320071"/>
              </a:tblGrid>
              <a:tr h="404165">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POSTE DE DÉPENSE</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MONTANT</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COMMENTAIRE</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r>
              <a:tr h="47548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Solution MFA (licences)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40 k€</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Pour l'ensemble des collaborateurs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47548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Intégration (prestation ESN)</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55 k€</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Interfaçage AD + applications tierces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47548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Ressources internes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25 k€</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Équipe infrastructure mobilisée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47548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Formation &amp; communication</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15 k€</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Supports, sessions, renfort helpdesk</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47548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Provision pour aléas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15 k€</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Couvre le registre des risques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475488">
                <a:tc>
                  <a:txBody>
                    <a:bodyPr/>
                    <a:lstStyle/>
                    <a:p>
                      <a:pPr algn="l" indent="0" marL="0">
                        <a:buNone/>
                      </a:pPr>
                      <a:r>
                        <a:rPr lang="en-US" sz="1050" b="1" dirty="0">
                          <a:solidFill>
                            <a:srgbClr val="111111"/>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D9D9EA"/>
                    </a:solidFill>
                  </a:tcPr>
                </a:tc>
                <a:tc>
                  <a:txBody>
                    <a:bodyPr/>
                    <a:lstStyle/>
                    <a:p>
                      <a:pPr algn="l" indent="0" marL="0">
                        <a:buNone/>
                      </a:pPr>
                      <a:r>
                        <a:rPr lang="en-US" sz="1050" b="1" dirty="0">
                          <a:solidFill>
                            <a:srgbClr val="111111"/>
                          </a:solidFill>
                          <a:latin typeface="Arial" pitchFamily="34" charset="0"/>
                          <a:ea typeface="Arial" pitchFamily="34" charset="-122"/>
                          <a:cs typeface="Arial" pitchFamily="34" charset="-120"/>
                        </a:rPr>
                        <a:t>150 k€</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D9D9EA"/>
                    </a:solidFill>
                  </a:tcPr>
                </a:tc>
                <a:tc>
                  <a:txBody>
                    <a:bodyPr/>
                    <a:lstStyle/>
                    <a:p>
                      <a:pPr algn="l" indent="0" marL="0">
                        <a:buNone/>
                      </a:pPr>
                      <a:r>
                        <a:rPr lang="en-US" sz="1050" b="1" dirty="0">
                          <a:solidFill>
                            <a:srgbClr val="111111"/>
                          </a:solidFill>
                          <a:latin typeface="Arial" pitchFamily="34" charset="0"/>
                          <a:ea typeface="Arial" pitchFamily="34" charset="-122"/>
                          <a:cs typeface="Arial" pitchFamily="34" charset="-120"/>
                        </a:rPr>
                        <a:t>Validé dans la charte de projet</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D9D9EA"/>
                    </a:solidFill>
                  </a:tcPr>
                </a:tc>
              </a:tr>
            </a:tbl>
          </a:graphicData>
        </a:graphic>
      </p:graphicFrame>
      <p:sp>
        <p:nvSpPr>
          <p:cNvPr id="8" name="Text 5"/>
          <p:cNvSpPr/>
          <p:nvPr/>
        </p:nvSpPr>
        <p:spPr>
          <a:xfrm>
            <a:off x="6278728" y="1737360"/>
            <a:ext cx="5272888" cy="274320"/>
          </a:xfrm>
          <a:prstGeom prst="rect">
            <a:avLst/>
          </a:prstGeom>
          <a:noFill/>
          <a:ln/>
        </p:spPr>
        <p:txBody>
          <a:bodyPr wrap="square" lIns="0" tIns="0" rIns="0" bIns="0" rtlCol="0" anchor="ctr"/>
          <a:lstStyle/>
          <a:p>
            <a:pPr indent="0" marL="0">
              <a:buNone/>
            </a:pPr>
            <a:r>
              <a:rPr lang="en-US" sz="1050" b="1" dirty="0">
                <a:solidFill>
                  <a:srgbClr val="1E2BFA"/>
                </a:solidFill>
                <a:latin typeface="Arial" pitchFamily="34" charset="0"/>
                <a:ea typeface="Arial" pitchFamily="34" charset="-122"/>
                <a:cs typeface="Arial" pitchFamily="34" charset="-120"/>
              </a:rPr>
              <a:t>TABLEAU 6 — PLANNING PRÉVISIONNEL (JUILLET–OCTOBRE N)</a:t>
            </a:r>
            <a:endParaRPr lang="en-US" sz="105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278728" y="2039112"/>
          <a:ext cx="5272888" cy="914400"/>
        </p:xfrm>
        <a:graphic>
          <a:graphicData uri="http://schemas.openxmlformats.org/drawingml/2006/table">
            <a:tbl>
              <a:tblPr/>
              <a:tblGrid>
                <a:gridCol w="2109155"/>
                <a:gridCol w="1370951"/>
                <a:gridCol w="1792782"/>
              </a:tblGrid>
              <a:tr h="404165">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PHASE</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PÉRIODE</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JALON</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r>
              <a:tr h="47548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Cadrage &amp; lancement</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Juillet (S1-S2)</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Charte validée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47548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Choix solution &amp; conception</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Juillet (S3-S4)</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Dossier de conception validé</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47548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Paramétrage &amp; intégration</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Août – mi-sept.</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Intégration AD terminée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47548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Pilote (site de Rennes)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Mi-septembre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Retour du pilote, ajustements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47548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Déploiement généralisé</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Fin sept. – mi-oct.</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Bascule de tous les sites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47548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Recette &amp; clôture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Fin octobre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PV de recette signé</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bl>
          </a:graphicData>
        </a:graphic>
      </p:graphicFrame>
      <p:sp>
        <p:nvSpPr>
          <p:cNvPr id="10" name="Text 6"/>
          <p:cNvSpPr/>
          <p:nvPr/>
        </p:nvSpPr>
        <p:spPr>
          <a:xfrm>
            <a:off x="640080" y="5440680"/>
            <a:ext cx="10911535" cy="457200"/>
          </a:xfrm>
          <a:prstGeom prst="rect">
            <a:avLst/>
          </a:prstGeom>
          <a:noFill/>
          <a:ln/>
        </p:spPr>
        <p:txBody>
          <a:bodyPr wrap="square" lIns="0" tIns="0" rIns="0" bIns="0" rtlCol="0" anchor="t"/>
          <a:lstStyle/>
          <a:p>
            <a:pPr algn="l" indent="0" marL="0">
              <a:lnSpc>
                <a:spcPts val="1620"/>
              </a:lnSpc>
              <a:buNone/>
            </a:pPr>
            <a:r>
              <a:rPr lang="en-US" sz="1200" dirty="0">
                <a:solidFill>
                  <a:srgbClr val="6B6B6B"/>
                </a:solidFill>
                <a:latin typeface="Arial" pitchFamily="34" charset="0"/>
                <a:ea typeface="Arial" pitchFamily="34" charset="-122"/>
                <a:cs typeface="Arial" pitchFamily="34" charset="-120"/>
              </a:rPr>
              <a:t>Intégration technique confiée à un prestataire ; formation portée en interne, là où l'équipe connaît mieux le contexte de Time'Eats.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457200"/>
            <a:ext cx="7253935" cy="320040"/>
          </a:xfrm>
          <a:prstGeom prst="rect">
            <a:avLst/>
          </a:prstGeom>
          <a:noFill/>
          <a:ln/>
        </p:spPr>
        <p:txBody>
          <a:bodyPr wrap="square" lIns="0" tIns="0" rIns="0" bIns="0" rtlCol="0" anchor="t"/>
          <a:lstStyle/>
          <a:p>
            <a:pPr algn="l" indent="0" marL="0">
              <a:buNone/>
            </a:pPr>
            <a:r>
              <a:rPr lang="en-US" sz="1200" b="1" spc="100" kern="0" dirty="0">
                <a:solidFill>
                  <a:srgbClr val="1E2BFA"/>
                </a:solidFill>
                <a:latin typeface="Arial" pitchFamily="34" charset="0"/>
                <a:ea typeface="Arial" pitchFamily="34" charset="-122"/>
                <a:cs typeface="Arial" pitchFamily="34" charset="-120"/>
              </a:rPr>
              <a:t>PARTIE 2 · 2.1 PLAN DE MANAGEMENT (3/3)</a:t>
            </a:r>
            <a:endParaRPr lang="en-US" sz="1200" dirty="0"/>
          </a:p>
        </p:txBody>
      </p:sp>
      <p:sp>
        <p:nvSpPr>
          <p:cNvPr id="3" name="Shape 1"/>
          <p:cNvSpPr/>
          <p:nvPr/>
        </p:nvSpPr>
        <p:spPr>
          <a:xfrm>
            <a:off x="8168335" y="420624"/>
            <a:ext cx="3383280" cy="329184"/>
          </a:xfrm>
          <a:prstGeom prst="roundRect">
            <a:avLst>
              <a:gd name="adj" fmla="val 50000"/>
            </a:avLst>
          </a:prstGeom>
          <a:solidFill>
            <a:srgbClr val="E9E7E9"/>
          </a:solidFill>
          <a:ln/>
        </p:spPr>
      </p:sp>
      <p:sp>
        <p:nvSpPr>
          <p:cNvPr id="4" name="Text 2"/>
          <p:cNvSpPr/>
          <p:nvPr/>
        </p:nvSpPr>
        <p:spPr>
          <a:xfrm>
            <a:off x="8168335" y="420624"/>
            <a:ext cx="3383280" cy="329184"/>
          </a:xfrm>
          <a:prstGeom prst="rect">
            <a:avLst/>
          </a:prstGeom>
          <a:noFill/>
          <a:ln/>
        </p:spPr>
        <p:txBody>
          <a:bodyPr wrap="square" lIns="0" tIns="0" rIns="0" bIns="0" rtlCol="0" anchor="ctr"/>
          <a:lstStyle/>
          <a:p>
            <a:pPr algn="ctr" indent="0" marL="0">
              <a:buNone/>
            </a:pPr>
            <a:r>
              <a:rPr lang="en-US" sz="1050" b="1" dirty="0">
                <a:solidFill>
                  <a:srgbClr val="1E2BFA"/>
                </a:solidFill>
                <a:latin typeface="Arial" pitchFamily="34" charset="0"/>
                <a:ea typeface="Arial" pitchFamily="34" charset="-122"/>
                <a:cs typeface="Arial" pitchFamily="34" charset="-120"/>
              </a:rPr>
              <a:t>Registre des risques</a:t>
            </a:r>
            <a:endParaRPr lang="en-US" sz="1050" dirty="0"/>
          </a:p>
        </p:txBody>
      </p:sp>
      <p:sp>
        <p:nvSpPr>
          <p:cNvPr id="5" name="Text 3"/>
          <p:cNvSpPr/>
          <p:nvPr/>
        </p:nvSpPr>
        <p:spPr>
          <a:xfrm>
            <a:off x="640080" y="868680"/>
            <a:ext cx="10911535" cy="502920"/>
          </a:xfrm>
          <a:prstGeom prst="rect">
            <a:avLst/>
          </a:prstGeom>
          <a:noFill/>
          <a:ln/>
        </p:spPr>
        <p:txBody>
          <a:bodyPr wrap="square" lIns="0" tIns="0" rIns="0" bIns="0" rtlCol="0" anchor="t"/>
          <a:lstStyle/>
          <a:p>
            <a:pPr algn="l" indent="0" marL="0">
              <a:lnSpc>
                <a:spcPts val="2700"/>
              </a:lnSpc>
              <a:buNone/>
            </a:pPr>
            <a:r>
              <a:rPr lang="en-US" sz="2500" b="1" dirty="0">
                <a:solidFill>
                  <a:srgbClr val="111111"/>
                </a:solidFill>
                <a:latin typeface="Arial" pitchFamily="34" charset="0"/>
                <a:ea typeface="Arial" pitchFamily="34" charset="-122"/>
                <a:cs typeface="Arial" pitchFamily="34" charset="-120"/>
              </a:rPr>
              <a:t>Registre des risques du projet</a:t>
            </a:r>
            <a:endParaRPr lang="en-US" sz="2500" dirty="0"/>
          </a:p>
        </p:txBody>
      </p:sp>
      <p:sp>
        <p:nvSpPr>
          <p:cNvPr id="6" name="Text 4"/>
          <p:cNvSpPr/>
          <p:nvPr/>
        </p:nvSpPr>
        <p:spPr>
          <a:xfrm>
            <a:off x="640080" y="1627632"/>
            <a:ext cx="10911535" cy="365760"/>
          </a:xfrm>
          <a:prstGeom prst="rect">
            <a:avLst/>
          </a:prstGeom>
          <a:noFill/>
          <a:ln/>
        </p:spPr>
        <p:txBody>
          <a:bodyPr wrap="square" lIns="0" tIns="0" rIns="0" bIns="0" rtlCol="0" anchor="t"/>
          <a:lstStyle/>
          <a:p>
            <a:pPr algn="l" indent="0" marL="0">
              <a:lnSpc>
                <a:spcPts val="1688"/>
              </a:lnSpc>
              <a:buNone/>
            </a:pPr>
            <a:r>
              <a:rPr lang="en-US" sz="1250" dirty="0">
                <a:solidFill>
                  <a:srgbClr val="6B6B6B"/>
                </a:solidFill>
                <a:latin typeface="Arial" pitchFamily="34" charset="0"/>
                <a:ea typeface="Arial" pitchFamily="34" charset="-122"/>
                <a:cs typeface="Arial" pitchFamily="34" charset="-120"/>
              </a:rPr>
              <a:t>Probabilité × impact = criticité (échelle 1 à 5). Le registre est ouvert au lancement et mis à jour à chaque comité de pilotage.</a:t>
            </a:r>
            <a:endParaRPr lang="en-US" sz="1250" dirty="0"/>
          </a:p>
        </p:txBody>
      </p:sp>
      <p:sp>
        <p:nvSpPr>
          <p:cNvPr id="7" name="Text 5"/>
          <p:cNvSpPr/>
          <p:nvPr/>
        </p:nvSpPr>
        <p:spPr>
          <a:xfrm>
            <a:off x="640080" y="2057400"/>
            <a:ext cx="10911535" cy="274320"/>
          </a:xfrm>
          <a:prstGeom prst="rect">
            <a:avLst/>
          </a:prstGeom>
          <a:noFill/>
          <a:ln/>
        </p:spPr>
        <p:txBody>
          <a:bodyPr wrap="square" lIns="0" tIns="0" rIns="0" bIns="0" rtlCol="0" anchor="ctr"/>
          <a:lstStyle/>
          <a:p>
            <a:pPr indent="0" marL="0">
              <a:buNone/>
            </a:pPr>
            <a:r>
              <a:rPr lang="en-US" sz="1050" b="1" dirty="0">
                <a:solidFill>
                  <a:srgbClr val="1E2BFA"/>
                </a:solidFill>
                <a:latin typeface="Arial" pitchFamily="34" charset="0"/>
                <a:ea typeface="Arial" pitchFamily="34" charset="-122"/>
                <a:cs typeface="Arial" pitchFamily="34" charset="-120"/>
              </a:rPr>
              <a:t>TABLEAU 7 — REGISTRE DES RISQUES DU PROJET AUTHENTIFICATION FORTE</a:t>
            </a:r>
            <a:endParaRPr lang="en-US" sz="10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2359152"/>
          <a:ext cx="10911535" cy="914400"/>
        </p:xfrm>
        <a:graphic>
          <a:graphicData uri="http://schemas.openxmlformats.org/drawingml/2006/table">
            <a:tbl>
              <a:tblPr/>
              <a:tblGrid>
                <a:gridCol w="548640"/>
                <a:gridCol w="3055230"/>
                <a:gridCol w="1051560"/>
                <a:gridCol w="457200"/>
                <a:gridCol w="457200"/>
                <a:gridCol w="548640"/>
                <a:gridCol w="4793065"/>
              </a:tblGrid>
              <a:tr h="559613">
                <a:tc>
                  <a:txBody>
                    <a:bodyPr/>
                    <a:lstStyle/>
                    <a:p>
                      <a:pPr algn="ctr" indent="0" marL="0">
                        <a:buNone/>
                      </a:pPr>
                      <a:r>
                        <a:rPr lang="en-US" sz="1000" b="1" dirty="0">
                          <a:solidFill>
                            <a:srgbClr val="1E2BFA"/>
                          </a:solidFill>
                          <a:latin typeface="Arial" pitchFamily="34" charset="0"/>
                          <a:ea typeface="Arial" pitchFamily="34" charset="-122"/>
                          <a:cs typeface="Arial" pitchFamily="34" charset="-120"/>
                        </a:rPr>
                        <a:t>ID</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RISQUE</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CATÉGORIE</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ctr" indent="0" marL="0">
                        <a:buNone/>
                      </a:pPr>
                      <a:r>
                        <a:rPr lang="en-US" sz="1000" b="1" dirty="0">
                          <a:solidFill>
                            <a:srgbClr val="1E2BFA"/>
                          </a:solidFill>
                          <a:latin typeface="Arial" pitchFamily="34" charset="0"/>
                          <a:ea typeface="Arial" pitchFamily="34" charset="-122"/>
                          <a:cs typeface="Arial" pitchFamily="34" charset="-120"/>
                        </a:rPr>
                        <a:t>P</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ctr" indent="0" marL="0">
                        <a:buNone/>
                      </a:pPr>
                      <a:r>
                        <a:rPr lang="en-US" sz="1000" b="1" dirty="0">
                          <a:solidFill>
                            <a:srgbClr val="1E2BFA"/>
                          </a:solidFill>
                          <a:latin typeface="Arial" pitchFamily="34" charset="0"/>
                          <a:ea typeface="Arial" pitchFamily="34" charset="-122"/>
                          <a:cs typeface="Arial" pitchFamily="34" charset="-120"/>
                        </a:rPr>
                        <a:t>I</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ctr" indent="0" marL="0">
                        <a:buNone/>
                      </a:pPr>
                      <a:r>
                        <a:rPr lang="en-US" sz="1000" b="1" dirty="0">
                          <a:solidFill>
                            <a:srgbClr val="1E2BFA"/>
                          </a:solidFill>
                          <a:latin typeface="Arial" pitchFamily="34" charset="0"/>
                          <a:ea typeface="Arial" pitchFamily="34" charset="-122"/>
                          <a:cs typeface="Arial" pitchFamily="34" charset="-120"/>
                        </a:rPr>
                        <a:t>CRIT.</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PLAN D'ACTION</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r>
              <a:tr h="658368">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R-01</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Résistance au changement chez les utilisateurs les moins à l'aise avec le numérique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Organisationnel</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4</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12</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Communication anticipée et relais de proximité sur chaque site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658368">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R-02</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Perte du moyen d'authentification, accès bloqué</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Humain</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4</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12</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Codes de secours et procédure de récupération encadrée par le support</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658368">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R-03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Dépendance au prestataire pour l'intégration technique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Fournisseur</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2</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4</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8</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Clause de réversibilité et documentation technique exigées au contrat</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658368">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R-04</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Applications tierces incompatibles avec le protocole retenu</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Technique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Audit de compatibilité dès le cadrage, plan de contournement si besoin</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658368">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R-05</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Interruption d'accès pendant la bascule d'un site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Technique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2</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5</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ctr" indent="0" marL="0">
                        <a:buNone/>
                      </a:pPr>
                      <a:r>
                        <a:rPr lang="en-US" sz="1050" dirty="0">
                          <a:solidFill>
                            <a:srgbClr val="111111"/>
                          </a:solidFill>
                          <a:latin typeface="Arial" pitchFamily="34" charset="0"/>
                          <a:ea typeface="Arial" pitchFamily="34" charset="-122"/>
                          <a:cs typeface="Arial" pitchFamily="34" charset="-120"/>
                        </a:rPr>
                        <a:t>10</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Bascule progressive, fenêtre annoncée, support renforcé le jour J</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bl>
          </a:graphicData>
        </a:graphic>
      </p:graphicFrame>
      <p:sp>
        <p:nvSpPr>
          <p:cNvPr id="9" name="Text 6"/>
          <p:cNvSpPr/>
          <p:nvPr/>
        </p:nvSpPr>
        <p:spPr>
          <a:xfrm>
            <a:off x="640080" y="6035040"/>
            <a:ext cx="10911535" cy="457200"/>
          </a:xfrm>
          <a:prstGeom prst="rect">
            <a:avLst/>
          </a:prstGeom>
          <a:noFill/>
          <a:ln/>
        </p:spPr>
        <p:txBody>
          <a:bodyPr wrap="square" lIns="0" tIns="0" rIns="0" bIns="0" rtlCol="0" anchor="t"/>
          <a:lstStyle/>
          <a:p>
            <a:pPr algn="l" indent="0" marL="0">
              <a:lnSpc>
                <a:spcPts val="1553"/>
              </a:lnSpc>
              <a:buNone/>
            </a:pPr>
            <a:r>
              <a:rPr lang="en-US" sz="1150" dirty="0">
                <a:solidFill>
                  <a:srgbClr val="6B6B6B"/>
                </a:solidFill>
                <a:latin typeface="Arial" pitchFamily="34" charset="0"/>
                <a:ea typeface="Arial" pitchFamily="34" charset="-122"/>
                <a:cs typeface="Arial" pitchFamily="34" charset="-120"/>
              </a:rPr>
              <a:t>R-01 et R-02 sont les plus critiques (score 12) : ils touchent directement l'expérience des utilisateurs, cible principale du plan de communication.</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40080" y="457200"/>
            <a:ext cx="8278063" cy="320040"/>
          </a:xfrm>
          <a:prstGeom prst="rect">
            <a:avLst/>
          </a:prstGeom>
          <a:noFill/>
          <a:ln/>
        </p:spPr>
        <p:txBody>
          <a:bodyPr wrap="square" lIns="0" tIns="0" rIns="0" bIns="0" rtlCol="0" anchor="t"/>
          <a:lstStyle/>
          <a:p>
            <a:pPr algn="l" indent="0" marL="0">
              <a:buNone/>
            </a:pPr>
            <a:r>
              <a:rPr lang="en-US" sz="1200" b="1" spc="100" kern="0" dirty="0">
                <a:solidFill>
                  <a:srgbClr val="1E2BFA"/>
                </a:solidFill>
                <a:latin typeface="Arial" pitchFamily="34" charset="0"/>
                <a:ea typeface="Arial" pitchFamily="34" charset="-122"/>
                <a:cs typeface="Arial" pitchFamily="34" charset="-120"/>
              </a:rPr>
              <a:t>PARTIE 2 · PLAN DE MANAGEMENT</a:t>
            </a:r>
            <a:endParaRPr lang="en-US" sz="1200" dirty="0"/>
          </a:p>
        </p:txBody>
      </p:sp>
      <p:sp>
        <p:nvSpPr>
          <p:cNvPr id="3" name="Shape 1"/>
          <p:cNvSpPr/>
          <p:nvPr/>
        </p:nvSpPr>
        <p:spPr>
          <a:xfrm>
            <a:off x="9192463" y="420624"/>
            <a:ext cx="2359152" cy="329184"/>
          </a:xfrm>
          <a:prstGeom prst="roundRect">
            <a:avLst>
              <a:gd name="adj" fmla="val 50000"/>
            </a:avLst>
          </a:prstGeom>
          <a:solidFill>
            <a:srgbClr val="E9E7E9"/>
          </a:solidFill>
          <a:ln/>
        </p:spPr>
      </p:sp>
      <p:sp>
        <p:nvSpPr>
          <p:cNvPr id="4" name="Text 2"/>
          <p:cNvSpPr/>
          <p:nvPr/>
        </p:nvSpPr>
        <p:spPr>
          <a:xfrm>
            <a:off x="9192463" y="420624"/>
            <a:ext cx="2359152" cy="329184"/>
          </a:xfrm>
          <a:prstGeom prst="rect">
            <a:avLst/>
          </a:prstGeom>
          <a:noFill/>
          <a:ln/>
        </p:spPr>
        <p:txBody>
          <a:bodyPr wrap="square" lIns="0" tIns="0" rIns="0" bIns="0" rtlCol="0" anchor="ctr"/>
          <a:lstStyle/>
          <a:p>
            <a:pPr algn="ctr" indent="0" marL="0">
              <a:buNone/>
            </a:pPr>
            <a:r>
              <a:rPr lang="en-US" sz="1050" b="1" dirty="0">
                <a:solidFill>
                  <a:srgbClr val="1E2BFA"/>
                </a:solidFill>
                <a:latin typeface="Arial" pitchFamily="34" charset="0"/>
                <a:ea typeface="Arial" pitchFamily="34" charset="-122"/>
                <a:cs typeface="Arial" pitchFamily="34" charset="-120"/>
              </a:rPr>
              <a:t>Communication</a:t>
            </a:r>
            <a:endParaRPr lang="en-US" sz="1050" dirty="0"/>
          </a:p>
        </p:txBody>
      </p:sp>
      <p:sp>
        <p:nvSpPr>
          <p:cNvPr id="5" name="Text 3"/>
          <p:cNvSpPr/>
          <p:nvPr/>
        </p:nvSpPr>
        <p:spPr>
          <a:xfrm>
            <a:off x="640080" y="868680"/>
            <a:ext cx="10911535" cy="502920"/>
          </a:xfrm>
          <a:prstGeom prst="rect">
            <a:avLst/>
          </a:prstGeom>
          <a:noFill/>
          <a:ln/>
        </p:spPr>
        <p:txBody>
          <a:bodyPr wrap="square" lIns="0" tIns="0" rIns="0" bIns="0" rtlCol="0" anchor="t"/>
          <a:lstStyle/>
          <a:p>
            <a:pPr algn="l" indent="0" marL="0">
              <a:lnSpc>
                <a:spcPts val="2700"/>
              </a:lnSpc>
              <a:buNone/>
            </a:pPr>
            <a:r>
              <a:rPr lang="en-US" sz="2500" b="1" dirty="0">
                <a:solidFill>
                  <a:srgbClr val="111111"/>
                </a:solidFill>
                <a:latin typeface="Arial" pitchFamily="34" charset="0"/>
                <a:ea typeface="Arial" pitchFamily="34" charset="-122"/>
                <a:cs typeface="Arial" pitchFamily="34" charset="-120"/>
              </a:rPr>
              <a:t>Plan de communication du projet</a:t>
            </a:r>
            <a:endParaRPr lang="en-US" sz="2500" dirty="0"/>
          </a:p>
        </p:txBody>
      </p:sp>
      <p:sp>
        <p:nvSpPr>
          <p:cNvPr id="6" name="Text 4"/>
          <p:cNvSpPr/>
          <p:nvPr/>
        </p:nvSpPr>
        <p:spPr>
          <a:xfrm>
            <a:off x="640080" y="1627632"/>
            <a:ext cx="10911535" cy="365760"/>
          </a:xfrm>
          <a:prstGeom prst="rect">
            <a:avLst/>
          </a:prstGeom>
          <a:noFill/>
          <a:ln/>
        </p:spPr>
        <p:txBody>
          <a:bodyPr wrap="square" lIns="0" tIns="0" rIns="0" bIns="0" rtlCol="0" anchor="t"/>
          <a:lstStyle/>
          <a:p>
            <a:pPr algn="l" indent="0" marL="0">
              <a:lnSpc>
                <a:spcPts val="1553"/>
              </a:lnSpc>
              <a:buNone/>
            </a:pPr>
            <a:r>
              <a:rPr lang="en-US" sz="1150" dirty="0">
                <a:solidFill>
                  <a:srgbClr val="6B6B6B"/>
                </a:solidFill>
                <a:latin typeface="Arial" pitchFamily="34" charset="0"/>
                <a:ea typeface="Arial" pitchFamily="34" charset="-122"/>
                <a:cs typeface="Arial" pitchFamily="34" charset="-120"/>
              </a:rPr>
              <a:t>L'intensité de la communication augmente à l'approche de chaque bascule de site, pour limiter le risque R-01 (résistance au changement).</a:t>
            </a:r>
            <a:endParaRPr lang="en-US" sz="1150" dirty="0"/>
          </a:p>
        </p:txBody>
      </p:sp>
      <p:sp>
        <p:nvSpPr>
          <p:cNvPr id="7" name="Text 5"/>
          <p:cNvSpPr/>
          <p:nvPr/>
        </p:nvSpPr>
        <p:spPr>
          <a:xfrm>
            <a:off x="640080" y="2057400"/>
            <a:ext cx="10911535" cy="274320"/>
          </a:xfrm>
          <a:prstGeom prst="rect">
            <a:avLst/>
          </a:prstGeom>
          <a:noFill/>
          <a:ln/>
        </p:spPr>
        <p:txBody>
          <a:bodyPr wrap="square" lIns="0" tIns="0" rIns="0" bIns="0" rtlCol="0" anchor="ctr"/>
          <a:lstStyle/>
          <a:p>
            <a:pPr indent="0" marL="0">
              <a:buNone/>
            </a:pPr>
            <a:r>
              <a:rPr lang="en-US" sz="1050" b="1" dirty="0">
                <a:solidFill>
                  <a:srgbClr val="1E2BFA"/>
                </a:solidFill>
                <a:latin typeface="Arial" pitchFamily="34" charset="0"/>
                <a:ea typeface="Arial" pitchFamily="34" charset="-122"/>
                <a:cs typeface="Arial" pitchFamily="34" charset="-120"/>
              </a:rPr>
              <a:t>TABLEAU 8 — PLAN DE COMMUNICATION DU PROJET</a:t>
            </a:r>
            <a:endParaRPr lang="en-US" sz="10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2359152"/>
          <a:ext cx="10911535" cy="914400"/>
        </p:xfrm>
        <a:graphic>
          <a:graphicData uri="http://schemas.openxmlformats.org/drawingml/2006/table">
            <a:tbl>
              <a:tblPr/>
              <a:tblGrid>
                <a:gridCol w="1737360"/>
                <a:gridCol w="1920240"/>
                <a:gridCol w="3017520"/>
                <a:gridCol w="1737360"/>
                <a:gridCol w="2499055"/>
              </a:tblGrid>
              <a:tr h="660654">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CIBLE</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OBJECTIF</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MESSAGE CLÉ</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CANAL</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FRÉQUENCE</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r>
              <a:tr h="777240">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Direction / RSSI</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Rendre compte de l'avancement et des risques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Avancement, budget, arbitrages nécessaires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Comité de pilotage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Mensuel</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777240">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Managers de site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Préparer et relayer le déploiement</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Calendrier de bascule, actions attendues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Réunion + email</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Toutes les 2 semaines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777240">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Ensemble des collaborateurs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Informer, rassurer, accompagner</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Pourquoi ce projet, comment s'inscrire, où trouver de l'aide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Intranet, affichage, mailing</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Hebdo pendant le déploiement</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777240">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Site pilote (Rennes)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Tester et remonter les difficultés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Consignes de test, canal de remontée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Canal dédié</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Quotidien pendant le pilote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bl>
          </a:graphicData>
        </a:graphic>
      </p:graphicFrame>
      <p:sp>
        <p:nvSpPr>
          <p:cNvPr id="9" name="Text 6"/>
          <p:cNvSpPr/>
          <p:nvPr/>
        </p:nvSpPr>
        <p:spPr>
          <a:xfrm>
            <a:off x="640080" y="5806440"/>
            <a:ext cx="10911535" cy="457200"/>
          </a:xfrm>
          <a:prstGeom prst="rect">
            <a:avLst/>
          </a:prstGeom>
          <a:noFill/>
          <a:ln/>
        </p:spPr>
        <p:txBody>
          <a:bodyPr wrap="square" lIns="0" tIns="0" rIns="0" bIns="0" rtlCol="0" anchor="t"/>
          <a:lstStyle/>
          <a:p>
            <a:pPr algn="l" indent="0" marL="0">
              <a:lnSpc>
                <a:spcPts val="1553"/>
              </a:lnSpc>
              <a:buNone/>
            </a:pPr>
            <a:r>
              <a:rPr lang="en-US" sz="1150" dirty="0">
                <a:solidFill>
                  <a:srgbClr val="6B6B6B"/>
                </a:solidFill>
                <a:latin typeface="Arial" pitchFamily="34" charset="0"/>
                <a:ea typeface="Arial" pitchFamily="34" charset="-122"/>
                <a:cs typeface="Arial" pitchFamily="34" charset="-120"/>
              </a:rPr>
              <a:t>Le canal compte parfois plus que le message : les équipes de production réagissent mieux à un relais de proximité qu'à un simple email.</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457200"/>
            <a:ext cx="9448495" cy="320040"/>
          </a:xfrm>
          <a:prstGeom prst="rect">
            <a:avLst/>
          </a:prstGeom>
          <a:noFill/>
          <a:ln/>
        </p:spPr>
        <p:txBody>
          <a:bodyPr wrap="square" lIns="0" tIns="0" rIns="0" bIns="0" rtlCol="0" anchor="t"/>
          <a:lstStyle/>
          <a:p>
            <a:pPr algn="l" indent="0" marL="0">
              <a:buNone/>
            </a:pPr>
            <a:r>
              <a:rPr lang="en-US" sz="1200" b="1" spc="100" kern="0" dirty="0">
                <a:solidFill>
                  <a:srgbClr val="1E2BFA"/>
                </a:solidFill>
                <a:latin typeface="Arial" pitchFamily="34" charset="0"/>
                <a:ea typeface="Arial" pitchFamily="34" charset="-122"/>
                <a:cs typeface="Arial" pitchFamily="34" charset="-120"/>
              </a:rPr>
              <a:t>PARTIE 2 · 2.2</a:t>
            </a:r>
            <a:endParaRPr lang="en-US" sz="1200" dirty="0"/>
          </a:p>
        </p:txBody>
      </p:sp>
      <p:sp>
        <p:nvSpPr>
          <p:cNvPr id="3" name="Shape 1"/>
          <p:cNvSpPr/>
          <p:nvPr/>
        </p:nvSpPr>
        <p:spPr>
          <a:xfrm>
            <a:off x="10362895" y="420624"/>
            <a:ext cx="1188720" cy="329184"/>
          </a:xfrm>
          <a:prstGeom prst="roundRect">
            <a:avLst>
              <a:gd name="adj" fmla="val 50000"/>
            </a:avLst>
          </a:prstGeom>
          <a:solidFill>
            <a:srgbClr val="E9E7E9"/>
          </a:solidFill>
          <a:ln/>
        </p:spPr>
      </p:sp>
      <p:sp>
        <p:nvSpPr>
          <p:cNvPr id="4" name="Text 2"/>
          <p:cNvSpPr/>
          <p:nvPr/>
        </p:nvSpPr>
        <p:spPr>
          <a:xfrm>
            <a:off x="10362895" y="420624"/>
            <a:ext cx="1188720" cy="329184"/>
          </a:xfrm>
          <a:prstGeom prst="rect">
            <a:avLst/>
          </a:prstGeom>
          <a:noFill/>
          <a:ln/>
        </p:spPr>
        <p:txBody>
          <a:bodyPr wrap="square" lIns="0" tIns="0" rIns="0" bIns="0" rtlCol="0" anchor="ctr"/>
          <a:lstStyle/>
          <a:p>
            <a:pPr algn="ctr" indent="0" marL="0">
              <a:buNone/>
            </a:pPr>
            <a:r>
              <a:rPr lang="en-US" sz="1050" b="1" dirty="0">
                <a:solidFill>
                  <a:srgbClr val="1E2BFA"/>
                </a:solidFill>
                <a:latin typeface="Arial" pitchFamily="34" charset="0"/>
                <a:ea typeface="Arial" pitchFamily="34" charset="-122"/>
                <a:cs typeface="Arial" pitchFamily="34" charset="-120"/>
              </a:rPr>
              <a:t>Suivi</a:t>
            </a:r>
            <a:endParaRPr lang="en-US" sz="1050" dirty="0"/>
          </a:p>
        </p:txBody>
      </p:sp>
      <p:sp>
        <p:nvSpPr>
          <p:cNvPr id="5" name="Text 3"/>
          <p:cNvSpPr/>
          <p:nvPr/>
        </p:nvSpPr>
        <p:spPr>
          <a:xfrm>
            <a:off x="640080" y="868680"/>
            <a:ext cx="10911535" cy="502920"/>
          </a:xfrm>
          <a:prstGeom prst="rect">
            <a:avLst/>
          </a:prstGeom>
          <a:noFill/>
          <a:ln/>
        </p:spPr>
        <p:txBody>
          <a:bodyPr wrap="square" lIns="0" tIns="0" rIns="0" bIns="0" rtlCol="0" anchor="t"/>
          <a:lstStyle/>
          <a:p>
            <a:pPr algn="l" indent="0" marL="0">
              <a:lnSpc>
                <a:spcPts val="2376"/>
              </a:lnSpc>
              <a:buNone/>
            </a:pPr>
            <a:r>
              <a:rPr lang="en-US" sz="2200" b="1" dirty="0">
                <a:solidFill>
                  <a:srgbClr val="111111"/>
                </a:solidFill>
                <a:latin typeface="Arial" pitchFamily="34" charset="0"/>
                <a:ea typeface="Arial" pitchFamily="34" charset="-122"/>
                <a:cs typeface="Arial" pitchFamily="34" charset="-120"/>
              </a:rPr>
              <a:t>Tableau de bord de suivi — respect du triangle d'or</a:t>
            </a:r>
            <a:endParaRPr lang="en-US" sz="2200" dirty="0"/>
          </a:p>
        </p:txBody>
      </p:sp>
      <p:sp>
        <p:nvSpPr>
          <p:cNvPr id="6" name="Text 4"/>
          <p:cNvSpPr/>
          <p:nvPr/>
        </p:nvSpPr>
        <p:spPr>
          <a:xfrm>
            <a:off x="640080" y="1627632"/>
            <a:ext cx="10911535" cy="365760"/>
          </a:xfrm>
          <a:prstGeom prst="rect">
            <a:avLst/>
          </a:prstGeom>
          <a:noFill/>
          <a:ln/>
        </p:spPr>
        <p:txBody>
          <a:bodyPr wrap="square" lIns="0" tIns="0" rIns="0" bIns="0" rtlCol="0" anchor="t"/>
          <a:lstStyle/>
          <a:p>
            <a:pPr algn="l" indent="0" marL="0">
              <a:lnSpc>
                <a:spcPts val="1485"/>
              </a:lnSpc>
              <a:buNone/>
            </a:pPr>
            <a:r>
              <a:rPr lang="en-US" sz="1100" dirty="0">
                <a:solidFill>
                  <a:srgbClr val="6B6B6B"/>
                </a:solidFill>
                <a:latin typeface="Arial" pitchFamily="34" charset="0"/>
                <a:ea typeface="Arial" pitchFamily="34" charset="-122"/>
                <a:cs typeface="Arial" pitchFamily="34" charset="-120"/>
              </a:rPr>
              <a:t>Cinq indicateurs, suivis chaque semaine par le chef de projet et présentés en comité de pilotage, couvrent les coûts, les délais et la qualité.</a:t>
            </a:r>
            <a:endParaRPr lang="en-US" sz="1100" dirty="0"/>
          </a:p>
        </p:txBody>
      </p:sp>
      <p:sp>
        <p:nvSpPr>
          <p:cNvPr id="7" name="Text 5"/>
          <p:cNvSpPr/>
          <p:nvPr/>
        </p:nvSpPr>
        <p:spPr>
          <a:xfrm>
            <a:off x="640080" y="2057400"/>
            <a:ext cx="10911535" cy="274320"/>
          </a:xfrm>
          <a:prstGeom prst="rect">
            <a:avLst/>
          </a:prstGeom>
          <a:noFill/>
          <a:ln/>
        </p:spPr>
        <p:txBody>
          <a:bodyPr wrap="square" lIns="0" tIns="0" rIns="0" bIns="0" rtlCol="0" anchor="ctr"/>
          <a:lstStyle/>
          <a:p>
            <a:pPr indent="0" marL="0">
              <a:buNone/>
            </a:pPr>
            <a:r>
              <a:rPr lang="en-US" sz="1050" b="1" dirty="0">
                <a:solidFill>
                  <a:srgbClr val="1E2BFA"/>
                </a:solidFill>
                <a:latin typeface="Arial" pitchFamily="34" charset="0"/>
                <a:ea typeface="Arial" pitchFamily="34" charset="-122"/>
                <a:cs typeface="Arial" pitchFamily="34" charset="-120"/>
              </a:rPr>
              <a:t>TABLEAU 9 — TABLEAU DE BORD DE SUIVI DU PROJET</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2359152"/>
          <a:ext cx="10911535" cy="914400"/>
        </p:xfrm>
        <a:graphic>
          <a:graphicData uri="http://schemas.openxmlformats.org/drawingml/2006/table">
            <a:tbl>
              <a:tblPr/>
              <a:tblGrid>
                <a:gridCol w="2834640"/>
                <a:gridCol w="3291840"/>
                <a:gridCol w="2743200"/>
                <a:gridCol w="2041855"/>
              </a:tblGrid>
              <a:tr h="528523">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INDICATEUR</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MODE DE CALCUL</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CIBLE</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FRÉQUENCE</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r>
              <a:tr h="621792">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Avancement planning (délai)</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Jalons atteints à date / jalons prévus à date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Écart théorique / réel &lt; 10 %</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Hebdomadaire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621792">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Consommation budgétaire (coût)</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Budget engagé / budget prévisionnel</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Alignée sur l'avancement (± 10 %)</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Hebdomadaire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621792">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Taux de couverture MFA (qualité)</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Comptes protégés / comptes à protéger</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100 % avant clôture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Hebdomadaire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621792">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Taux d'incidents d'accès (qualité)</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Tickets « blocage d'accès » ouverts / semaine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Décroissant après S2 du déploiement</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Hebdomadaire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621792">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Complétion des formations (qualité)</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Collaborateurs formés / à former</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100 % avant bascule de chaque site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Hebdomadaire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bl>
          </a:graphicData>
        </a:graphic>
      </p:graphicFrame>
      <p:sp>
        <p:nvSpPr>
          <p:cNvPr id="9" name="Text 6"/>
          <p:cNvSpPr/>
          <p:nvPr/>
        </p:nvSpPr>
        <p:spPr>
          <a:xfrm>
            <a:off x="640080" y="5623560"/>
            <a:ext cx="10911535" cy="548640"/>
          </a:xfrm>
          <a:prstGeom prst="rect">
            <a:avLst/>
          </a:prstGeom>
          <a:noFill/>
          <a:ln/>
        </p:spPr>
        <p:txBody>
          <a:bodyPr wrap="square" lIns="0" tIns="0" rIns="0" bIns="0" rtlCol="0" anchor="t"/>
          <a:lstStyle/>
          <a:p>
            <a:pPr algn="l" indent="0" marL="0">
              <a:lnSpc>
                <a:spcPts val="1553"/>
              </a:lnSpc>
              <a:buNone/>
            </a:pPr>
            <a:r>
              <a:rPr lang="en-US" sz="1150" dirty="0">
                <a:solidFill>
                  <a:srgbClr val="6B6B6B"/>
                </a:solidFill>
                <a:latin typeface="Arial" pitchFamily="34" charset="0"/>
                <a:ea typeface="Arial" pitchFamily="34" charset="-122"/>
                <a:cs typeface="Arial" pitchFamily="34" charset="-120"/>
              </a:rPr>
              <a:t>Les trois derniers indicateurs traduisent la qualité du déploiement du point de vue de l'utilisateur, plutôt qu'un simple respect du cahier des charges technique.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8290353" y="0"/>
            <a:ext cx="3901342" cy="6858000"/>
          </a:xfrm>
          <a:prstGeom prst="rect">
            <a:avLst/>
          </a:prstGeom>
          <a:solidFill>
            <a:srgbClr val="E9E7E9"/>
          </a:solidFill>
          <a:ln/>
        </p:spPr>
      </p:sp>
      <p:sp>
        <p:nvSpPr>
          <p:cNvPr id="3" name="Shape 1"/>
          <p:cNvSpPr/>
          <p:nvPr/>
        </p:nvSpPr>
        <p:spPr>
          <a:xfrm>
            <a:off x="10271455" y="4663440"/>
            <a:ext cx="64008" cy="64008"/>
          </a:xfrm>
          <a:prstGeom prst="ellipse">
            <a:avLst/>
          </a:prstGeom>
          <a:solidFill>
            <a:srgbClr val="1E2BFA">
              <a:alpha val="30000"/>
            </a:srgbClr>
          </a:solidFill>
          <a:ln/>
        </p:spPr>
      </p:sp>
      <p:sp>
        <p:nvSpPr>
          <p:cNvPr id="4" name="Shape 2"/>
          <p:cNvSpPr/>
          <p:nvPr/>
        </p:nvSpPr>
        <p:spPr>
          <a:xfrm>
            <a:off x="10472623" y="4663440"/>
            <a:ext cx="64008" cy="64008"/>
          </a:xfrm>
          <a:prstGeom prst="ellipse">
            <a:avLst/>
          </a:prstGeom>
          <a:solidFill>
            <a:srgbClr val="1E2BFA">
              <a:alpha val="30000"/>
            </a:srgbClr>
          </a:solidFill>
          <a:ln/>
        </p:spPr>
      </p:sp>
      <p:sp>
        <p:nvSpPr>
          <p:cNvPr id="5" name="Shape 3"/>
          <p:cNvSpPr/>
          <p:nvPr/>
        </p:nvSpPr>
        <p:spPr>
          <a:xfrm>
            <a:off x="10673791" y="4663440"/>
            <a:ext cx="64008" cy="64008"/>
          </a:xfrm>
          <a:prstGeom prst="ellipse">
            <a:avLst/>
          </a:prstGeom>
          <a:solidFill>
            <a:srgbClr val="1E2BFA">
              <a:alpha val="30000"/>
            </a:srgbClr>
          </a:solidFill>
          <a:ln/>
        </p:spPr>
      </p:sp>
      <p:sp>
        <p:nvSpPr>
          <p:cNvPr id="6" name="Shape 4"/>
          <p:cNvSpPr/>
          <p:nvPr/>
        </p:nvSpPr>
        <p:spPr>
          <a:xfrm>
            <a:off x="10271455" y="4864608"/>
            <a:ext cx="64008" cy="64008"/>
          </a:xfrm>
          <a:prstGeom prst="ellipse">
            <a:avLst/>
          </a:prstGeom>
          <a:solidFill>
            <a:srgbClr val="1E2BFA">
              <a:alpha val="30000"/>
            </a:srgbClr>
          </a:solidFill>
          <a:ln/>
        </p:spPr>
      </p:sp>
      <p:sp>
        <p:nvSpPr>
          <p:cNvPr id="7" name="Shape 5"/>
          <p:cNvSpPr/>
          <p:nvPr/>
        </p:nvSpPr>
        <p:spPr>
          <a:xfrm>
            <a:off x="10472623" y="4864608"/>
            <a:ext cx="64008" cy="64008"/>
          </a:xfrm>
          <a:prstGeom prst="ellipse">
            <a:avLst/>
          </a:prstGeom>
          <a:solidFill>
            <a:srgbClr val="1E2BFA">
              <a:alpha val="30000"/>
            </a:srgbClr>
          </a:solidFill>
          <a:ln/>
        </p:spPr>
      </p:sp>
      <p:sp>
        <p:nvSpPr>
          <p:cNvPr id="8" name="Shape 6"/>
          <p:cNvSpPr/>
          <p:nvPr/>
        </p:nvSpPr>
        <p:spPr>
          <a:xfrm>
            <a:off x="10673791" y="4864608"/>
            <a:ext cx="64008" cy="64008"/>
          </a:xfrm>
          <a:prstGeom prst="ellipse">
            <a:avLst/>
          </a:prstGeom>
          <a:solidFill>
            <a:srgbClr val="1E2BFA">
              <a:alpha val="30000"/>
            </a:srgbClr>
          </a:solidFill>
          <a:ln/>
        </p:spPr>
      </p:sp>
      <p:sp>
        <p:nvSpPr>
          <p:cNvPr id="9" name="Shape 7"/>
          <p:cNvSpPr/>
          <p:nvPr/>
        </p:nvSpPr>
        <p:spPr>
          <a:xfrm>
            <a:off x="10271455" y="5065776"/>
            <a:ext cx="64008" cy="64008"/>
          </a:xfrm>
          <a:prstGeom prst="ellipse">
            <a:avLst/>
          </a:prstGeom>
          <a:solidFill>
            <a:srgbClr val="1E2BFA">
              <a:alpha val="30000"/>
            </a:srgbClr>
          </a:solidFill>
          <a:ln/>
        </p:spPr>
      </p:sp>
      <p:sp>
        <p:nvSpPr>
          <p:cNvPr id="10" name="Shape 8"/>
          <p:cNvSpPr/>
          <p:nvPr/>
        </p:nvSpPr>
        <p:spPr>
          <a:xfrm>
            <a:off x="10472623" y="5065776"/>
            <a:ext cx="64008" cy="64008"/>
          </a:xfrm>
          <a:prstGeom prst="ellipse">
            <a:avLst/>
          </a:prstGeom>
          <a:solidFill>
            <a:srgbClr val="1E2BFA">
              <a:alpha val="30000"/>
            </a:srgbClr>
          </a:solidFill>
          <a:ln/>
        </p:spPr>
      </p:sp>
      <p:sp>
        <p:nvSpPr>
          <p:cNvPr id="11" name="Shape 9"/>
          <p:cNvSpPr/>
          <p:nvPr/>
        </p:nvSpPr>
        <p:spPr>
          <a:xfrm>
            <a:off x="10673791" y="5065776"/>
            <a:ext cx="64008" cy="64008"/>
          </a:xfrm>
          <a:prstGeom prst="ellipse">
            <a:avLst/>
          </a:prstGeom>
          <a:solidFill>
            <a:srgbClr val="1E2BFA">
              <a:alpha val="30000"/>
            </a:srgbClr>
          </a:solidFill>
          <a:ln/>
        </p:spPr>
      </p:sp>
      <p:sp>
        <p:nvSpPr>
          <p:cNvPr id="12" name="Text 10"/>
          <p:cNvSpPr/>
          <p:nvPr/>
        </p:nvSpPr>
        <p:spPr>
          <a:xfrm>
            <a:off x="640080" y="2468880"/>
            <a:ext cx="7315200" cy="365760"/>
          </a:xfrm>
          <a:prstGeom prst="rect">
            <a:avLst/>
          </a:prstGeom>
          <a:noFill/>
          <a:ln/>
        </p:spPr>
        <p:txBody>
          <a:bodyPr wrap="square" lIns="0" tIns="0" rIns="0" bIns="0" rtlCol="0" anchor="ctr"/>
          <a:lstStyle/>
          <a:p>
            <a:pPr indent="0" marL="0">
              <a:buNone/>
            </a:pPr>
            <a:r>
              <a:rPr lang="en-US" sz="1300" b="1" spc="100" kern="0" dirty="0">
                <a:solidFill>
                  <a:srgbClr val="1E2BFA"/>
                </a:solidFill>
                <a:latin typeface="Arial" pitchFamily="34" charset="0"/>
                <a:ea typeface="Arial" pitchFamily="34" charset="-122"/>
                <a:cs typeface="Arial" pitchFamily="34" charset="-120"/>
              </a:rPr>
              <a:t>PARTIE 3 · 03</a:t>
            </a:r>
            <a:endParaRPr lang="en-US" sz="1300" dirty="0"/>
          </a:p>
        </p:txBody>
      </p:sp>
      <p:sp>
        <p:nvSpPr>
          <p:cNvPr id="13" name="Text 11"/>
          <p:cNvSpPr/>
          <p:nvPr/>
        </p:nvSpPr>
        <p:spPr>
          <a:xfrm>
            <a:off x="640080" y="2926080"/>
            <a:ext cx="7498080" cy="1737360"/>
          </a:xfrm>
          <a:prstGeom prst="rect">
            <a:avLst/>
          </a:prstGeom>
          <a:noFill/>
          <a:ln/>
        </p:spPr>
        <p:txBody>
          <a:bodyPr wrap="square" lIns="0" tIns="0" rIns="0" bIns="0" rtlCol="0" anchor="ctr"/>
          <a:lstStyle/>
          <a:p>
            <a:pPr indent="0" marL="0">
              <a:lnSpc>
                <a:spcPts val="3800"/>
              </a:lnSpc>
              <a:buNone/>
            </a:pPr>
            <a:r>
              <a:rPr lang="en-US" sz="3400" b="1" dirty="0">
                <a:solidFill>
                  <a:srgbClr val="111111"/>
                </a:solidFill>
                <a:latin typeface="Arial" pitchFamily="34" charset="0"/>
                <a:ea typeface="Arial" pitchFamily="34" charset="-122"/>
                <a:cs typeface="Arial" pitchFamily="34" charset="-120"/>
              </a:rPr>
              <a:t>Clore le projet</a:t>
            </a:r>
            <a:endParaRPr lang="en-US" sz="3400" dirty="0"/>
          </a:p>
        </p:txBody>
      </p:sp>
      <p:sp>
        <p:nvSpPr>
          <p:cNvPr id="14" name="Text 12"/>
          <p:cNvSpPr/>
          <p:nvPr/>
        </p:nvSpPr>
        <p:spPr>
          <a:xfrm>
            <a:off x="640080" y="4617720"/>
            <a:ext cx="6858000" cy="914400"/>
          </a:xfrm>
          <a:prstGeom prst="rect">
            <a:avLst/>
          </a:prstGeom>
          <a:noFill/>
          <a:ln/>
        </p:spPr>
        <p:txBody>
          <a:bodyPr wrap="square" lIns="0" tIns="0" rIns="0" bIns="0" rtlCol="0" anchor="ctr"/>
          <a:lstStyle/>
          <a:p>
            <a:pPr indent="0" marL="0">
              <a:lnSpc>
                <a:spcPts val="2000"/>
              </a:lnSpc>
              <a:buNone/>
            </a:pPr>
            <a:r>
              <a:rPr lang="en-US" sz="1500" dirty="0">
                <a:solidFill>
                  <a:srgbClr val="6B6B6B"/>
                </a:solidFill>
                <a:latin typeface="Arial" pitchFamily="34" charset="0"/>
                <a:ea typeface="Arial" pitchFamily="34" charset="-122"/>
                <a:cs typeface="Arial" pitchFamily="34" charset="-120"/>
              </a:rPr>
              <a:t>Documents contractuels de clôture et template de procès-verbal de recette, réutilisables pour tout le portefeuille.</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457200"/>
            <a:ext cx="9155887" cy="320040"/>
          </a:xfrm>
          <a:prstGeom prst="rect">
            <a:avLst/>
          </a:prstGeom>
          <a:noFill/>
          <a:ln/>
        </p:spPr>
        <p:txBody>
          <a:bodyPr wrap="square" lIns="0" tIns="0" rIns="0" bIns="0" rtlCol="0" anchor="t"/>
          <a:lstStyle/>
          <a:p>
            <a:pPr algn="l" indent="0" marL="0">
              <a:buNone/>
            </a:pPr>
            <a:r>
              <a:rPr lang="en-US" sz="1200" b="1" spc="100" kern="0" dirty="0">
                <a:solidFill>
                  <a:srgbClr val="1E2BFA"/>
                </a:solidFill>
                <a:latin typeface="Arial" pitchFamily="34" charset="0"/>
                <a:ea typeface="Arial" pitchFamily="34" charset="-122"/>
                <a:cs typeface="Arial" pitchFamily="34" charset="-120"/>
              </a:rPr>
              <a:t>PARTIE 3 · 3.1</a:t>
            </a:r>
            <a:endParaRPr lang="en-US" sz="1200" dirty="0"/>
          </a:p>
        </p:txBody>
      </p:sp>
      <p:sp>
        <p:nvSpPr>
          <p:cNvPr id="3" name="Shape 1"/>
          <p:cNvSpPr/>
          <p:nvPr/>
        </p:nvSpPr>
        <p:spPr>
          <a:xfrm>
            <a:off x="10070287" y="420624"/>
            <a:ext cx="1481328" cy="329184"/>
          </a:xfrm>
          <a:prstGeom prst="roundRect">
            <a:avLst>
              <a:gd name="adj" fmla="val 50000"/>
            </a:avLst>
          </a:prstGeom>
          <a:solidFill>
            <a:srgbClr val="E9E7E9"/>
          </a:solidFill>
          <a:ln/>
        </p:spPr>
      </p:sp>
      <p:sp>
        <p:nvSpPr>
          <p:cNvPr id="4" name="Text 2"/>
          <p:cNvSpPr/>
          <p:nvPr/>
        </p:nvSpPr>
        <p:spPr>
          <a:xfrm>
            <a:off x="10070287" y="420624"/>
            <a:ext cx="1481328" cy="329184"/>
          </a:xfrm>
          <a:prstGeom prst="rect">
            <a:avLst/>
          </a:prstGeom>
          <a:noFill/>
          <a:ln/>
        </p:spPr>
        <p:txBody>
          <a:bodyPr wrap="square" lIns="0" tIns="0" rIns="0" bIns="0" rtlCol="0" anchor="ctr"/>
          <a:lstStyle/>
          <a:p>
            <a:pPr algn="ctr" indent="0" marL="0">
              <a:buNone/>
            </a:pPr>
            <a:r>
              <a:rPr lang="en-US" sz="1050" b="1" dirty="0">
                <a:solidFill>
                  <a:srgbClr val="1E2BFA"/>
                </a:solidFill>
                <a:latin typeface="Arial" pitchFamily="34" charset="0"/>
                <a:ea typeface="Arial" pitchFamily="34" charset="-122"/>
                <a:cs typeface="Arial" pitchFamily="34" charset="-120"/>
              </a:rPr>
              <a:t>Clôture</a:t>
            </a:r>
            <a:endParaRPr lang="en-US" sz="1050" dirty="0"/>
          </a:p>
        </p:txBody>
      </p:sp>
      <p:sp>
        <p:nvSpPr>
          <p:cNvPr id="5" name="Text 3"/>
          <p:cNvSpPr/>
          <p:nvPr/>
        </p:nvSpPr>
        <p:spPr>
          <a:xfrm>
            <a:off x="640080" y="868680"/>
            <a:ext cx="10911535" cy="502920"/>
          </a:xfrm>
          <a:prstGeom prst="rect">
            <a:avLst/>
          </a:prstGeom>
          <a:noFill/>
          <a:ln/>
        </p:spPr>
        <p:txBody>
          <a:bodyPr wrap="square" lIns="0" tIns="0" rIns="0" bIns="0" rtlCol="0" anchor="t"/>
          <a:lstStyle/>
          <a:p>
            <a:pPr algn="l" indent="0" marL="0">
              <a:lnSpc>
                <a:spcPts val="2700"/>
              </a:lnSpc>
              <a:buNone/>
            </a:pPr>
            <a:r>
              <a:rPr lang="en-US" sz="2500" b="1" dirty="0">
                <a:solidFill>
                  <a:srgbClr val="111111"/>
                </a:solidFill>
                <a:latin typeface="Arial" pitchFamily="34" charset="0"/>
                <a:ea typeface="Arial" pitchFamily="34" charset="-122"/>
                <a:cs typeface="Arial" pitchFamily="34" charset="-120"/>
              </a:rPr>
              <a:t>Documents contractuels de clôture</a:t>
            </a:r>
            <a:endParaRPr lang="en-US" sz="2500" dirty="0"/>
          </a:p>
        </p:txBody>
      </p:sp>
      <p:sp>
        <p:nvSpPr>
          <p:cNvPr id="6" name="Text 4"/>
          <p:cNvSpPr/>
          <p:nvPr/>
        </p:nvSpPr>
        <p:spPr>
          <a:xfrm>
            <a:off x="640080" y="1627632"/>
            <a:ext cx="10911535" cy="502920"/>
          </a:xfrm>
          <a:prstGeom prst="rect">
            <a:avLst/>
          </a:prstGeom>
          <a:noFill/>
          <a:ln/>
        </p:spPr>
        <p:txBody>
          <a:bodyPr wrap="square" lIns="0" tIns="0" rIns="0" bIns="0" rtlCol="0" anchor="t"/>
          <a:lstStyle/>
          <a:p>
            <a:pPr algn="l" indent="0" marL="0">
              <a:lnSpc>
                <a:spcPts val="1688"/>
              </a:lnSpc>
              <a:buNone/>
            </a:pPr>
            <a:r>
              <a:rPr lang="en-US" sz="1250" dirty="0">
                <a:solidFill>
                  <a:srgbClr val="6B6B6B"/>
                </a:solidFill>
                <a:latin typeface="Arial" pitchFamily="34" charset="0"/>
                <a:ea typeface="Arial" pitchFamily="34" charset="-122"/>
                <a:cs typeface="Arial" pitchFamily="34" charset="-120"/>
              </a:rPr>
              <a:t>Il ne s'agit pas de formaliser entièrement chaque document, mais de justifier pourquoi chacun est nécessaire pour clore proprement le projet, en interne comme avec le prestataire.</a:t>
            </a:r>
            <a:endParaRPr lang="en-US" sz="1250" dirty="0"/>
          </a:p>
        </p:txBody>
      </p:sp>
      <p:sp>
        <p:nvSpPr>
          <p:cNvPr id="7" name="Text 5"/>
          <p:cNvSpPr/>
          <p:nvPr/>
        </p:nvSpPr>
        <p:spPr>
          <a:xfrm>
            <a:off x="640080" y="2286000"/>
            <a:ext cx="10911535" cy="274320"/>
          </a:xfrm>
          <a:prstGeom prst="rect">
            <a:avLst/>
          </a:prstGeom>
          <a:noFill/>
          <a:ln/>
        </p:spPr>
        <p:txBody>
          <a:bodyPr wrap="square" lIns="0" tIns="0" rIns="0" bIns="0" rtlCol="0" anchor="ctr"/>
          <a:lstStyle/>
          <a:p>
            <a:pPr indent="0" marL="0">
              <a:buNone/>
            </a:pPr>
            <a:r>
              <a:rPr lang="en-US" sz="1050" b="1" dirty="0">
                <a:solidFill>
                  <a:srgbClr val="1E2BFA"/>
                </a:solidFill>
                <a:latin typeface="Arial" pitchFamily="34" charset="0"/>
                <a:ea typeface="Arial" pitchFamily="34" charset="-122"/>
                <a:cs typeface="Arial" pitchFamily="34" charset="-120"/>
              </a:rPr>
              <a:t>TABLEAU 10 — DOCUMENTS CONTRACTUELS DE CLÔTURE</a:t>
            </a:r>
            <a:endParaRPr lang="en-US" sz="10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2587752"/>
          <a:ext cx="10911535" cy="914400"/>
        </p:xfrm>
        <a:graphic>
          <a:graphicData uri="http://schemas.openxmlformats.org/drawingml/2006/table">
            <a:tbl>
              <a:tblPr/>
              <a:tblGrid>
                <a:gridCol w="3108960"/>
                <a:gridCol w="1645920"/>
                <a:gridCol w="6156655"/>
              </a:tblGrid>
              <a:tr h="481889">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DOCUMENT</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CONCERNE</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POURQUOI IL EST NÉCESSAIRE</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r>
              <a:tr h="56692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PV de recette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Interne + prestataire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Acter que la solution livrée répond au cahier des charges avant la mise en production</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56692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PV de réception / levée des réserves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Prestataire (ESN)</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Constater la correction des anomalies relevées en recette et déclencher le solde du paiement</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56692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Facture soldée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Prestataire (ESN)</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Justifier la clôture financière du marché auprès de la comptabilité</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56692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Dossier d'exploitation &amp; documentation technique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Interne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Permettre à l'équipe infrastructure de reprendre la solution en exploitation courante</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56692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Clause de réversibilité / restitution des accès</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Prestataire (ESN)</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Garantir que Time'Eats récupère l'ensemble des accès et paramétrages à la fin du contrat</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566928">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Fiche de clôture de projet</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Interne (PMO)</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050" dirty="0">
                          <a:solidFill>
                            <a:srgbClr val="111111"/>
                          </a:solidFill>
                          <a:latin typeface="Arial" pitchFamily="34" charset="0"/>
                          <a:ea typeface="Arial" pitchFamily="34" charset="-122"/>
                          <a:cs typeface="Arial" pitchFamily="34" charset="-120"/>
                        </a:rPr>
                        <a:t>Consolider le bilan administratif, budgétaire et technique du projet pour la Direction</a:t>
                      </a:r>
                      <a:endParaRPr lang="en-US" sz="105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457200"/>
            <a:ext cx="9155887" cy="320040"/>
          </a:xfrm>
          <a:prstGeom prst="rect">
            <a:avLst/>
          </a:prstGeom>
          <a:noFill/>
          <a:ln/>
        </p:spPr>
        <p:txBody>
          <a:bodyPr wrap="square" lIns="0" tIns="0" rIns="0" bIns="0" rtlCol="0" anchor="t"/>
          <a:lstStyle/>
          <a:p>
            <a:pPr algn="l" indent="0" marL="0">
              <a:buNone/>
            </a:pPr>
            <a:r>
              <a:rPr lang="en-US" sz="1200" b="1" spc="100" kern="0" dirty="0">
                <a:solidFill>
                  <a:srgbClr val="1E2BFA"/>
                </a:solidFill>
                <a:latin typeface="Arial" pitchFamily="34" charset="0"/>
                <a:ea typeface="Arial" pitchFamily="34" charset="-122"/>
                <a:cs typeface="Arial" pitchFamily="34" charset="-120"/>
              </a:rPr>
              <a:t>PARTIE 3 · 3.2</a:t>
            </a:r>
            <a:endParaRPr lang="en-US" sz="1200" dirty="0"/>
          </a:p>
        </p:txBody>
      </p:sp>
      <p:sp>
        <p:nvSpPr>
          <p:cNvPr id="3" name="Shape 1"/>
          <p:cNvSpPr/>
          <p:nvPr/>
        </p:nvSpPr>
        <p:spPr>
          <a:xfrm>
            <a:off x="10070287" y="420624"/>
            <a:ext cx="1481328" cy="329184"/>
          </a:xfrm>
          <a:prstGeom prst="roundRect">
            <a:avLst>
              <a:gd name="adj" fmla="val 50000"/>
            </a:avLst>
          </a:prstGeom>
          <a:solidFill>
            <a:srgbClr val="E9E7E9"/>
          </a:solidFill>
          <a:ln/>
        </p:spPr>
      </p:sp>
      <p:sp>
        <p:nvSpPr>
          <p:cNvPr id="4" name="Text 2"/>
          <p:cNvSpPr/>
          <p:nvPr/>
        </p:nvSpPr>
        <p:spPr>
          <a:xfrm>
            <a:off x="10070287" y="420624"/>
            <a:ext cx="1481328" cy="329184"/>
          </a:xfrm>
          <a:prstGeom prst="rect">
            <a:avLst/>
          </a:prstGeom>
          <a:noFill/>
          <a:ln/>
        </p:spPr>
        <p:txBody>
          <a:bodyPr wrap="square" lIns="0" tIns="0" rIns="0" bIns="0" rtlCol="0" anchor="ctr"/>
          <a:lstStyle/>
          <a:p>
            <a:pPr algn="ctr" indent="0" marL="0">
              <a:buNone/>
            </a:pPr>
            <a:r>
              <a:rPr lang="en-US" sz="1050" b="1" dirty="0">
                <a:solidFill>
                  <a:srgbClr val="1E2BFA"/>
                </a:solidFill>
                <a:latin typeface="Arial" pitchFamily="34" charset="0"/>
                <a:ea typeface="Arial" pitchFamily="34" charset="-122"/>
                <a:cs typeface="Arial" pitchFamily="34" charset="-120"/>
              </a:rPr>
              <a:t>Clôture</a:t>
            </a:r>
            <a:endParaRPr lang="en-US" sz="1050" dirty="0"/>
          </a:p>
        </p:txBody>
      </p:sp>
      <p:sp>
        <p:nvSpPr>
          <p:cNvPr id="5" name="Text 3"/>
          <p:cNvSpPr/>
          <p:nvPr/>
        </p:nvSpPr>
        <p:spPr>
          <a:xfrm>
            <a:off x="640080" y="868680"/>
            <a:ext cx="10911535" cy="502920"/>
          </a:xfrm>
          <a:prstGeom prst="rect">
            <a:avLst/>
          </a:prstGeom>
          <a:noFill/>
          <a:ln/>
        </p:spPr>
        <p:txBody>
          <a:bodyPr wrap="square" lIns="0" tIns="0" rIns="0" bIns="0" rtlCol="0" anchor="t"/>
          <a:lstStyle/>
          <a:p>
            <a:pPr algn="l" indent="0" marL="0">
              <a:lnSpc>
                <a:spcPts val="2700"/>
              </a:lnSpc>
              <a:buNone/>
            </a:pPr>
            <a:r>
              <a:rPr lang="en-US" sz="2500" b="1" dirty="0">
                <a:solidFill>
                  <a:srgbClr val="111111"/>
                </a:solidFill>
                <a:latin typeface="Arial" pitchFamily="34" charset="0"/>
                <a:ea typeface="Arial" pitchFamily="34" charset="-122"/>
                <a:cs typeface="Arial" pitchFamily="34" charset="-120"/>
              </a:rPr>
              <a:t>Template de procès-verbal de recette</a:t>
            </a:r>
            <a:endParaRPr lang="en-US" sz="2500" dirty="0"/>
          </a:p>
        </p:txBody>
      </p:sp>
      <p:sp>
        <p:nvSpPr>
          <p:cNvPr id="6" name="Text 4"/>
          <p:cNvSpPr/>
          <p:nvPr/>
        </p:nvSpPr>
        <p:spPr>
          <a:xfrm>
            <a:off x="640080" y="1627632"/>
            <a:ext cx="10911535" cy="365760"/>
          </a:xfrm>
          <a:prstGeom prst="rect">
            <a:avLst/>
          </a:prstGeom>
          <a:noFill/>
          <a:ln/>
        </p:spPr>
        <p:txBody>
          <a:bodyPr wrap="square" lIns="0" tIns="0" rIns="0" bIns="0" rtlCol="0" anchor="t"/>
          <a:lstStyle/>
          <a:p>
            <a:pPr algn="l" indent="0" marL="0">
              <a:lnSpc>
                <a:spcPts val="1688"/>
              </a:lnSpc>
              <a:buNone/>
            </a:pPr>
            <a:r>
              <a:rPr lang="en-US" sz="1250" dirty="0">
                <a:solidFill>
                  <a:srgbClr val="6B6B6B"/>
                </a:solidFill>
                <a:latin typeface="Arial" pitchFamily="34" charset="0"/>
                <a:ea typeface="Arial" pitchFamily="34" charset="-122"/>
                <a:cs typeface="Arial" pitchFamily="34" charset="-120"/>
              </a:rPr>
              <a:t>Modèle unique, pensé pour être réutilisé par tous les projets du portefeuille DSI, qu'ils soient applicatifs ou d'infrastructure.</a:t>
            </a:r>
            <a:endParaRPr lang="en-US" sz="1250" dirty="0"/>
          </a:p>
        </p:txBody>
      </p:sp>
      <p:sp>
        <p:nvSpPr>
          <p:cNvPr id="7" name="Text 5"/>
          <p:cNvSpPr/>
          <p:nvPr/>
        </p:nvSpPr>
        <p:spPr>
          <a:xfrm>
            <a:off x="640080" y="2057400"/>
            <a:ext cx="10911535" cy="274320"/>
          </a:xfrm>
          <a:prstGeom prst="rect">
            <a:avLst/>
          </a:prstGeom>
          <a:noFill/>
          <a:ln/>
        </p:spPr>
        <p:txBody>
          <a:bodyPr wrap="square" lIns="0" tIns="0" rIns="0" bIns="0" rtlCol="0" anchor="ctr"/>
          <a:lstStyle/>
          <a:p>
            <a:pPr indent="0" marL="0">
              <a:buNone/>
            </a:pPr>
            <a:r>
              <a:rPr lang="en-US" sz="1050" b="1" dirty="0">
                <a:solidFill>
                  <a:srgbClr val="1E2BFA"/>
                </a:solidFill>
                <a:latin typeface="Arial" pitchFamily="34" charset="0"/>
                <a:ea typeface="Arial" pitchFamily="34" charset="-122"/>
                <a:cs typeface="Arial" pitchFamily="34" charset="-120"/>
              </a:rPr>
              <a:t>TABLEAU 11 — TEMPLATE DE PV DE RECETTE</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2359152"/>
          <a:ext cx="10911535" cy="914400"/>
        </p:xfrm>
        <a:graphic>
          <a:graphicData uri="http://schemas.openxmlformats.org/drawingml/2006/table">
            <a:tbl>
              <a:tblPr/>
              <a:tblGrid>
                <a:gridCol w="3291840"/>
                <a:gridCol w="7619695"/>
              </a:tblGrid>
              <a:tr h="341986">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CHAMP</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CONTENU ATTENDU</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r>
              <a:tr h="402336">
                <a:tc>
                  <a:txBody>
                    <a:bodyPr/>
                    <a:lstStyle/>
                    <a:p>
                      <a:pPr algn="l" indent="0" marL="0">
                        <a:buNone/>
                      </a:pPr>
                      <a:r>
                        <a:rPr lang="en-US" sz="1100" dirty="0">
                          <a:solidFill>
                            <a:srgbClr val="111111"/>
                          </a:solidFill>
                          <a:latin typeface="Arial" pitchFamily="34" charset="0"/>
                          <a:ea typeface="Arial" pitchFamily="34" charset="-122"/>
                          <a:cs typeface="Arial" pitchFamily="34" charset="-120"/>
                        </a:rPr>
                        <a:t>Projet</a:t>
                      </a:r>
                      <a:endParaRPr lang="en-US" sz="11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100" dirty="0">
                          <a:solidFill>
                            <a:srgbClr val="111111"/>
                          </a:solidFill>
                          <a:latin typeface="Arial" pitchFamily="34" charset="0"/>
                          <a:ea typeface="Arial" pitchFamily="34" charset="-122"/>
                          <a:cs typeface="Arial" pitchFamily="34" charset="-120"/>
                        </a:rPr>
                        <a:t>Nom du projet concerné</a:t>
                      </a:r>
                      <a:endParaRPr lang="en-US" sz="11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402336">
                <a:tc>
                  <a:txBody>
                    <a:bodyPr/>
                    <a:lstStyle/>
                    <a:p>
                      <a:pPr algn="l" indent="0" marL="0">
                        <a:buNone/>
                      </a:pPr>
                      <a:r>
                        <a:rPr lang="en-US" sz="1100" dirty="0">
                          <a:solidFill>
                            <a:srgbClr val="111111"/>
                          </a:solidFill>
                          <a:latin typeface="Arial" pitchFamily="34" charset="0"/>
                          <a:ea typeface="Arial" pitchFamily="34" charset="-122"/>
                          <a:cs typeface="Arial" pitchFamily="34" charset="-120"/>
                        </a:rPr>
                        <a:t>Date de la recette</a:t>
                      </a:r>
                      <a:endParaRPr lang="en-US" sz="11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100" dirty="0">
                          <a:solidFill>
                            <a:srgbClr val="111111"/>
                          </a:solidFill>
                          <a:latin typeface="Arial" pitchFamily="34" charset="0"/>
                          <a:ea typeface="Arial" pitchFamily="34" charset="-122"/>
                          <a:cs typeface="Arial" pitchFamily="34" charset="-120"/>
                        </a:rPr>
                        <a:t>Date de la séance de recette</a:t>
                      </a:r>
                      <a:endParaRPr lang="en-US" sz="11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402336">
                <a:tc>
                  <a:txBody>
                    <a:bodyPr/>
                    <a:lstStyle/>
                    <a:p>
                      <a:pPr algn="l" indent="0" marL="0">
                        <a:buNone/>
                      </a:pPr>
                      <a:r>
                        <a:rPr lang="en-US" sz="1100" dirty="0">
                          <a:solidFill>
                            <a:srgbClr val="111111"/>
                          </a:solidFill>
                          <a:latin typeface="Arial" pitchFamily="34" charset="0"/>
                          <a:ea typeface="Arial" pitchFamily="34" charset="-122"/>
                          <a:cs typeface="Arial" pitchFamily="34" charset="-120"/>
                        </a:rPr>
                        <a:t>Participants</a:t>
                      </a:r>
                      <a:endParaRPr lang="en-US" sz="11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100" dirty="0">
                          <a:solidFill>
                            <a:srgbClr val="111111"/>
                          </a:solidFill>
                          <a:latin typeface="Arial" pitchFamily="34" charset="0"/>
                          <a:ea typeface="Arial" pitchFamily="34" charset="-122"/>
                          <a:cs typeface="Arial" pitchFamily="34" charset="-120"/>
                        </a:rPr>
                        <a:t>Chef de projet, RSSI, référents métier, sponsor</a:t>
                      </a:r>
                      <a:endParaRPr lang="en-US" sz="11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402336">
                <a:tc>
                  <a:txBody>
                    <a:bodyPr/>
                    <a:lstStyle/>
                    <a:p>
                      <a:pPr algn="l" indent="0" marL="0">
                        <a:buNone/>
                      </a:pPr>
                      <a:r>
                        <a:rPr lang="en-US" sz="1100" dirty="0">
                          <a:solidFill>
                            <a:srgbClr val="111111"/>
                          </a:solidFill>
                          <a:latin typeface="Arial" pitchFamily="34" charset="0"/>
                          <a:ea typeface="Arial" pitchFamily="34" charset="-122"/>
                          <a:cs typeface="Arial" pitchFamily="34" charset="-120"/>
                        </a:rPr>
                        <a:t>Périmètre testé</a:t>
                      </a:r>
                      <a:endParaRPr lang="en-US" sz="11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100" dirty="0">
                          <a:solidFill>
                            <a:srgbClr val="111111"/>
                          </a:solidFill>
                          <a:latin typeface="Arial" pitchFamily="34" charset="0"/>
                          <a:ea typeface="Arial" pitchFamily="34" charset="-122"/>
                          <a:cs typeface="Arial" pitchFamily="34" charset="-120"/>
                        </a:rPr>
                        <a:t>Scénarios couverts, référencés au plan de test / cahier des charges</a:t>
                      </a:r>
                      <a:endParaRPr lang="en-US" sz="11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402336">
                <a:tc>
                  <a:txBody>
                    <a:bodyPr/>
                    <a:lstStyle/>
                    <a:p>
                      <a:pPr algn="l" indent="0" marL="0">
                        <a:buNone/>
                      </a:pPr>
                      <a:r>
                        <a:rPr lang="en-US" sz="1100" dirty="0">
                          <a:solidFill>
                            <a:srgbClr val="111111"/>
                          </a:solidFill>
                          <a:latin typeface="Arial" pitchFamily="34" charset="0"/>
                          <a:ea typeface="Arial" pitchFamily="34" charset="-122"/>
                          <a:cs typeface="Arial" pitchFamily="34" charset="-120"/>
                        </a:rPr>
                        <a:t>Nombre de tests exécutés</a:t>
                      </a:r>
                      <a:endParaRPr lang="en-US" sz="11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100" dirty="0">
                          <a:solidFill>
                            <a:srgbClr val="111111"/>
                          </a:solidFill>
                          <a:latin typeface="Arial" pitchFamily="34" charset="0"/>
                          <a:ea typeface="Arial" pitchFamily="34" charset="-122"/>
                          <a:cs typeface="Arial" pitchFamily="34" charset="-120"/>
                        </a:rPr>
                        <a:t>Total exécuté / total prévu</a:t>
                      </a:r>
                      <a:endParaRPr lang="en-US" sz="11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402336">
                <a:tc>
                  <a:txBody>
                    <a:bodyPr/>
                    <a:lstStyle/>
                    <a:p>
                      <a:pPr algn="l" indent="0" marL="0">
                        <a:buNone/>
                      </a:pPr>
                      <a:r>
                        <a:rPr lang="en-US" sz="1100" dirty="0">
                          <a:solidFill>
                            <a:srgbClr val="111111"/>
                          </a:solidFill>
                          <a:latin typeface="Arial" pitchFamily="34" charset="0"/>
                          <a:ea typeface="Arial" pitchFamily="34" charset="-122"/>
                          <a:cs typeface="Arial" pitchFamily="34" charset="-120"/>
                        </a:rPr>
                        <a:t>Résultats</a:t>
                      </a:r>
                      <a:endParaRPr lang="en-US" sz="11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100" dirty="0">
                          <a:solidFill>
                            <a:srgbClr val="111111"/>
                          </a:solidFill>
                          <a:latin typeface="Arial" pitchFamily="34" charset="0"/>
                          <a:ea typeface="Arial" pitchFamily="34" charset="-122"/>
                          <a:cs typeface="Arial" pitchFamily="34" charset="-120"/>
                        </a:rPr>
                        <a:t>Tests conformes / non conformes / avec réserve</a:t>
                      </a:r>
                      <a:endParaRPr lang="en-US" sz="11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402336">
                <a:tc>
                  <a:txBody>
                    <a:bodyPr/>
                    <a:lstStyle/>
                    <a:p>
                      <a:pPr algn="l" indent="0" marL="0">
                        <a:buNone/>
                      </a:pPr>
                      <a:r>
                        <a:rPr lang="en-US" sz="1100" dirty="0">
                          <a:solidFill>
                            <a:srgbClr val="111111"/>
                          </a:solidFill>
                          <a:latin typeface="Arial" pitchFamily="34" charset="0"/>
                          <a:ea typeface="Arial" pitchFamily="34" charset="-122"/>
                          <a:cs typeface="Arial" pitchFamily="34" charset="-120"/>
                        </a:rPr>
                        <a:t>Anomalies ouvertes à la signature</a:t>
                      </a:r>
                      <a:endParaRPr lang="en-US" sz="11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100" dirty="0">
                          <a:solidFill>
                            <a:srgbClr val="111111"/>
                          </a:solidFill>
                          <a:latin typeface="Arial" pitchFamily="34" charset="0"/>
                          <a:ea typeface="Arial" pitchFamily="34" charset="-122"/>
                          <a:cs typeface="Arial" pitchFamily="34" charset="-120"/>
                        </a:rPr>
                        <a:t>Liste, criticité, plan de correction</a:t>
                      </a:r>
                      <a:endParaRPr lang="en-US" sz="11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402336">
                <a:tc>
                  <a:txBody>
                    <a:bodyPr/>
                    <a:lstStyle/>
                    <a:p>
                      <a:pPr algn="l" indent="0" marL="0">
                        <a:buNone/>
                      </a:pPr>
                      <a:r>
                        <a:rPr lang="en-US" sz="1100" dirty="0">
                          <a:solidFill>
                            <a:srgbClr val="111111"/>
                          </a:solidFill>
                          <a:latin typeface="Arial" pitchFamily="34" charset="0"/>
                          <a:ea typeface="Arial" pitchFamily="34" charset="-122"/>
                          <a:cs typeface="Arial" pitchFamily="34" charset="-120"/>
                        </a:rPr>
                        <a:t>Décision</a:t>
                      </a:r>
                      <a:endParaRPr lang="en-US" sz="11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100" dirty="0">
                          <a:solidFill>
                            <a:srgbClr val="111111"/>
                          </a:solidFill>
                          <a:latin typeface="Arial" pitchFamily="34" charset="0"/>
                          <a:ea typeface="Arial" pitchFamily="34" charset="-122"/>
                          <a:cs typeface="Arial" pitchFamily="34" charset="-120"/>
                        </a:rPr>
                        <a:t>Recette prononcée / avec réserves / refusée</a:t>
                      </a:r>
                      <a:endParaRPr lang="en-US" sz="11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402336">
                <a:tc>
                  <a:txBody>
                    <a:bodyPr/>
                    <a:lstStyle/>
                    <a:p>
                      <a:pPr algn="l" indent="0" marL="0">
                        <a:buNone/>
                      </a:pPr>
                      <a:r>
                        <a:rPr lang="en-US" sz="1100" dirty="0">
                          <a:solidFill>
                            <a:srgbClr val="111111"/>
                          </a:solidFill>
                          <a:latin typeface="Arial" pitchFamily="34" charset="0"/>
                          <a:ea typeface="Arial" pitchFamily="34" charset="-122"/>
                          <a:cs typeface="Arial" pitchFamily="34" charset="-120"/>
                        </a:rPr>
                        <a:t>Signatures</a:t>
                      </a:r>
                      <a:endParaRPr lang="en-US" sz="11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100" dirty="0">
                          <a:solidFill>
                            <a:srgbClr val="111111"/>
                          </a:solidFill>
                          <a:latin typeface="Arial" pitchFamily="34" charset="0"/>
                          <a:ea typeface="Arial" pitchFamily="34" charset="-122"/>
                          <a:cs typeface="Arial" pitchFamily="34" charset="-120"/>
                        </a:rPr>
                        <a:t>Chef de projet et sponsor (ou représentant métier mandaté)</a:t>
                      </a:r>
                      <a:endParaRPr lang="en-US" sz="11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8290353" y="0"/>
            <a:ext cx="3901342" cy="6858000"/>
          </a:xfrm>
          <a:prstGeom prst="rect">
            <a:avLst/>
          </a:prstGeom>
          <a:solidFill>
            <a:srgbClr val="E9E7E9"/>
          </a:solidFill>
          <a:ln/>
        </p:spPr>
      </p:sp>
      <p:sp>
        <p:nvSpPr>
          <p:cNvPr id="3" name="Shape 1"/>
          <p:cNvSpPr/>
          <p:nvPr/>
        </p:nvSpPr>
        <p:spPr>
          <a:xfrm>
            <a:off x="10271455" y="4663440"/>
            <a:ext cx="64008" cy="64008"/>
          </a:xfrm>
          <a:prstGeom prst="ellipse">
            <a:avLst/>
          </a:prstGeom>
          <a:solidFill>
            <a:srgbClr val="1E2BFA">
              <a:alpha val="30000"/>
            </a:srgbClr>
          </a:solidFill>
          <a:ln/>
        </p:spPr>
      </p:sp>
      <p:sp>
        <p:nvSpPr>
          <p:cNvPr id="4" name="Shape 2"/>
          <p:cNvSpPr/>
          <p:nvPr/>
        </p:nvSpPr>
        <p:spPr>
          <a:xfrm>
            <a:off x="10472623" y="4663440"/>
            <a:ext cx="64008" cy="64008"/>
          </a:xfrm>
          <a:prstGeom prst="ellipse">
            <a:avLst/>
          </a:prstGeom>
          <a:solidFill>
            <a:srgbClr val="1E2BFA">
              <a:alpha val="30000"/>
            </a:srgbClr>
          </a:solidFill>
          <a:ln/>
        </p:spPr>
      </p:sp>
      <p:sp>
        <p:nvSpPr>
          <p:cNvPr id="5" name="Shape 3"/>
          <p:cNvSpPr/>
          <p:nvPr/>
        </p:nvSpPr>
        <p:spPr>
          <a:xfrm>
            <a:off x="10673791" y="4663440"/>
            <a:ext cx="64008" cy="64008"/>
          </a:xfrm>
          <a:prstGeom prst="ellipse">
            <a:avLst/>
          </a:prstGeom>
          <a:solidFill>
            <a:srgbClr val="1E2BFA">
              <a:alpha val="30000"/>
            </a:srgbClr>
          </a:solidFill>
          <a:ln/>
        </p:spPr>
      </p:sp>
      <p:sp>
        <p:nvSpPr>
          <p:cNvPr id="6" name="Shape 4"/>
          <p:cNvSpPr/>
          <p:nvPr/>
        </p:nvSpPr>
        <p:spPr>
          <a:xfrm>
            <a:off x="10271455" y="4864608"/>
            <a:ext cx="64008" cy="64008"/>
          </a:xfrm>
          <a:prstGeom prst="ellipse">
            <a:avLst/>
          </a:prstGeom>
          <a:solidFill>
            <a:srgbClr val="1E2BFA">
              <a:alpha val="30000"/>
            </a:srgbClr>
          </a:solidFill>
          <a:ln/>
        </p:spPr>
      </p:sp>
      <p:sp>
        <p:nvSpPr>
          <p:cNvPr id="7" name="Shape 5"/>
          <p:cNvSpPr/>
          <p:nvPr/>
        </p:nvSpPr>
        <p:spPr>
          <a:xfrm>
            <a:off x="10472623" y="4864608"/>
            <a:ext cx="64008" cy="64008"/>
          </a:xfrm>
          <a:prstGeom prst="ellipse">
            <a:avLst/>
          </a:prstGeom>
          <a:solidFill>
            <a:srgbClr val="1E2BFA">
              <a:alpha val="30000"/>
            </a:srgbClr>
          </a:solidFill>
          <a:ln/>
        </p:spPr>
      </p:sp>
      <p:sp>
        <p:nvSpPr>
          <p:cNvPr id="8" name="Shape 6"/>
          <p:cNvSpPr/>
          <p:nvPr/>
        </p:nvSpPr>
        <p:spPr>
          <a:xfrm>
            <a:off x="10673791" y="4864608"/>
            <a:ext cx="64008" cy="64008"/>
          </a:xfrm>
          <a:prstGeom prst="ellipse">
            <a:avLst/>
          </a:prstGeom>
          <a:solidFill>
            <a:srgbClr val="1E2BFA">
              <a:alpha val="30000"/>
            </a:srgbClr>
          </a:solidFill>
          <a:ln/>
        </p:spPr>
      </p:sp>
      <p:sp>
        <p:nvSpPr>
          <p:cNvPr id="9" name="Shape 7"/>
          <p:cNvSpPr/>
          <p:nvPr/>
        </p:nvSpPr>
        <p:spPr>
          <a:xfrm>
            <a:off x="10271455" y="5065776"/>
            <a:ext cx="64008" cy="64008"/>
          </a:xfrm>
          <a:prstGeom prst="ellipse">
            <a:avLst/>
          </a:prstGeom>
          <a:solidFill>
            <a:srgbClr val="1E2BFA">
              <a:alpha val="30000"/>
            </a:srgbClr>
          </a:solidFill>
          <a:ln/>
        </p:spPr>
      </p:sp>
      <p:sp>
        <p:nvSpPr>
          <p:cNvPr id="10" name="Shape 8"/>
          <p:cNvSpPr/>
          <p:nvPr/>
        </p:nvSpPr>
        <p:spPr>
          <a:xfrm>
            <a:off x="10472623" y="5065776"/>
            <a:ext cx="64008" cy="64008"/>
          </a:xfrm>
          <a:prstGeom prst="ellipse">
            <a:avLst/>
          </a:prstGeom>
          <a:solidFill>
            <a:srgbClr val="1E2BFA">
              <a:alpha val="30000"/>
            </a:srgbClr>
          </a:solidFill>
          <a:ln/>
        </p:spPr>
      </p:sp>
      <p:sp>
        <p:nvSpPr>
          <p:cNvPr id="11" name="Shape 9"/>
          <p:cNvSpPr/>
          <p:nvPr/>
        </p:nvSpPr>
        <p:spPr>
          <a:xfrm>
            <a:off x="10673791" y="5065776"/>
            <a:ext cx="64008" cy="64008"/>
          </a:xfrm>
          <a:prstGeom prst="ellipse">
            <a:avLst/>
          </a:prstGeom>
          <a:solidFill>
            <a:srgbClr val="1E2BFA">
              <a:alpha val="30000"/>
            </a:srgbClr>
          </a:solidFill>
          <a:ln/>
        </p:spPr>
      </p:sp>
      <p:sp>
        <p:nvSpPr>
          <p:cNvPr id="12" name="Text 10"/>
          <p:cNvSpPr/>
          <p:nvPr/>
        </p:nvSpPr>
        <p:spPr>
          <a:xfrm>
            <a:off x="640080" y="2468880"/>
            <a:ext cx="7315200" cy="365760"/>
          </a:xfrm>
          <a:prstGeom prst="rect">
            <a:avLst/>
          </a:prstGeom>
          <a:noFill/>
          <a:ln/>
        </p:spPr>
        <p:txBody>
          <a:bodyPr wrap="square" lIns="0" tIns="0" rIns="0" bIns="0" rtlCol="0" anchor="ctr"/>
          <a:lstStyle/>
          <a:p>
            <a:pPr indent="0" marL="0">
              <a:buNone/>
            </a:pPr>
            <a:r>
              <a:rPr lang="en-US" sz="1300" b="1" spc="100" kern="0" dirty="0">
                <a:solidFill>
                  <a:srgbClr val="1E2BFA"/>
                </a:solidFill>
                <a:latin typeface="Arial" pitchFamily="34" charset="0"/>
                <a:ea typeface="Arial" pitchFamily="34" charset="-122"/>
                <a:cs typeface="Arial" pitchFamily="34" charset="-120"/>
              </a:rPr>
              <a:t>PARTIE 4 · 04</a:t>
            </a:r>
            <a:endParaRPr lang="en-US" sz="1300" dirty="0"/>
          </a:p>
        </p:txBody>
      </p:sp>
      <p:sp>
        <p:nvSpPr>
          <p:cNvPr id="13" name="Text 11"/>
          <p:cNvSpPr/>
          <p:nvPr/>
        </p:nvSpPr>
        <p:spPr>
          <a:xfrm>
            <a:off x="640080" y="2926080"/>
            <a:ext cx="7498080" cy="1737360"/>
          </a:xfrm>
          <a:prstGeom prst="rect">
            <a:avLst/>
          </a:prstGeom>
          <a:noFill/>
          <a:ln/>
        </p:spPr>
        <p:txBody>
          <a:bodyPr wrap="square" lIns="0" tIns="0" rIns="0" bIns="0" rtlCol="0" anchor="ctr"/>
          <a:lstStyle/>
          <a:p>
            <a:pPr indent="0" marL="0">
              <a:lnSpc>
                <a:spcPts val="3800"/>
              </a:lnSpc>
              <a:buNone/>
            </a:pPr>
            <a:r>
              <a:rPr lang="en-US" sz="3400" b="1" dirty="0">
                <a:solidFill>
                  <a:srgbClr val="111111"/>
                </a:solidFill>
                <a:latin typeface="Arial" pitchFamily="34" charset="0"/>
                <a:ea typeface="Arial" pitchFamily="34" charset="-122"/>
                <a:cs typeface="Arial" pitchFamily="34" charset="-120"/>
              </a:rPr>
              <a:t>Capitaliser l'expérience</a:t>
            </a:r>
            <a:endParaRPr lang="en-US" sz="3400" dirty="0"/>
          </a:p>
        </p:txBody>
      </p:sp>
      <p:sp>
        <p:nvSpPr>
          <p:cNvPr id="14" name="Text 12"/>
          <p:cNvSpPr/>
          <p:nvPr/>
        </p:nvSpPr>
        <p:spPr>
          <a:xfrm>
            <a:off x="640080" y="4617720"/>
            <a:ext cx="6858000" cy="914400"/>
          </a:xfrm>
          <a:prstGeom prst="rect">
            <a:avLst/>
          </a:prstGeom>
          <a:noFill/>
          <a:ln/>
        </p:spPr>
        <p:txBody>
          <a:bodyPr wrap="square" lIns="0" tIns="0" rIns="0" bIns="0" rtlCol="0" anchor="ctr"/>
          <a:lstStyle/>
          <a:p>
            <a:pPr indent="0" marL="0">
              <a:lnSpc>
                <a:spcPts val="2000"/>
              </a:lnSpc>
              <a:buNone/>
            </a:pPr>
            <a:r>
              <a:rPr lang="en-US" sz="1500" dirty="0">
                <a:solidFill>
                  <a:srgbClr val="6B6B6B"/>
                </a:solidFill>
                <a:latin typeface="Arial" pitchFamily="34" charset="0"/>
                <a:ea typeface="Arial" pitchFamily="34" charset="-122"/>
                <a:cs typeface="Arial" pitchFamily="34" charset="-120"/>
              </a:rPr>
              <a:t>Quatre outils complémentaires, de la fiche individuelle à la revue de portefeuille trimestrielle.</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40080" y="457200"/>
            <a:ext cx="9741103" cy="320040"/>
          </a:xfrm>
          <a:prstGeom prst="rect">
            <a:avLst/>
          </a:prstGeom>
          <a:noFill/>
          <a:ln/>
        </p:spPr>
        <p:txBody>
          <a:bodyPr wrap="square" lIns="0" tIns="0" rIns="0" bIns="0" rtlCol="0" anchor="t"/>
          <a:lstStyle/>
          <a:p>
            <a:pPr algn="l" indent="0" marL="0">
              <a:buNone/>
            </a:pPr>
            <a:r>
              <a:rPr lang="en-US" sz="1200" b="1" spc="100" kern="0" dirty="0">
                <a:solidFill>
                  <a:srgbClr val="1E2BFA"/>
                </a:solidFill>
                <a:latin typeface="Arial" pitchFamily="34" charset="0"/>
                <a:ea typeface="Arial" pitchFamily="34" charset="-122"/>
                <a:cs typeface="Arial" pitchFamily="34" charset="-120"/>
              </a:rPr>
              <a:t>PARTIE 4 · 4.1</a:t>
            </a:r>
            <a:endParaRPr lang="en-US" sz="1200" dirty="0"/>
          </a:p>
        </p:txBody>
      </p:sp>
      <p:sp>
        <p:nvSpPr>
          <p:cNvPr id="3" name="Shape 1"/>
          <p:cNvSpPr/>
          <p:nvPr/>
        </p:nvSpPr>
        <p:spPr>
          <a:xfrm>
            <a:off x="10655503" y="420624"/>
            <a:ext cx="896112" cy="329184"/>
          </a:xfrm>
          <a:prstGeom prst="roundRect">
            <a:avLst>
              <a:gd name="adj" fmla="val 50000"/>
            </a:avLst>
          </a:prstGeom>
          <a:solidFill>
            <a:srgbClr val="E9E7E9"/>
          </a:solidFill>
          <a:ln/>
        </p:spPr>
      </p:sp>
      <p:sp>
        <p:nvSpPr>
          <p:cNvPr id="4" name="Text 2"/>
          <p:cNvSpPr/>
          <p:nvPr/>
        </p:nvSpPr>
        <p:spPr>
          <a:xfrm>
            <a:off x="10655503" y="420624"/>
            <a:ext cx="896112" cy="329184"/>
          </a:xfrm>
          <a:prstGeom prst="rect">
            <a:avLst/>
          </a:prstGeom>
          <a:noFill/>
          <a:ln/>
        </p:spPr>
        <p:txBody>
          <a:bodyPr wrap="square" lIns="0" tIns="0" rIns="0" bIns="0" rtlCol="0" anchor="ctr"/>
          <a:lstStyle/>
          <a:p>
            <a:pPr algn="ctr" indent="0" marL="0">
              <a:buNone/>
            </a:pPr>
            <a:r>
              <a:rPr lang="en-US" sz="1050" b="1" dirty="0">
                <a:solidFill>
                  <a:srgbClr val="1E2BFA"/>
                </a:solidFill>
                <a:latin typeface="Arial" pitchFamily="34" charset="0"/>
                <a:ea typeface="Arial" pitchFamily="34" charset="-122"/>
                <a:cs typeface="Arial" pitchFamily="34" charset="-120"/>
              </a:rPr>
              <a:t>REX</a:t>
            </a:r>
            <a:endParaRPr lang="en-US" sz="1050" dirty="0"/>
          </a:p>
        </p:txBody>
      </p:sp>
      <p:sp>
        <p:nvSpPr>
          <p:cNvPr id="5" name="Text 3"/>
          <p:cNvSpPr/>
          <p:nvPr/>
        </p:nvSpPr>
        <p:spPr>
          <a:xfrm>
            <a:off x="640080" y="868680"/>
            <a:ext cx="10911535" cy="548640"/>
          </a:xfrm>
          <a:prstGeom prst="rect">
            <a:avLst/>
          </a:prstGeom>
          <a:noFill/>
          <a:ln/>
        </p:spPr>
        <p:txBody>
          <a:bodyPr wrap="square" lIns="0" tIns="0" rIns="0" bIns="0" rtlCol="0" anchor="t"/>
          <a:lstStyle/>
          <a:p>
            <a:pPr algn="l" indent="0" marL="0">
              <a:lnSpc>
                <a:spcPts val="2700"/>
              </a:lnSpc>
              <a:buNone/>
            </a:pPr>
            <a:r>
              <a:rPr lang="en-US" sz="2500" b="1" dirty="0">
                <a:solidFill>
                  <a:srgbClr val="111111"/>
                </a:solidFill>
                <a:latin typeface="Arial" pitchFamily="34" charset="0"/>
                <a:ea typeface="Arial" pitchFamily="34" charset="-122"/>
                <a:cs typeface="Arial" pitchFamily="34" charset="-120"/>
              </a:rPr>
              <a:t>Le processus de capitalisation d'expérience</a:t>
            </a:r>
            <a:endParaRPr lang="en-US" sz="2500" dirty="0"/>
          </a:p>
        </p:txBody>
      </p:sp>
      <p:sp>
        <p:nvSpPr>
          <p:cNvPr id="6" name="Text 4"/>
          <p:cNvSpPr/>
          <p:nvPr/>
        </p:nvSpPr>
        <p:spPr>
          <a:xfrm>
            <a:off x="640080" y="1691640"/>
            <a:ext cx="10911535" cy="320040"/>
          </a:xfrm>
          <a:prstGeom prst="rect">
            <a:avLst/>
          </a:prstGeom>
          <a:noFill/>
          <a:ln/>
        </p:spPr>
        <p:txBody>
          <a:bodyPr wrap="square" lIns="0" tIns="0" rIns="0" bIns="0" rtlCol="0" anchor="t"/>
          <a:lstStyle/>
          <a:p>
            <a:pPr algn="l" indent="0" marL="0">
              <a:lnSpc>
                <a:spcPts val="1823"/>
              </a:lnSpc>
              <a:buNone/>
            </a:pPr>
            <a:r>
              <a:rPr lang="en-US" sz="1350" dirty="0">
                <a:solidFill>
                  <a:srgbClr val="6B6B6B"/>
                </a:solidFill>
                <a:latin typeface="Arial" pitchFamily="34" charset="0"/>
                <a:ea typeface="Arial" pitchFamily="34" charset="-122"/>
                <a:cs typeface="Arial" pitchFamily="34" charset="-120"/>
              </a:rPr>
              <a:t>Ces quatre outils se complètent.</a:t>
            </a:r>
            <a:endParaRPr lang="en-US" sz="1350" dirty="0"/>
          </a:p>
        </p:txBody>
      </p:sp>
      <p:sp>
        <p:nvSpPr>
          <p:cNvPr id="7" name="Shape 5"/>
          <p:cNvSpPr/>
          <p:nvPr/>
        </p:nvSpPr>
        <p:spPr>
          <a:xfrm>
            <a:off x="1661122" y="2537460"/>
            <a:ext cx="685800" cy="685800"/>
          </a:xfrm>
          <a:prstGeom prst="ellipse">
            <a:avLst/>
          </a:prstGeom>
          <a:solidFill>
            <a:srgbClr val="1E2BFA"/>
          </a:solidFill>
          <a:ln/>
        </p:spPr>
      </p:sp>
      <p:sp>
        <p:nvSpPr>
          <p:cNvPr id="8" name="Text 6"/>
          <p:cNvSpPr/>
          <p:nvPr/>
        </p:nvSpPr>
        <p:spPr>
          <a:xfrm>
            <a:off x="1661122" y="2537460"/>
            <a:ext cx="68580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Shape 7"/>
          <p:cNvSpPr/>
          <p:nvPr/>
        </p:nvSpPr>
        <p:spPr>
          <a:xfrm>
            <a:off x="2484082" y="2880360"/>
            <a:ext cx="1767764" cy="0"/>
          </a:xfrm>
          <a:prstGeom prst="line">
            <a:avLst/>
          </a:prstGeom>
          <a:noFill/>
          <a:ln w="19050">
            <a:solidFill>
              <a:srgbClr val="CCCCEB"/>
            </a:solidFill>
            <a:prstDash val="solid"/>
          </a:ln>
        </p:spPr>
      </p:sp>
      <p:sp>
        <p:nvSpPr>
          <p:cNvPr id="10" name="Text 8"/>
          <p:cNvSpPr/>
          <p:nvPr/>
        </p:nvSpPr>
        <p:spPr>
          <a:xfrm>
            <a:off x="777240" y="3406140"/>
            <a:ext cx="2453564" cy="502920"/>
          </a:xfrm>
          <a:prstGeom prst="rect">
            <a:avLst/>
          </a:prstGeom>
          <a:noFill/>
          <a:ln/>
        </p:spPr>
        <p:txBody>
          <a:bodyPr wrap="square" lIns="0" tIns="0" rIns="0" bIns="0" rtlCol="0" anchor="t"/>
          <a:lstStyle/>
          <a:p>
            <a:pPr algn="ctr" indent="0" marL="0">
              <a:lnSpc>
                <a:spcPts val="1500"/>
              </a:lnSpc>
              <a:buNone/>
            </a:pPr>
            <a:r>
              <a:rPr lang="en-US" sz="1300" b="1" dirty="0">
                <a:solidFill>
                  <a:srgbClr val="111111"/>
                </a:solidFill>
                <a:latin typeface="Arial" pitchFamily="34" charset="0"/>
                <a:ea typeface="Arial" pitchFamily="34" charset="-122"/>
                <a:cs typeface="Arial" pitchFamily="34" charset="-120"/>
              </a:rPr>
              <a:t>Fiche de capitalisation (REX)</a:t>
            </a:r>
            <a:endParaRPr lang="en-US" sz="1300" dirty="0"/>
          </a:p>
        </p:txBody>
      </p:sp>
      <p:sp>
        <p:nvSpPr>
          <p:cNvPr id="11" name="Text 9"/>
          <p:cNvSpPr/>
          <p:nvPr/>
        </p:nvSpPr>
        <p:spPr>
          <a:xfrm>
            <a:off x="777240" y="3954780"/>
            <a:ext cx="2453564" cy="1005840"/>
          </a:xfrm>
          <a:prstGeom prst="rect">
            <a:avLst/>
          </a:prstGeom>
          <a:noFill/>
          <a:ln/>
        </p:spPr>
        <p:txBody>
          <a:bodyPr wrap="square" lIns="0" tIns="0" rIns="0" bIns="0" rtlCol="0" anchor="t"/>
          <a:lstStyle/>
          <a:p>
            <a:pPr algn="ctr" indent="0" marL="0">
              <a:lnSpc>
                <a:spcPts val="1300"/>
              </a:lnSpc>
              <a:buNone/>
            </a:pPr>
            <a:r>
              <a:rPr lang="en-US" sz="1050" dirty="0">
                <a:solidFill>
                  <a:srgbClr val="6B6B6B"/>
                </a:solidFill>
                <a:latin typeface="Arial" pitchFamily="34" charset="0"/>
                <a:ea typeface="Arial" pitchFamily="34" charset="-122"/>
                <a:cs typeface="Arial" pitchFamily="34" charset="-120"/>
              </a:rPr>
              <a:t>Modèle unique, complétée en fin de projet par le chef de projet et challengée par le PMO.</a:t>
            </a:r>
            <a:endParaRPr lang="en-US" sz="1050" dirty="0"/>
          </a:p>
        </p:txBody>
      </p:sp>
      <p:sp>
        <p:nvSpPr>
          <p:cNvPr id="12" name="Shape 10"/>
          <p:cNvSpPr/>
          <p:nvPr/>
        </p:nvSpPr>
        <p:spPr>
          <a:xfrm>
            <a:off x="4389006" y="2537460"/>
            <a:ext cx="685800" cy="685800"/>
          </a:xfrm>
          <a:prstGeom prst="ellipse">
            <a:avLst/>
          </a:prstGeom>
          <a:solidFill>
            <a:srgbClr val="1E2BFA">
              <a:alpha val="88000"/>
            </a:srgbClr>
          </a:solidFill>
          <a:ln/>
        </p:spPr>
      </p:sp>
      <p:sp>
        <p:nvSpPr>
          <p:cNvPr id="13" name="Text 11"/>
          <p:cNvSpPr/>
          <p:nvPr/>
        </p:nvSpPr>
        <p:spPr>
          <a:xfrm>
            <a:off x="4389006" y="2537460"/>
            <a:ext cx="68580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Shape 12"/>
          <p:cNvSpPr/>
          <p:nvPr/>
        </p:nvSpPr>
        <p:spPr>
          <a:xfrm>
            <a:off x="5211966" y="2880360"/>
            <a:ext cx="1767764" cy="0"/>
          </a:xfrm>
          <a:prstGeom prst="line">
            <a:avLst/>
          </a:prstGeom>
          <a:noFill/>
          <a:ln w="19050">
            <a:solidFill>
              <a:srgbClr val="CCCCEB"/>
            </a:solidFill>
            <a:prstDash val="solid"/>
          </a:ln>
        </p:spPr>
      </p:sp>
      <p:sp>
        <p:nvSpPr>
          <p:cNvPr id="15" name="Text 13"/>
          <p:cNvSpPr/>
          <p:nvPr/>
        </p:nvSpPr>
        <p:spPr>
          <a:xfrm>
            <a:off x="3505124" y="3406140"/>
            <a:ext cx="2453564" cy="502920"/>
          </a:xfrm>
          <a:prstGeom prst="rect">
            <a:avLst/>
          </a:prstGeom>
          <a:noFill/>
          <a:ln/>
        </p:spPr>
        <p:txBody>
          <a:bodyPr wrap="square" lIns="0" tIns="0" rIns="0" bIns="0" rtlCol="0" anchor="t"/>
          <a:lstStyle/>
          <a:p>
            <a:pPr algn="ctr" indent="0" marL="0">
              <a:lnSpc>
                <a:spcPts val="1500"/>
              </a:lnSpc>
              <a:buNone/>
            </a:pPr>
            <a:r>
              <a:rPr lang="en-US" sz="1300" b="1" dirty="0">
                <a:solidFill>
                  <a:srgbClr val="111111"/>
                </a:solidFill>
                <a:latin typeface="Arial" pitchFamily="34" charset="0"/>
                <a:ea typeface="Arial" pitchFamily="34" charset="-122"/>
                <a:cs typeface="Arial" pitchFamily="34" charset="-120"/>
              </a:rPr>
              <a:t>Rétrospective d'équipe</a:t>
            </a:r>
            <a:endParaRPr lang="en-US" sz="1300" dirty="0"/>
          </a:p>
        </p:txBody>
      </p:sp>
      <p:sp>
        <p:nvSpPr>
          <p:cNvPr id="16" name="Text 14"/>
          <p:cNvSpPr/>
          <p:nvPr/>
        </p:nvSpPr>
        <p:spPr>
          <a:xfrm>
            <a:off x="3505124" y="3954780"/>
            <a:ext cx="2453564" cy="1005840"/>
          </a:xfrm>
          <a:prstGeom prst="rect">
            <a:avLst/>
          </a:prstGeom>
          <a:noFill/>
          <a:ln/>
        </p:spPr>
        <p:txBody>
          <a:bodyPr wrap="square" lIns="0" tIns="0" rIns="0" bIns="0" rtlCol="0" anchor="t"/>
          <a:lstStyle/>
          <a:p>
            <a:pPr algn="ctr" indent="0" marL="0">
              <a:lnSpc>
                <a:spcPts val="1300"/>
              </a:lnSpc>
              <a:buNone/>
            </a:pPr>
            <a:r>
              <a:rPr lang="en-US" sz="1050" dirty="0">
                <a:solidFill>
                  <a:srgbClr val="6B6B6B"/>
                </a:solidFill>
                <a:latin typeface="Arial" pitchFamily="34" charset="0"/>
                <a:ea typeface="Arial" pitchFamily="34" charset="-122"/>
                <a:cs typeface="Arial" pitchFamily="34" charset="-120"/>
              </a:rPr>
              <a:t>Format court « bien fonctionné / à améliorer / actions », animée par le PMO à chaque clôture.</a:t>
            </a:r>
            <a:endParaRPr lang="en-US" sz="1050" dirty="0"/>
          </a:p>
        </p:txBody>
      </p:sp>
      <p:sp>
        <p:nvSpPr>
          <p:cNvPr id="17" name="Shape 15"/>
          <p:cNvSpPr/>
          <p:nvPr/>
        </p:nvSpPr>
        <p:spPr>
          <a:xfrm>
            <a:off x="7116890" y="2537460"/>
            <a:ext cx="685800" cy="685800"/>
          </a:xfrm>
          <a:prstGeom prst="ellipse">
            <a:avLst/>
          </a:prstGeom>
          <a:solidFill>
            <a:srgbClr val="1E2BFA">
              <a:alpha val="76000"/>
            </a:srgbClr>
          </a:solidFill>
          <a:ln/>
        </p:spPr>
      </p:sp>
      <p:sp>
        <p:nvSpPr>
          <p:cNvPr id="18" name="Text 16"/>
          <p:cNvSpPr/>
          <p:nvPr/>
        </p:nvSpPr>
        <p:spPr>
          <a:xfrm>
            <a:off x="7116890" y="2537460"/>
            <a:ext cx="68580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9" name="Shape 17"/>
          <p:cNvSpPr/>
          <p:nvPr/>
        </p:nvSpPr>
        <p:spPr>
          <a:xfrm>
            <a:off x="7939850" y="2880360"/>
            <a:ext cx="1767764" cy="0"/>
          </a:xfrm>
          <a:prstGeom prst="line">
            <a:avLst/>
          </a:prstGeom>
          <a:noFill/>
          <a:ln w="19050">
            <a:solidFill>
              <a:srgbClr val="CCCCEB"/>
            </a:solidFill>
            <a:prstDash val="solid"/>
          </a:ln>
        </p:spPr>
      </p:sp>
      <p:sp>
        <p:nvSpPr>
          <p:cNvPr id="20" name="Text 18"/>
          <p:cNvSpPr/>
          <p:nvPr/>
        </p:nvSpPr>
        <p:spPr>
          <a:xfrm>
            <a:off x="6233008" y="3406140"/>
            <a:ext cx="2453564" cy="502920"/>
          </a:xfrm>
          <a:prstGeom prst="rect">
            <a:avLst/>
          </a:prstGeom>
          <a:noFill/>
          <a:ln/>
        </p:spPr>
        <p:txBody>
          <a:bodyPr wrap="square" lIns="0" tIns="0" rIns="0" bIns="0" rtlCol="0" anchor="t"/>
          <a:lstStyle/>
          <a:p>
            <a:pPr algn="ctr" indent="0" marL="0">
              <a:lnSpc>
                <a:spcPts val="1500"/>
              </a:lnSpc>
              <a:buNone/>
            </a:pPr>
            <a:r>
              <a:rPr lang="en-US" sz="1300" b="1" dirty="0">
                <a:solidFill>
                  <a:srgbClr val="111111"/>
                </a:solidFill>
                <a:latin typeface="Arial" pitchFamily="34" charset="0"/>
                <a:ea typeface="Arial" pitchFamily="34" charset="-122"/>
                <a:cs typeface="Arial" pitchFamily="34" charset="-120"/>
              </a:rPr>
              <a:t>Base de connaissances centralisée</a:t>
            </a:r>
            <a:endParaRPr lang="en-US" sz="1300" dirty="0"/>
          </a:p>
        </p:txBody>
      </p:sp>
      <p:sp>
        <p:nvSpPr>
          <p:cNvPr id="21" name="Text 19"/>
          <p:cNvSpPr/>
          <p:nvPr/>
        </p:nvSpPr>
        <p:spPr>
          <a:xfrm>
            <a:off x="6233008" y="3954780"/>
            <a:ext cx="2453564" cy="1005840"/>
          </a:xfrm>
          <a:prstGeom prst="rect">
            <a:avLst/>
          </a:prstGeom>
          <a:noFill/>
          <a:ln/>
        </p:spPr>
        <p:txBody>
          <a:bodyPr wrap="square" lIns="0" tIns="0" rIns="0" bIns="0" rtlCol="0" anchor="t"/>
          <a:lstStyle/>
          <a:p>
            <a:pPr algn="ctr" indent="0" marL="0">
              <a:lnSpc>
                <a:spcPts val="1300"/>
              </a:lnSpc>
              <a:buNone/>
            </a:pPr>
            <a:r>
              <a:rPr lang="en-US" sz="1050" dirty="0">
                <a:solidFill>
                  <a:srgbClr val="6B6B6B"/>
                </a:solidFill>
                <a:latin typeface="Arial" pitchFamily="34" charset="0"/>
                <a:ea typeface="Arial" pitchFamily="34" charset="-122"/>
                <a:cs typeface="Arial" pitchFamily="34" charset="-120"/>
              </a:rPr>
              <a:t>Fiches REX, risques clos et documents de clôture archivés, accessibles à tous les chefs de projet.</a:t>
            </a:r>
            <a:endParaRPr lang="en-US" sz="1050" dirty="0"/>
          </a:p>
        </p:txBody>
      </p:sp>
      <p:sp>
        <p:nvSpPr>
          <p:cNvPr id="22" name="Shape 20"/>
          <p:cNvSpPr/>
          <p:nvPr/>
        </p:nvSpPr>
        <p:spPr>
          <a:xfrm>
            <a:off x="9844773" y="2537460"/>
            <a:ext cx="685800" cy="685800"/>
          </a:xfrm>
          <a:prstGeom prst="ellipse">
            <a:avLst/>
          </a:prstGeom>
          <a:solidFill>
            <a:srgbClr val="1E2BFA">
              <a:alpha val="64000"/>
            </a:srgbClr>
          </a:solidFill>
          <a:ln/>
        </p:spPr>
      </p:sp>
      <p:sp>
        <p:nvSpPr>
          <p:cNvPr id="23" name="Text 21"/>
          <p:cNvSpPr/>
          <p:nvPr/>
        </p:nvSpPr>
        <p:spPr>
          <a:xfrm>
            <a:off x="9844773" y="2537460"/>
            <a:ext cx="68580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4" name="Text 22"/>
          <p:cNvSpPr/>
          <p:nvPr/>
        </p:nvSpPr>
        <p:spPr>
          <a:xfrm>
            <a:off x="8960891" y="3406140"/>
            <a:ext cx="2453564" cy="502920"/>
          </a:xfrm>
          <a:prstGeom prst="rect">
            <a:avLst/>
          </a:prstGeom>
          <a:noFill/>
          <a:ln/>
        </p:spPr>
        <p:txBody>
          <a:bodyPr wrap="square" lIns="0" tIns="0" rIns="0" bIns="0" rtlCol="0" anchor="t"/>
          <a:lstStyle/>
          <a:p>
            <a:pPr algn="ctr" indent="0" marL="0">
              <a:lnSpc>
                <a:spcPts val="1500"/>
              </a:lnSpc>
              <a:buNone/>
            </a:pPr>
            <a:r>
              <a:rPr lang="en-US" sz="1300" b="1" dirty="0">
                <a:solidFill>
                  <a:srgbClr val="111111"/>
                </a:solidFill>
                <a:latin typeface="Arial" pitchFamily="34" charset="0"/>
                <a:ea typeface="Arial" pitchFamily="34" charset="-122"/>
                <a:cs typeface="Arial" pitchFamily="34" charset="-120"/>
              </a:rPr>
              <a:t>Revue de portefeuille trimestrielle</a:t>
            </a:r>
            <a:endParaRPr lang="en-US" sz="1300" dirty="0"/>
          </a:p>
        </p:txBody>
      </p:sp>
      <p:sp>
        <p:nvSpPr>
          <p:cNvPr id="25" name="Text 23"/>
          <p:cNvSpPr/>
          <p:nvPr/>
        </p:nvSpPr>
        <p:spPr>
          <a:xfrm>
            <a:off x="8960891" y="3954780"/>
            <a:ext cx="2453564" cy="1005840"/>
          </a:xfrm>
          <a:prstGeom prst="rect">
            <a:avLst/>
          </a:prstGeom>
          <a:noFill/>
          <a:ln/>
        </p:spPr>
        <p:txBody>
          <a:bodyPr wrap="square" lIns="0" tIns="0" rIns="0" bIns="0" rtlCol="0" anchor="t"/>
          <a:lstStyle/>
          <a:p>
            <a:pPr algn="ctr" indent="0" marL="0">
              <a:lnSpc>
                <a:spcPts val="1300"/>
              </a:lnSpc>
              <a:buNone/>
            </a:pPr>
            <a:r>
              <a:rPr lang="en-US" sz="1050" dirty="0">
                <a:solidFill>
                  <a:srgbClr val="6B6B6B"/>
                </a:solidFill>
                <a:latin typeface="Arial" pitchFamily="34" charset="0"/>
                <a:ea typeface="Arial" pitchFamily="34" charset="-122"/>
                <a:cs typeface="Arial" pitchFamily="34" charset="-120"/>
              </a:rPr>
              <a:t>Le PMO présente à la Direction une synthèse des enseignements et propose une mise à jour du référentiel.</a:t>
            </a:r>
            <a:endParaRPr lang="en-US" sz="1050" dirty="0"/>
          </a:p>
        </p:txBody>
      </p:sp>
      <p:sp>
        <p:nvSpPr>
          <p:cNvPr id="26" name="Shape 24"/>
          <p:cNvSpPr/>
          <p:nvPr/>
        </p:nvSpPr>
        <p:spPr>
          <a:xfrm>
            <a:off x="640080" y="5806440"/>
            <a:ext cx="10911535" cy="0"/>
          </a:xfrm>
          <a:prstGeom prst="line">
            <a:avLst/>
          </a:prstGeom>
          <a:noFill/>
          <a:ln w="9525">
            <a:solidFill>
              <a:srgbClr val="CCCCEB"/>
            </a:solidFill>
            <a:prstDash val="dash"/>
          </a:ln>
        </p:spPr>
      </p:sp>
      <p:sp>
        <p:nvSpPr>
          <p:cNvPr id="27" name="Text 25"/>
          <p:cNvSpPr/>
          <p:nvPr/>
        </p:nvSpPr>
        <p:spPr>
          <a:xfrm>
            <a:off x="640080" y="5943600"/>
            <a:ext cx="10911535" cy="365760"/>
          </a:xfrm>
          <a:prstGeom prst="rect">
            <a:avLst/>
          </a:prstGeom>
          <a:noFill/>
          <a:ln/>
        </p:spPr>
        <p:txBody>
          <a:bodyPr wrap="square" lIns="0" tIns="0" rIns="0" bIns="0" rtlCol="0" anchor="t"/>
          <a:lstStyle/>
          <a:p>
            <a:pPr algn="ctr" indent="0" marL="0">
              <a:buNone/>
            </a:pPr>
            <a:r>
              <a:rPr lang="en-US" sz="1500" b="1" dirty="0">
                <a:solidFill>
                  <a:srgbClr val="1E2BFA"/>
                </a:solidFill>
                <a:latin typeface="Arial" pitchFamily="34" charset="0"/>
                <a:ea typeface="Arial" pitchFamily="34" charset="-122"/>
                <a:cs typeface="Arial" pitchFamily="34" charset="-120"/>
              </a:rPr>
              <a:t>↺  </a:t>
            </a:r>
            <a:pPr algn="ctr" indent="0" marL="0">
              <a:buNone/>
            </a:pPr>
            <a:r>
              <a:rPr lang="en-US" sz="1250" dirty="0">
                <a:solidFill>
                  <a:srgbClr val="6B6B6B"/>
                </a:solidFill>
                <a:latin typeface="Arial" pitchFamily="34" charset="0"/>
                <a:ea typeface="Arial" pitchFamily="34" charset="-122"/>
                <a:cs typeface="Arial" pitchFamily="34" charset="-120"/>
              </a:rPr>
              <a:t>Met à jour le référentiel documentaire et la grille de priorisation </a:t>
            </a:r>
            <a:pPr algn="ctr" indent="0" marL="0">
              <a:buNone/>
            </a:pPr>
            <a:r>
              <a:rPr lang="en-US" sz="1250" b="1" dirty="0">
                <a:solidFill>
                  <a:srgbClr val="1E2BFA"/>
                </a:solidFill>
                <a:latin typeface="Arial" pitchFamily="34" charset="0"/>
                <a:ea typeface="Arial" pitchFamily="34" charset="-122"/>
                <a:cs typeface="Arial" pitchFamily="34" charset="-120"/>
              </a:rPr>
              <a:t>(Partie 1)</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40080" y="457200"/>
            <a:ext cx="9741103" cy="320040"/>
          </a:xfrm>
          <a:prstGeom prst="rect">
            <a:avLst/>
          </a:prstGeom>
          <a:noFill/>
          <a:ln/>
        </p:spPr>
        <p:txBody>
          <a:bodyPr wrap="square" lIns="0" tIns="0" rIns="0" bIns="0" rtlCol="0" anchor="t"/>
          <a:lstStyle/>
          <a:p>
            <a:pPr algn="l" indent="0" marL="0">
              <a:buNone/>
            </a:pPr>
            <a:r>
              <a:rPr lang="en-US" sz="1200" b="1" spc="100" kern="0" dirty="0">
                <a:solidFill>
                  <a:srgbClr val="1E2BFA"/>
                </a:solidFill>
                <a:latin typeface="Arial" pitchFamily="34" charset="0"/>
                <a:ea typeface="Arial" pitchFamily="34" charset="-122"/>
                <a:cs typeface="Arial" pitchFamily="34" charset="-120"/>
              </a:rPr>
              <a:t>PARTIE 4 · 4.2</a:t>
            </a:r>
            <a:endParaRPr lang="en-US" sz="1200" dirty="0"/>
          </a:p>
        </p:txBody>
      </p:sp>
      <p:sp>
        <p:nvSpPr>
          <p:cNvPr id="3" name="Shape 1"/>
          <p:cNvSpPr/>
          <p:nvPr/>
        </p:nvSpPr>
        <p:spPr>
          <a:xfrm>
            <a:off x="10655503" y="420624"/>
            <a:ext cx="896112" cy="329184"/>
          </a:xfrm>
          <a:prstGeom prst="roundRect">
            <a:avLst>
              <a:gd name="adj" fmla="val 50000"/>
            </a:avLst>
          </a:prstGeom>
          <a:solidFill>
            <a:srgbClr val="E9E7E9"/>
          </a:solidFill>
          <a:ln/>
        </p:spPr>
      </p:sp>
      <p:sp>
        <p:nvSpPr>
          <p:cNvPr id="4" name="Text 2"/>
          <p:cNvSpPr/>
          <p:nvPr/>
        </p:nvSpPr>
        <p:spPr>
          <a:xfrm>
            <a:off x="10655503" y="420624"/>
            <a:ext cx="896112" cy="329184"/>
          </a:xfrm>
          <a:prstGeom prst="rect">
            <a:avLst/>
          </a:prstGeom>
          <a:noFill/>
          <a:ln/>
        </p:spPr>
        <p:txBody>
          <a:bodyPr wrap="square" lIns="0" tIns="0" rIns="0" bIns="0" rtlCol="0" anchor="ctr"/>
          <a:lstStyle/>
          <a:p>
            <a:pPr algn="ctr" indent="0" marL="0">
              <a:buNone/>
            </a:pPr>
            <a:r>
              <a:rPr lang="en-US" sz="1050" b="1" dirty="0">
                <a:solidFill>
                  <a:srgbClr val="1E2BFA"/>
                </a:solidFill>
                <a:latin typeface="Arial" pitchFamily="34" charset="0"/>
                <a:ea typeface="Arial" pitchFamily="34" charset="-122"/>
                <a:cs typeface="Arial" pitchFamily="34" charset="-120"/>
              </a:rPr>
              <a:t>REX</a:t>
            </a:r>
            <a:endParaRPr lang="en-US" sz="1050" dirty="0"/>
          </a:p>
        </p:txBody>
      </p:sp>
      <p:sp>
        <p:nvSpPr>
          <p:cNvPr id="5" name="Text 3"/>
          <p:cNvSpPr/>
          <p:nvPr/>
        </p:nvSpPr>
        <p:spPr>
          <a:xfrm>
            <a:off x="640080" y="868680"/>
            <a:ext cx="10911535" cy="548640"/>
          </a:xfrm>
          <a:prstGeom prst="rect">
            <a:avLst/>
          </a:prstGeom>
          <a:noFill/>
          <a:ln/>
        </p:spPr>
        <p:txBody>
          <a:bodyPr wrap="square" lIns="0" tIns="0" rIns="0" bIns="0" rtlCol="0" anchor="t"/>
          <a:lstStyle/>
          <a:p>
            <a:pPr algn="l" indent="0" marL="0">
              <a:lnSpc>
                <a:spcPts val="2700"/>
              </a:lnSpc>
              <a:buNone/>
            </a:pPr>
            <a:r>
              <a:rPr lang="en-US" sz="2500" b="1" dirty="0">
                <a:solidFill>
                  <a:srgbClr val="111111"/>
                </a:solidFill>
                <a:latin typeface="Arial" pitchFamily="34" charset="0"/>
                <a:ea typeface="Arial" pitchFamily="34" charset="-122"/>
                <a:cs typeface="Arial" pitchFamily="34" charset="-120"/>
              </a:rPr>
              <a:t>Fiche de capitalisation — modèle générique</a:t>
            </a:r>
            <a:endParaRPr lang="en-US" sz="2500" dirty="0"/>
          </a:p>
        </p:txBody>
      </p:sp>
      <p:sp>
        <p:nvSpPr>
          <p:cNvPr id="6" name="Text 4"/>
          <p:cNvSpPr/>
          <p:nvPr/>
        </p:nvSpPr>
        <p:spPr>
          <a:xfrm>
            <a:off x="640080" y="1783080"/>
            <a:ext cx="10911535" cy="274320"/>
          </a:xfrm>
          <a:prstGeom prst="rect">
            <a:avLst/>
          </a:prstGeom>
          <a:noFill/>
          <a:ln/>
        </p:spPr>
        <p:txBody>
          <a:bodyPr wrap="square" lIns="0" tIns="0" rIns="0" bIns="0" rtlCol="0" anchor="ctr"/>
          <a:lstStyle/>
          <a:p>
            <a:pPr indent="0" marL="0">
              <a:buNone/>
            </a:pPr>
            <a:r>
              <a:rPr lang="en-US" sz="1050" b="1" dirty="0">
                <a:solidFill>
                  <a:srgbClr val="1E2BFA"/>
                </a:solidFill>
                <a:latin typeface="Arial" pitchFamily="34" charset="0"/>
                <a:ea typeface="Arial" pitchFamily="34" charset="-122"/>
                <a:cs typeface="Arial" pitchFamily="34" charset="-120"/>
              </a:rPr>
              <a:t>TABLEAU 12 — FICHE DE CAPITALISATION — MODÈLE GÉNÉRIQUE</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2084832"/>
          <a:ext cx="10911535" cy="914400"/>
        </p:xfrm>
        <a:graphic>
          <a:graphicData uri="http://schemas.openxmlformats.org/drawingml/2006/table">
            <a:tbl>
              <a:tblPr/>
              <a:tblGrid>
                <a:gridCol w="3566160"/>
                <a:gridCol w="7345375"/>
              </a:tblGrid>
              <a:tr h="481889">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CHAMP</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c>
                  <a:txBody>
                    <a:bodyPr/>
                    <a:lstStyle/>
                    <a:p>
                      <a:pPr algn="l" indent="0" marL="0">
                        <a:buNone/>
                      </a:pPr>
                      <a:r>
                        <a:rPr lang="en-US" sz="1000" b="1" dirty="0">
                          <a:solidFill>
                            <a:srgbClr val="1E2BFA"/>
                          </a:solidFill>
                          <a:latin typeface="Arial" pitchFamily="34" charset="0"/>
                          <a:ea typeface="Arial" pitchFamily="34" charset="-122"/>
                          <a:cs typeface="Arial" pitchFamily="34" charset="-120"/>
                        </a:rPr>
                        <a:t>CONTENU ATTENDU</a:t>
                      </a:r>
                      <a:endParaRPr lang="en-US" sz="1000" dirty="0">
                        <a:latin typeface="Arial" charset="0"/>
                        <a:ea typeface="Arial" charset="0"/>
                        <a:cs typeface="Arial" charset="0"/>
                      </a:endParaRPr>
                    </a:p>
                  </a:txBody>
                  <a:tcPr marL="91440" marR="91440" marT="45720" marB="45720" anchor="ctr">
                    <a:lnL w="9525" cap="flat" cmpd="sng" algn="ctr">
                      <a:solidFill>
                        <a:srgbClr val="CCCCEB"/>
                      </a:solidFill>
                      <a:prstDash val="solid"/>
                      <a:round/>
                      <a:headEnd type="none" w="med" len="med"/>
                      <a:tailEnd type="none" w="med" len="med"/>
                    </a:lnL>
                    <a:lnR w="9525" cap="flat" cmpd="sng" algn="ctr">
                      <a:solidFill>
                        <a:srgbClr val="CCCCEB"/>
                      </a:solidFill>
                      <a:prstDash val="solid"/>
                      <a:round/>
                      <a:headEnd type="none" w="med" len="med"/>
                      <a:tailEnd type="none" w="med" len="med"/>
                    </a:lnR>
                    <a:lnT w="9525" cap="flat" cmpd="sng" algn="ctr">
                      <a:solidFill>
                        <a:srgbClr val="CCCCEB"/>
                      </a:solidFill>
                      <a:prstDash val="solid"/>
                      <a:round/>
                      <a:headEnd type="none" w="med" len="med"/>
                      <a:tailEnd type="none" w="med" len="med"/>
                    </a:lnT>
                    <a:lnB w="9525" cap="flat" cmpd="sng" algn="ctr">
                      <a:solidFill>
                        <a:srgbClr val="CCCCEB"/>
                      </a:solidFill>
                      <a:prstDash val="solid"/>
                      <a:round/>
                      <a:headEnd type="none" w="med" len="med"/>
                      <a:tailEnd type="none" w="med" len="med"/>
                    </a:lnB>
                    <a:solidFill>
                      <a:srgbClr val="F2F0E8"/>
                    </a:solidFill>
                  </a:tcPr>
                </a:tc>
              </a:tr>
              <a:tr h="566928">
                <a:tc>
                  <a:txBody>
                    <a:bodyPr/>
                    <a:lstStyle/>
                    <a:p>
                      <a:pPr algn="l" indent="0" marL="0">
                        <a:buNone/>
                      </a:pPr>
                      <a:r>
                        <a:rPr lang="en-US" sz="1200" dirty="0">
                          <a:solidFill>
                            <a:srgbClr val="111111"/>
                          </a:solidFill>
                          <a:latin typeface="Arial" pitchFamily="34" charset="0"/>
                          <a:ea typeface="Arial" pitchFamily="34" charset="-122"/>
                          <a:cs typeface="Arial" pitchFamily="34" charset="-120"/>
                        </a:rPr>
                        <a:t>Projet / Chef de projet</a:t>
                      </a:r>
                      <a:endParaRPr lang="en-US" sz="12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200" dirty="0">
                          <a:solidFill>
                            <a:srgbClr val="111111"/>
                          </a:solidFill>
                          <a:latin typeface="Arial" pitchFamily="34" charset="0"/>
                          <a:ea typeface="Arial" pitchFamily="34" charset="-122"/>
                          <a:cs typeface="Arial" pitchFamily="34" charset="-120"/>
                        </a:rPr>
                        <a:t>Identification du projet clos</a:t>
                      </a:r>
                      <a:endParaRPr lang="en-US" sz="12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566928">
                <a:tc>
                  <a:txBody>
                    <a:bodyPr/>
                    <a:lstStyle/>
                    <a:p>
                      <a:pPr algn="l" indent="0" marL="0">
                        <a:buNone/>
                      </a:pPr>
                      <a:r>
                        <a:rPr lang="en-US" sz="1200" dirty="0">
                          <a:solidFill>
                            <a:srgbClr val="111111"/>
                          </a:solidFill>
                          <a:latin typeface="Arial" pitchFamily="34" charset="0"/>
                          <a:ea typeface="Arial" pitchFamily="34" charset="-122"/>
                          <a:cs typeface="Arial" pitchFamily="34" charset="-120"/>
                        </a:rPr>
                        <a:t>Ce qui a bien fonctionné</a:t>
                      </a:r>
                      <a:endParaRPr lang="en-US" sz="12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200" dirty="0">
                          <a:solidFill>
                            <a:srgbClr val="111111"/>
                          </a:solidFill>
                          <a:latin typeface="Arial" pitchFamily="34" charset="0"/>
                          <a:ea typeface="Arial" pitchFamily="34" charset="-122"/>
                          <a:cs typeface="Arial" pitchFamily="34" charset="-120"/>
                        </a:rPr>
                        <a:t>Pratiques, outils ou décisions à reproduire</a:t>
                      </a:r>
                      <a:endParaRPr lang="en-US" sz="12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566928">
                <a:tc>
                  <a:txBody>
                    <a:bodyPr/>
                    <a:lstStyle/>
                    <a:p>
                      <a:pPr algn="l" indent="0" marL="0">
                        <a:buNone/>
                      </a:pPr>
                      <a:r>
                        <a:rPr lang="en-US" sz="1200" dirty="0">
                          <a:solidFill>
                            <a:srgbClr val="111111"/>
                          </a:solidFill>
                          <a:latin typeface="Arial" pitchFamily="34" charset="0"/>
                          <a:ea typeface="Arial" pitchFamily="34" charset="-122"/>
                          <a:cs typeface="Arial" pitchFamily="34" charset="-120"/>
                        </a:rPr>
                        <a:t>Ce qui peut être amélioré</a:t>
                      </a:r>
                      <a:endParaRPr lang="en-US" sz="12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200" dirty="0">
                          <a:solidFill>
                            <a:srgbClr val="111111"/>
                          </a:solidFill>
                          <a:latin typeface="Arial" pitchFamily="34" charset="0"/>
                          <a:ea typeface="Arial" pitchFamily="34" charset="-122"/>
                          <a:cs typeface="Arial" pitchFamily="34" charset="-120"/>
                        </a:rPr>
                        <a:t>Difficultés rencontrées, causes identifiées</a:t>
                      </a:r>
                      <a:endParaRPr lang="en-US" sz="12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566928">
                <a:tc>
                  <a:txBody>
                    <a:bodyPr/>
                    <a:lstStyle/>
                    <a:p>
                      <a:pPr algn="l" indent="0" marL="0">
                        <a:buNone/>
                      </a:pPr>
                      <a:r>
                        <a:rPr lang="en-US" sz="1200" dirty="0">
                          <a:solidFill>
                            <a:srgbClr val="111111"/>
                          </a:solidFill>
                          <a:latin typeface="Arial" pitchFamily="34" charset="0"/>
                          <a:ea typeface="Arial" pitchFamily="34" charset="-122"/>
                          <a:cs typeface="Arial" pitchFamily="34" charset="-120"/>
                        </a:rPr>
                        <a:t>Enseignement généralisable</a:t>
                      </a:r>
                      <a:endParaRPr lang="en-US" sz="12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200" dirty="0">
                          <a:solidFill>
                            <a:srgbClr val="111111"/>
                          </a:solidFill>
                          <a:latin typeface="Arial" pitchFamily="34" charset="0"/>
                          <a:ea typeface="Arial" pitchFamily="34" charset="-122"/>
                          <a:cs typeface="Arial" pitchFamily="34" charset="-120"/>
                        </a:rPr>
                        <a:t>Ce que ce projet apprend aux autres projets du portefeuille</a:t>
                      </a:r>
                      <a:endParaRPr lang="en-US" sz="12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r h="566928">
                <a:tc>
                  <a:txBody>
                    <a:bodyPr/>
                    <a:lstStyle/>
                    <a:p>
                      <a:pPr algn="l" indent="0" marL="0">
                        <a:buNone/>
                      </a:pPr>
                      <a:r>
                        <a:rPr lang="en-US" sz="1200" dirty="0">
                          <a:solidFill>
                            <a:srgbClr val="111111"/>
                          </a:solidFill>
                          <a:latin typeface="Arial" pitchFamily="34" charset="0"/>
                          <a:ea typeface="Arial" pitchFamily="34" charset="-122"/>
                          <a:cs typeface="Arial" pitchFamily="34" charset="-120"/>
                        </a:rPr>
                        <a:t>Action sur le référentiel / la méthode</a:t>
                      </a:r>
                      <a:endParaRPr lang="en-US" sz="12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c>
                  <a:txBody>
                    <a:bodyPr/>
                    <a:lstStyle/>
                    <a:p>
                      <a:pPr algn="l" indent="0" marL="0">
                        <a:buNone/>
                      </a:pPr>
                      <a:r>
                        <a:rPr lang="en-US" sz="1200" dirty="0">
                          <a:solidFill>
                            <a:srgbClr val="111111"/>
                          </a:solidFill>
                          <a:latin typeface="Arial" pitchFamily="34" charset="0"/>
                          <a:ea typeface="Arial" pitchFamily="34" charset="-122"/>
                          <a:cs typeface="Arial" pitchFamily="34" charset="-120"/>
                        </a:rPr>
                        <a:t>Mise à jour concrète proposée (modèle, processus, critère de priorisation)</a:t>
                      </a:r>
                      <a:endParaRPr lang="en-US" sz="1200" dirty="0">
                        <a:latin typeface="Arial" charset="0"/>
                        <a:ea typeface="Arial" charset="0"/>
                        <a:cs typeface="Arial" charset="0"/>
                      </a:endParaRPr>
                    </a:p>
                  </a:txBody>
                  <a:tcPr marL="91440" marR="91440" marT="45720" marB="45720" anchor="t">
                    <a:lnL w="6350" cap="flat" cmpd="sng" algn="ctr">
                      <a:solidFill>
                        <a:srgbClr val="CCCCEB"/>
                      </a:solidFill>
                      <a:prstDash val="solid"/>
                      <a:round/>
                      <a:headEnd type="none" w="med" len="med"/>
                      <a:tailEnd type="none" w="med" len="med"/>
                    </a:lnL>
                    <a:lnR w="6350" cap="flat" cmpd="sng" algn="ctr">
                      <a:solidFill>
                        <a:srgbClr val="CCCCEB"/>
                      </a:solidFill>
                      <a:prstDash val="solid"/>
                      <a:round/>
                      <a:headEnd type="none" w="med" len="med"/>
                      <a:tailEnd type="none" w="med" len="med"/>
                    </a:lnR>
                    <a:lnT w="6350" cap="flat" cmpd="sng" algn="ctr">
                      <a:solidFill>
                        <a:srgbClr val="CCCCEB"/>
                      </a:solidFill>
                      <a:prstDash val="solid"/>
                      <a:round/>
                      <a:headEnd type="none" w="med" len="med"/>
                      <a:tailEnd type="none" w="med" len="med"/>
                    </a:lnT>
                    <a:lnB w="6350" cap="flat" cmpd="sng" algn="ctr">
                      <a:solidFill>
                        <a:srgbClr val="CCCCEB"/>
                      </a:solidFill>
                      <a:prstDash val="solid"/>
                      <a:round/>
                      <a:headEnd type="none" w="med" len="med"/>
                      <a:tailEnd type="none" w="med" len="med"/>
                    </a:lnB>
                    <a:solidFill>
                      <a:srgbClr val="FDFAE7"/>
                    </a:solidFill>
                  </a:tcPr>
                </a:tc>
              </a:tr>
            </a:tbl>
          </a:graphicData>
        </a:graphic>
      </p:graphicFrame>
      <p:sp>
        <p:nvSpPr>
          <p:cNvPr id="8" name="Text 5"/>
          <p:cNvSpPr/>
          <p:nvPr/>
        </p:nvSpPr>
        <p:spPr>
          <a:xfrm>
            <a:off x="640080" y="5212080"/>
            <a:ext cx="10911535" cy="365760"/>
          </a:xfrm>
          <a:prstGeom prst="rect">
            <a:avLst/>
          </a:prstGeom>
          <a:noFill/>
          <a:ln/>
        </p:spPr>
        <p:txBody>
          <a:bodyPr wrap="square" lIns="0" tIns="0" rIns="0" bIns="0" rtlCol="0" anchor="t"/>
          <a:lstStyle/>
          <a:p>
            <a:pPr algn="l" indent="0" marL="0">
              <a:lnSpc>
                <a:spcPts val="1620"/>
              </a:lnSpc>
              <a:buNone/>
            </a:pPr>
            <a:r>
              <a:rPr lang="en-US" sz="1200" dirty="0">
                <a:solidFill>
                  <a:srgbClr val="6B6B6B"/>
                </a:solidFill>
                <a:latin typeface="Arial" pitchFamily="34" charset="0"/>
                <a:ea typeface="Arial" pitchFamily="34" charset="-122"/>
                <a:cs typeface="Arial" pitchFamily="34" charset="-120"/>
              </a:rPr>
              <a:t>Cette fiche sera complétée à la clôture réelle du projet Authentification forte, prévue fin octobre N.</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40080" y="457200"/>
            <a:ext cx="9009583" cy="320040"/>
          </a:xfrm>
          <a:prstGeom prst="rect">
            <a:avLst/>
          </a:prstGeom>
          <a:noFill/>
          <a:ln/>
        </p:spPr>
        <p:txBody>
          <a:bodyPr wrap="square" lIns="0" tIns="0" rIns="0" bIns="0" rtlCol="0" anchor="t"/>
          <a:lstStyle/>
          <a:p>
            <a:pPr algn="l" indent="0" marL="0">
              <a:buNone/>
            </a:pPr>
            <a:r>
              <a:rPr lang="en-US" sz="1200" b="1" spc="100" kern="0" dirty="0">
                <a:solidFill>
                  <a:srgbClr val="1E2BFA"/>
                </a:solidFill>
                <a:latin typeface="Arial" pitchFamily="34" charset="0"/>
                <a:ea typeface="Arial" pitchFamily="34" charset="-122"/>
                <a:cs typeface="Arial" pitchFamily="34" charset="-120"/>
              </a:rPr>
              <a:t>CONCLUSION</a:t>
            </a:r>
            <a:endParaRPr lang="en-US" sz="1200" dirty="0"/>
          </a:p>
        </p:txBody>
      </p:sp>
      <p:sp>
        <p:nvSpPr>
          <p:cNvPr id="3" name="Shape 1"/>
          <p:cNvSpPr/>
          <p:nvPr/>
        </p:nvSpPr>
        <p:spPr>
          <a:xfrm>
            <a:off x="9923983" y="420624"/>
            <a:ext cx="1627632" cy="329184"/>
          </a:xfrm>
          <a:prstGeom prst="roundRect">
            <a:avLst>
              <a:gd name="adj" fmla="val 50000"/>
            </a:avLst>
          </a:prstGeom>
          <a:solidFill>
            <a:srgbClr val="E9E7E9"/>
          </a:solidFill>
          <a:ln/>
        </p:spPr>
      </p:sp>
      <p:sp>
        <p:nvSpPr>
          <p:cNvPr id="4" name="Text 2"/>
          <p:cNvSpPr/>
          <p:nvPr/>
        </p:nvSpPr>
        <p:spPr>
          <a:xfrm>
            <a:off x="9923983" y="420624"/>
            <a:ext cx="1627632" cy="329184"/>
          </a:xfrm>
          <a:prstGeom prst="rect">
            <a:avLst/>
          </a:prstGeom>
          <a:noFill/>
          <a:ln/>
        </p:spPr>
        <p:txBody>
          <a:bodyPr wrap="square" lIns="0" tIns="0" rIns="0" bIns="0" rtlCol="0" anchor="ctr"/>
          <a:lstStyle/>
          <a:p>
            <a:pPr algn="ctr" indent="0" marL="0">
              <a:buNone/>
            </a:pPr>
            <a:r>
              <a:rPr lang="en-US" sz="1050" b="1" dirty="0">
                <a:solidFill>
                  <a:srgbClr val="1E2BFA"/>
                </a:solidFill>
                <a:latin typeface="Arial" pitchFamily="34" charset="0"/>
                <a:ea typeface="Arial" pitchFamily="34" charset="-122"/>
                <a:cs typeface="Arial" pitchFamily="34" charset="-120"/>
              </a:rPr>
              <a:t>Synthèse</a:t>
            </a:r>
            <a:endParaRPr lang="en-US" sz="1050" dirty="0"/>
          </a:p>
        </p:txBody>
      </p:sp>
      <p:sp>
        <p:nvSpPr>
          <p:cNvPr id="5" name="Text 3"/>
          <p:cNvSpPr/>
          <p:nvPr/>
        </p:nvSpPr>
        <p:spPr>
          <a:xfrm>
            <a:off x="640080" y="868680"/>
            <a:ext cx="10911535" cy="548640"/>
          </a:xfrm>
          <a:prstGeom prst="rect">
            <a:avLst/>
          </a:prstGeom>
          <a:noFill/>
          <a:ln/>
        </p:spPr>
        <p:txBody>
          <a:bodyPr wrap="square" lIns="0" tIns="0" rIns="0" bIns="0" rtlCol="0" anchor="t"/>
          <a:lstStyle/>
          <a:p>
            <a:pPr algn="l" indent="0" marL="0">
              <a:lnSpc>
                <a:spcPts val="2916"/>
              </a:lnSpc>
              <a:buNone/>
            </a:pPr>
            <a:r>
              <a:rPr lang="en-US" sz="2700" b="1" dirty="0">
                <a:solidFill>
                  <a:srgbClr val="111111"/>
                </a:solidFill>
                <a:latin typeface="Arial" pitchFamily="34" charset="0"/>
                <a:ea typeface="Arial" pitchFamily="34" charset="-122"/>
                <a:cs typeface="Arial" pitchFamily="34" charset="-120"/>
              </a:rPr>
              <a:t>Ce que la Direction retient</a:t>
            </a:r>
            <a:endParaRPr lang="en-US" sz="2700" dirty="0"/>
          </a:p>
        </p:txBody>
      </p:sp>
      <p:sp>
        <p:nvSpPr>
          <p:cNvPr id="6" name="Text 4"/>
          <p:cNvSpPr/>
          <p:nvPr/>
        </p:nvSpPr>
        <p:spPr>
          <a:xfrm>
            <a:off x="640080" y="1737360"/>
            <a:ext cx="10911535" cy="914400"/>
          </a:xfrm>
          <a:prstGeom prst="rect">
            <a:avLst/>
          </a:prstGeom>
          <a:noFill/>
          <a:ln/>
        </p:spPr>
        <p:txBody>
          <a:bodyPr wrap="square" lIns="0" tIns="0" rIns="0" bIns="0" rtlCol="0" anchor="t"/>
          <a:lstStyle/>
          <a:p>
            <a:pPr algn="l" indent="0" marL="0">
              <a:lnSpc>
                <a:spcPts val="1823"/>
              </a:lnSpc>
              <a:buNone/>
            </a:pPr>
            <a:r>
              <a:rPr lang="en-US" sz="1350" dirty="0">
                <a:solidFill>
                  <a:srgbClr val="6B6B6B"/>
                </a:solidFill>
                <a:latin typeface="Arial" pitchFamily="34" charset="0"/>
                <a:ea typeface="Arial" pitchFamily="34" charset="-122"/>
                <a:cs typeface="Arial" pitchFamily="34" charset="-120"/>
              </a:rPr>
              <a:t>Ce dossier met en évidence une distinction utile : ce qui a le plus de valeur pour Time'Eats n'est pas toujours ce qui doit être fait en premier. L'authentification forte en est un bon exemple, engagée moins pour sa rentabilité directe que parce qu'elle sécurise la base sur laquelle le CRM et les applications mobiles vont s'appuyer.</a:t>
            </a:r>
            <a:endParaRPr lang="en-US" sz="1350" dirty="0"/>
          </a:p>
        </p:txBody>
      </p:sp>
      <p:sp>
        <p:nvSpPr>
          <p:cNvPr id="7" name="Text 5"/>
          <p:cNvSpPr/>
          <p:nvPr/>
        </p:nvSpPr>
        <p:spPr>
          <a:xfrm>
            <a:off x="640080" y="2880360"/>
            <a:ext cx="457200" cy="685800"/>
          </a:xfrm>
          <a:prstGeom prst="rect">
            <a:avLst/>
          </a:prstGeom>
          <a:noFill/>
          <a:ln/>
        </p:spPr>
        <p:txBody>
          <a:bodyPr wrap="square" lIns="0" tIns="0" rIns="0" bIns="0" rtlCol="0" anchor="t"/>
          <a:lstStyle/>
          <a:p>
            <a:pPr indent="0" marL="0">
              <a:buNone/>
            </a:pPr>
            <a:r>
              <a:rPr lang="en-US" sz="1200" b="1" dirty="0">
                <a:solidFill>
                  <a:srgbClr val="1E2BFA"/>
                </a:solidFill>
                <a:latin typeface="Arial" pitchFamily="34" charset="0"/>
                <a:ea typeface="Arial" pitchFamily="34" charset="-122"/>
                <a:cs typeface="Arial" pitchFamily="34" charset="-120"/>
              </a:rPr>
              <a:t>01</a:t>
            </a:r>
            <a:endParaRPr lang="en-US" sz="1200" dirty="0"/>
          </a:p>
        </p:txBody>
      </p:sp>
      <p:sp>
        <p:nvSpPr>
          <p:cNvPr id="8" name="Text 6"/>
          <p:cNvSpPr/>
          <p:nvPr/>
        </p:nvSpPr>
        <p:spPr>
          <a:xfrm>
            <a:off x="1143000" y="2880360"/>
            <a:ext cx="5498424" cy="685800"/>
          </a:xfrm>
          <a:prstGeom prst="rect">
            <a:avLst/>
          </a:prstGeom>
          <a:noFill/>
          <a:ln/>
        </p:spPr>
        <p:txBody>
          <a:bodyPr wrap="square" lIns="0" tIns="0" rIns="0" bIns="0" rtlCol="0" anchor="t"/>
          <a:lstStyle/>
          <a:p>
            <a:pPr indent="0" marL="0">
              <a:lnSpc>
                <a:spcPts val="1690"/>
              </a:lnSpc>
              <a:buNone/>
            </a:pPr>
            <a:r>
              <a:rPr lang="en-US" sz="1300" dirty="0">
                <a:solidFill>
                  <a:srgbClr val="111111"/>
                </a:solidFill>
                <a:latin typeface="Arial" pitchFamily="34" charset="0"/>
                <a:ea typeface="Arial" pitchFamily="34" charset="-122"/>
                <a:cs typeface="Arial" pitchFamily="34" charset="-120"/>
              </a:rPr>
              <a:t>Un référentiel documentaire commun et un outil de priorisation objectif pour piloter les 11 projets du portefeuille</a:t>
            </a:r>
            <a:endParaRPr lang="en-US" sz="1300" dirty="0"/>
          </a:p>
        </p:txBody>
      </p:sp>
      <p:sp>
        <p:nvSpPr>
          <p:cNvPr id="9" name="Text 7"/>
          <p:cNvSpPr/>
          <p:nvPr/>
        </p:nvSpPr>
        <p:spPr>
          <a:xfrm>
            <a:off x="640080" y="3845560"/>
            <a:ext cx="457200" cy="685800"/>
          </a:xfrm>
          <a:prstGeom prst="rect">
            <a:avLst/>
          </a:prstGeom>
          <a:noFill/>
          <a:ln/>
        </p:spPr>
        <p:txBody>
          <a:bodyPr wrap="square" lIns="0" tIns="0" rIns="0" bIns="0" rtlCol="0" anchor="t"/>
          <a:lstStyle/>
          <a:p>
            <a:pPr indent="0" marL="0">
              <a:buNone/>
            </a:pPr>
            <a:r>
              <a:rPr lang="en-US" sz="1200" b="1" dirty="0">
                <a:solidFill>
                  <a:srgbClr val="1E2BFA"/>
                </a:solidFill>
                <a:latin typeface="Arial" pitchFamily="34" charset="0"/>
                <a:ea typeface="Arial" pitchFamily="34" charset="-122"/>
                <a:cs typeface="Arial" pitchFamily="34" charset="-120"/>
              </a:rPr>
              <a:t>02</a:t>
            </a:r>
            <a:endParaRPr lang="en-US" sz="1200" dirty="0"/>
          </a:p>
        </p:txBody>
      </p:sp>
      <p:sp>
        <p:nvSpPr>
          <p:cNvPr id="10" name="Text 8"/>
          <p:cNvSpPr/>
          <p:nvPr/>
        </p:nvSpPr>
        <p:spPr>
          <a:xfrm>
            <a:off x="1143000" y="3845560"/>
            <a:ext cx="5498424" cy="685800"/>
          </a:xfrm>
          <a:prstGeom prst="rect">
            <a:avLst/>
          </a:prstGeom>
          <a:noFill/>
          <a:ln/>
        </p:spPr>
        <p:txBody>
          <a:bodyPr wrap="square" lIns="0" tIns="0" rIns="0" bIns="0" rtlCol="0" anchor="t"/>
          <a:lstStyle/>
          <a:p>
            <a:pPr indent="0" marL="0">
              <a:lnSpc>
                <a:spcPts val="1690"/>
              </a:lnSpc>
              <a:buNone/>
            </a:pPr>
            <a:r>
              <a:rPr lang="en-US" sz="1300" dirty="0">
                <a:solidFill>
                  <a:srgbClr val="111111"/>
                </a:solidFill>
                <a:latin typeface="Arial" pitchFamily="34" charset="0"/>
                <a:ea typeface="Arial" pitchFamily="34" charset="-122"/>
                <a:cs typeface="Arial" pitchFamily="34" charset="-120"/>
              </a:rPr>
              <a:t>Une méthodologie de conduite de projet démontrée sur l'authentification forte, réutilisable pour les projets suivants</a:t>
            </a:r>
            <a:endParaRPr lang="en-US" sz="1300" dirty="0"/>
          </a:p>
        </p:txBody>
      </p:sp>
      <p:sp>
        <p:nvSpPr>
          <p:cNvPr id="11" name="Text 9"/>
          <p:cNvSpPr/>
          <p:nvPr/>
        </p:nvSpPr>
        <p:spPr>
          <a:xfrm>
            <a:off x="640080" y="4810760"/>
            <a:ext cx="457200" cy="685800"/>
          </a:xfrm>
          <a:prstGeom prst="rect">
            <a:avLst/>
          </a:prstGeom>
          <a:noFill/>
          <a:ln/>
        </p:spPr>
        <p:txBody>
          <a:bodyPr wrap="square" lIns="0" tIns="0" rIns="0" bIns="0" rtlCol="0" anchor="t"/>
          <a:lstStyle/>
          <a:p>
            <a:pPr indent="0" marL="0">
              <a:buNone/>
            </a:pPr>
            <a:r>
              <a:rPr lang="en-US" sz="1200" b="1" dirty="0">
                <a:solidFill>
                  <a:srgbClr val="1E2BFA"/>
                </a:solidFill>
                <a:latin typeface="Arial" pitchFamily="34" charset="0"/>
                <a:ea typeface="Arial" pitchFamily="34" charset="-122"/>
                <a:cs typeface="Arial" pitchFamily="34" charset="-120"/>
              </a:rPr>
              <a:t>03</a:t>
            </a:r>
            <a:endParaRPr lang="en-US" sz="1200" dirty="0"/>
          </a:p>
        </p:txBody>
      </p:sp>
      <p:sp>
        <p:nvSpPr>
          <p:cNvPr id="12" name="Text 10"/>
          <p:cNvSpPr/>
          <p:nvPr/>
        </p:nvSpPr>
        <p:spPr>
          <a:xfrm>
            <a:off x="1143000" y="4810760"/>
            <a:ext cx="5498424" cy="685800"/>
          </a:xfrm>
          <a:prstGeom prst="rect">
            <a:avLst/>
          </a:prstGeom>
          <a:noFill/>
          <a:ln/>
        </p:spPr>
        <p:txBody>
          <a:bodyPr wrap="square" lIns="0" tIns="0" rIns="0" bIns="0" rtlCol="0" anchor="t"/>
          <a:lstStyle/>
          <a:p>
            <a:pPr indent="0" marL="0">
              <a:lnSpc>
                <a:spcPts val="1690"/>
              </a:lnSpc>
              <a:buNone/>
            </a:pPr>
            <a:r>
              <a:rPr lang="en-US" sz="1300" dirty="0">
                <a:solidFill>
                  <a:srgbClr val="111111"/>
                </a:solidFill>
                <a:latin typeface="Arial" pitchFamily="34" charset="0"/>
                <a:ea typeface="Arial" pitchFamily="34" charset="-122"/>
                <a:cs typeface="Arial" pitchFamily="34" charset="-120"/>
              </a:rPr>
              <a:t>Des outils de clôture et de capitalisation qui garantissent que les enseignements d'un projet profitent aux suivants</a:t>
            </a:r>
            <a:endParaRPr lang="en-US" sz="1300" dirty="0"/>
          </a:p>
        </p:txBody>
      </p:sp>
      <p:sp>
        <p:nvSpPr>
          <p:cNvPr id="13" name="Shape 11"/>
          <p:cNvSpPr/>
          <p:nvPr/>
        </p:nvSpPr>
        <p:spPr>
          <a:xfrm>
            <a:off x="7007184" y="2880360"/>
            <a:ext cx="4544431" cy="1417320"/>
          </a:xfrm>
          <a:prstGeom prst="roundRect">
            <a:avLst>
              <a:gd name="adj" fmla="val 5806"/>
            </a:avLst>
          </a:prstGeom>
          <a:solidFill>
            <a:srgbClr val="E9E7E9"/>
          </a:solidFill>
          <a:ln/>
        </p:spPr>
      </p:sp>
      <p:sp>
        <p:nvSpPr>
          <p:cNvPr id="14" name="Text 12"/>
          <p:cNvSpPr/>
          <p:nvPr/>
        </p:nvSpPr>
        <p:spPr>
          <a:xfrm>
            <a:off x="7281504" y="3044952"/>
            <a:ext cx="3995791" cy="1088136"/>
          </a:xfrm>
          <a:prstGeom prst="rect">
            <a:avLst/>
          </a:prstGeom>
          <a:noFill/>
          <a:ln/>
        </p:spPr>
        <p:txBody>
          <a:bodyPr wrap="square" lIns="0" tIns="0" rIns="0" bIns="0" rtlCol="0" anchor="ctr"/>
          <a:lstStyle/>
          <a:p>
            <a:pPr indent="0" marL="0">
              <a:lnSpc>
                <a:spcPts val="2000"/>
              </a:lnSpc>
              <a:buNone/>
            </a:pPr>
            <a:r>
              <a:rPr lang="en-US" sz="1300" b="1" dirty="0">
                <a:solidFill>
                  <a:srgbClr val="1E2BFA"/>
                </a:solidFill>
                <a:latin typeface="Arial" pitchFamily="34" charset="0"/>
                <a:ea typeface="Arial" pitchFamily="34" charset="-122"/>
                <a:cs typeface="Arial" pitchFamily="34" charset="-120"/>
              </a:rPr>
              <a:t>Demande au COPIL — </a:t>
            </a:r>
            <a:pPr indent="0" marL="0">
              <a:lnSpc>
                <a:spcPts val="2000"/>
              </a:lnSpc>
              <a:buNone/>
            </a:pPr>
            <a:r>
              <a:rPr lang="en-US" sz="1300" dirty="0">
                <a:solidFill>
                  <a:srgbClr val="111111"/>
                </a:solidFill>
                <a:latin typeface="Arial" pitchFamily="34" charset="0"/>
                <a:ea typeface="Arial" pitchFamily="34" charset="-122"/>
                <a:cs typeface="Arial" pitchFamily="34" charset="-120"/>
              </a:rPr>
              <a:t>valider l'usage systématique de ce référentiel pour les prochains projets lancés par la DSI.</a:t>
            </a:r>
            <a:endParaRPr lang="en-US" sz="1300" dirty="0"/>
          </a:p>
        </p:txBody>
      </p:sp>
      <p:sp>
        <p:nvSpPr>
          <p:cNvPr id="15" name="Text 13"/>
          <p:cNvSpPr/>
          <p:nvPr/>
        </p:nvSpPr>
        <p:spPr>
          <a:xfrm>
            <a:off x="7007184" y="4526280"/>
            <a:ext cx="4544431" cy="1280160"/>
          </a:xfrm>
          <a:prstGeom prst="rect">
            <a:avLst/>
          </a:prstGeom>
          <a:noFill/>
          <a:ln/>
        </p:spPr>
        <p:txBody>
          <a:bodyPr wrap="square" lIns="0" tIns="0" rIns="0" bIns="0" rtlCol="0" anchor="t"/>
          <a:lstStyle/>
          <a:p>
            <a:pPr indent="0" marL="0">
              <a:lnSpc>
                <a:spcPts val="1600"/>
              </a:lnSpc>
              <a:buNone/>
            </a:pPr>
            <a:r>
              <a:rPr lang="en-US" sz="1200" i="1" dirty="0">
                <a:solidFill>
                  <a:srgbClr val="6B6B6B"/>
                </a:solidFill>
                <a:latin typeface="Arial" pitchFamily="34" charset="0"/>
                <a:ea typeface="Arial" pitchFamily="34" charset="-122"/>
                <a:cs typeface="Arial" pitchFamily="34" charset="-120"/>
              </a:rPr>
              <a:t>Time'Eats vise un million de nouveaux clients et dix mille partenaires en deux ans : un objectif qui n'est pas tenable si chaque chef de projet continue de gérer son projet à sa façon.</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40080" y="457200"/>
            <a:ext cx="7253935" cy="320040"/>
          </a:xfrm>
          <a:prstGeom prst="rect">
            <a:avLst/>
          </a:prstGeom>
          <a:noFill/>
          <a:ln/>
        </p:spPr>
        <p:txBody>
          <a:bodyPr wrap="square" lIns="0" tIns="0" rIns="0" bIns="0" rtlCol="0" anchor="t"/>
          <a:lstStyle/>
          <a:p>
            <a:pPr algn="l" indent="0" marL="0">
              <a:buNone/>
            </a:pPr>
            <a:r>
              <a:rPr lang="en-US" sz="1200" b="1" spc="100" kern="0" dirty="0">
                <a:solidFill>
                  <a:srgbClr val="1E2BFA"/>
                </a:solidFill>
                <a:latin typeface="Arial" pitchFamily="34" charset="0"/>
                <a:ea typeface="Arial" pitchFamily="34" charset="-122"/>
                <a:cs typeface="Arial" pitchFamily="34" charset="-120"/>
              </a:rPr>
              <a:t>CONCLUSION</a:t>
            </a:r>
            <a:endParaRPr lang="en-US" sz="1200" dirty="0"/>
          </a:p>
        </p:txBody>
      </p:sp>
      <p:sp>
        <p:nvSpPr>
          <p:cNvPr id="3" name="Shape 1"/>
          <p:cNvSpPr/>
          <p:nvPr/>
        </p:nvSpPr>
        <p:spPr>
          <a:xfrm>
            <a:off x="8168335" y="420624"/>
            <a:ext cx="3383280" cy="329184"/>
          </a:xfrm>
          <a:prstGeom prst="roundRect">
            <a:avLst>
              <a:gd name="adj" fmla="val 50000"/>
            </a:avLst>
          </a:prstGeom>
          <a:solidFill>
            <a:srgbClr val="E9E7E9"/>
          </a:solidFill>
          <a:ln/>
        </p:spPr>
      </p:sp>
      <p:sp>
        <p:nvSpPr>
          <p:cNvPr id="4" name="Text 2"/>
          <p:cNvSpPr/>
          <p:nvPr/>
        </p:nvSpPr>
        <p:spPr>
          <a:xfrm>
            <a:off x="8168335" y="420624"/>
            <a:ext cx="3383280" cy="329184"/>
          </a:xfrm>
          <a:prstGeom prst="rect">
            <a:avLst/>
          </a:prstGeom>
          <a:noFill/>
          <a:ln/>
        </p:spPr>
        <p:txBody>
          <a:bodyPr wrap="square" lIns="0" tIns="0" rIns="0" bIns="0" rtlCol="0" anchor="ctr"/>
          <a:lstStyle/>
          <a:p>
            <a:pPr algn="ctr" indent="0" marL="0">
              <a:buNone/>
            </a:pPr>
            <a:r>
              <a:rPr lang="en-US" sz="1050" b="1" dirty="0">
                <a:solidFill>
                  <a:srgbClr val="1E2BFA"/>
                </a:solidFill>
                <a:latin typeface="Arial" pitchFamily="34" charset="0"/>
                <a:ea typeface="Arial" pitchFamily="34" charset="-122"/>
                <a:cs typeface="Arial" pitchFamily="34" charset="-120"/>
              </a:rPr>
              <a:t>Organisation &amp; bilan</a:t>
            </a:r>
            <a:endParaRPr lang="en-US" sz="1050" dirty="0"/>
          </a:p>
        </p:txBody>
      </p:sp>
      <p:sp>
        <p:nvSpPr>
          <p:cNvPr id="5" name="Text 3"/>
          <p:cNvSpPr/>
          <p:nvPr/>
        </p:nvSpPr>
        <p:spPr>
          <a:xfrm>
            <a:off x="640080" y="868680"/>
            <a:ext cx="10911535" cy="502920"/>
          </a:xfrm>
          <a:prstGeom prst="rect">
            <a:avLst/>
          </a:prstGeom>
          <a:noFill/>
          <a:ln/>
        </p:spPr>
        <p:txBody>
          <a:bodyPr wrap="square" lIns="0" tIns="0" rIns="0" bIns="0" rtlCol="0" anchor="t"/>
          <a:lstStyle/>
          <a:p>
            <a:pPr algn="l" indent="0" marL="0">
              <a:lnSpc>
                <a:spcPts val="2592"/>
              </a:lnSpc>
              <a:buNone/>
            </a:pPr>
            <a:r>
              <a:rPr lang="en-US" sz="2400" b="1" dirty="0">
                <a:solidFill>
                  <a:srgbClr val="111111"/>
                </a:solidFill>
                <a:latin typeface="Arial" pitchFamily="34" charset="0"/>
                <a:ea typeface="Arial" pitchFamily="34" charset="-122"/>
                <a:cs typeface="Arial" pitchFamily="34" charset="-120"/>
              </a:rPr>
              <a:t>Organisation du groupe et bilan</a:t>
            </a:r>
            <a:endParaRPr lang="en-US" sz="2400" dirty="0"/>
          </a:p>
        </p:txBody>
      </p:sp>
      <p:sp>
        <p:nvSpPr>
          <p:cNvPr id="6" name="Text 4"/>
          <p:cNvSpPr/>
          <p:nvPr/>
        </p:nvSpPr>
        <p:spPr>
          <a:xfrm>
            <a:off x="640080" y="1691640"/>
            <a:ext cx="10911535" cy="274320"/>
          </a:xfrm>
          <a:prstGeom prst="rect">
            <a:avLst/>
          </a:prstGeom>
          <a:noFill/>
          <a:ln/>
        </p:spPr>
        <p:txBody>
          <a:bodyPr wrap="square" lIns="0" tIns="0" rIns="0" bIns="0" rtlCol="0" anchor="ctr"/>
          <a:lstStyle/>
          <a:p>
            <a:pPr indent="0" marL="0">
              <a:buNone/>
            </a:pPr>
            <a:r>
              <a:rPr lang="en-US" sz="1100" b="1" dirty="0">
                <a:solidFill>
                  <a:srgbClr val="1E2BFA"/>
                </a:solidFill>
                <a:latin typeface="Arial" pitchFamily="34" charset="0"/>
                <a:ea typeface="Arial" pitchFamily="34" charset="-122"/>
                <a:cs typeface="Arial" pitchFamily="34" charset="-120"/>
              </a:rPr>
              <a:t>ORGANISATION RETENUE SUR LES 4 JOURS DU PROJET COLLABORATIF</a:t>
            </a:r>
            <a:endParaRPr lang="en-US" sz="1100" dirty="0"/>
          </a:p>
        </p:txBody>
      </p:sp>
      <p:sp>
        <p:nvSpPr>
          <p:cNvPr id="7" name="Shape 5"/>
          <p:cNvSpPr/>
          <p:nvPr/>
        </p:nvSpPr>
        <p:spPr>
          <a:xfrm>
            <a:off x="640080" y="2057400"/>
            <a:ext cx="2556434" cy="1371600"/>
          </a:xfrm>
          <a:prstGeom prst="roundRect">
            <a:avLst>
              <a:gd name="adj" fmla="val 5333"/>
            </a:avLst>
          </a:prstGeom>
          <a:solidFill>
            <a:srgbClr val="F2F0E8"/>
          </a:solidFill>
          <a:ln w="12700">
            <a:solidFill>
              <a:srgbClr val="CCCCEB"/>
            </a:solidFill>
            <a:prstDash val="solid"/>
          </a:ln>
        </p:spPr>
      </p:sp>
      <p:sp>
        <p:nvSpPr>
          <p:cNvPr id="8" name="Text 6"/>
          <p:cNvSpPr/>
          <p:nvPr/>
        </p:nvSpPr>
        <p:spPr>
          <a:xfrm>
            <a:off x="786384" y="2176272"/>
            <a:ext cx="2263826" cy="274320"/>
          </a:xfrm>
          <a:prstGeom prst="rect">
            <a:avLst/>
          </a:prstGeom>
          <a:noFill/>
          <a:ln/>
        </p:spPr>
        <p:txBody>
          <a:bodyPr wrap="square" lIns="0" tIns="0" rIns="0" bIns="0" rtlCol="0" anchor="ctr"/>
          <a:lstStyle/>
          <a:p>
            <a:pPr indent="0" marL="0">
              <a:buNone/>
            </a:pPr>
            <a:r>
              <a:rPr lang="en-US" sz="1300" b="1" dirty="0">
                <a:solidFill>
                  <a:srgbClr val="1E2BFA"/>
                </a:solidFill>
                <a:latin typeface="Arial" pitchFamily="34" charset="0"/>
                <a:ea typeface="Arial" pitchFamily="34" charset="-122"/>
                <a:cs typeface="Arial" pitchFamily="34" charset="-120"/>
              </a:rPr>
              <a:t>J1</a:t>
            </a:r>
            <a:endParaRPr lang="en-US" sz="1300" dirty="0"/>
          </a:p>
        </p:txBody>
      </p:sp>
      <p:sp>
        <p:nvSpPr>
          <p:cNvPr id="9" name="Text 7"/>
          <p:cNvSpPr/>
          <p:nvPr/>
        </p:nvSpPr>
        <p:spPr>
          <a:xfrm>
            <a:off x="786384" y="2478024"/>
            <a:ext cx="2263826" cy="822960"/>
          </a:xfrm>
          <a:prstGeom prst="rect">
            <a:avLst/>
          </a:prstGeom>
          <a:noFill/>
          <a:ln/>
        </p:spPr>
        <p:txBody>
          <a:bodyPr wrap="square" lIns="0" tIns="0" rIns="0" bIns="0" rtlCol="0" anchor="t"/>
          <a:lstStyle/>
          <a:p>
            <a:pPr indent="0" marL="0">
              <a:lnSpc>
                <a:spcPts val="1250"/>
              </a:lnSpc>
              <a:buNone/>
            </a:pPr>
            <a:r>
              <a:rPr lang="en-US" sz="1000" dirty="0">
                <a:solidFill>
                  <a:srgbClr val="6B6B6B"/>
                </a:solidFill>
                <a:latin typeface="Arial" pitchFamily="34" charset="0"/>
                <a:ea typeface="Arial" pitchFamily="34" charset="-122"/>
                <a:cs typeface="Arial" pitchFamily="34" charset="-120"/>
              </a:rPr>
              <a:t>Cadrage du sujet, répartition des rôles, démarrage du référentiel et du tableau de bord de portefeuille</a:t>
            </a:r>
            <a:endParaRPr lang="en-US" sz="1000" dirty="0"/>
          </a:p>
        </p:txBody>
      </p:sp>
      <p:sp>
        <p:nvSpPr>
          <p:cNvPr id="10" name="Shape 8"/>
          <p:cNvSpPr/>
          <p:nvPr/>
        </p:nvSpPr>
        <p:spPr>
          <a:xfrm>
            <a:off x="3425114" y="2057400"/>
            <a:ext cx="2556434" cy="1371600"/>
          </a:xfrm>
          <a:prstGeom prst="roundRect">
            <a:avLst>
              <a:gd name="adj" fmla="val 5333"/>
            </a:avLst>
          </a:prstGeom>
          <a:solidFill>
            <a:srgbClr val="F2F0E8"/>
          </a:solidFill>
          <a:ln w="12700">
            <a:solidFill>
              <a:srgbClr val="CCCCEB"/>
            </a:solidFill>
            <a:prstDash val="solid"/>
          </a:ln>
        </p:spPr>
      </p:sp>
      <p:sp>
        <p:nvSpPr>
          <p:cNvPr id="11" name="Text 9"/>
          <p:cNvSpPr/>
          <p:nvPr/>
        </p:nvSpPr>
        <p:spPr>
          <a:xfrm>
            <a:off x="3571418" y="2176272"/>
            <a:ext cx="2263826" cy="274320"/>
          </a:xfrm>
          <a:prstGeom prst="rect">
            <a:avLst/>
          </a:prstGeom>
          <a:noFill/>
          <a:ln/>
        </p:spPr>
        <p:txBody>
          <a:bodyPr wrap="square" lIns="0" tIns="0" rIns="0" bIns="0" rtlCol="0" anchor="ctr"/>
          <a:lstStyle/>
          <a:p>
            <a:pPr indent="0" marL="0">
              <a:buNone/>
            </a:pPr>
            <a:r>
              <a:rPr lang="en-US" sz="1300" b="1" dirty="0">
                <a:solidFill>
                  <a:srgbClr val="1E2BFA"/>
                </a:solidFill>
                <a:latin typeface="Arial" pitchFamily="34" charset="0"/>
                <a:ea typeface="Arial" pitchFamily="34" charset="-122"/>
                <a:cs typeface="Arial" pitchFamily="34" charset="-120"/>
              </a:rPr>
              <a:t>J2</a:t>
            </a:r>
            <a:endParaRPr lang="en-US" sz="1300" dirty="0"/>
          </a:p>
        </p:txBody>
      </p:sp>
      <p:sp>
        <p:nvSpPr>
          <p:cNvPr id="12" name="Text 10"/>
          <p:cNvSpPr/>
          <p:nvPr/>
        </p:nvSpPr>
        <p:spPr>
          <a:xfrm>
            <a:off x="3571418" y="2478024"/>
            <a:ext cx="2263826" cy="822960"/>
          </a:xfrm>
          <a:prstGeom prst="rect">
            <a:avLst/>
          </a:prstGeom>
          <a:noFill/>
          <a:ln/>
        </p:spPr>
        <p:txBody>
          <a:bodyPr wrap="square" lIns="0" tIns="0" rIns="0" bIns="0" rtlCol="0" anchor="t"/>
          <a:lstStyle/>
          <a:p>
            <a:pPr indent="0" marL="0">
              <a:lnSpc>
                <a:spcPts val="1250"/>
              </a:lnSpc>
              <a:buNone/>
            </a:pPr>
            <a:r>
              <a:rPr lang="en-US" sz="1000" dirty="0">
                <a:solidFill>
                  <a:srgbClr val="6B6B6B"/>
                </a:solidFill>
                <a:latin typeface="Arial" pitchFamily="34" charset="0"/>
                <a:ea typeface="Arial" pitchFamily="34" charset="-122"/>
                <a:cs typeface="Arial" pitchFamily="34" charset="-120"/>
              </a:rPr>
              <a:t>Finalisation de la Partie 1, construction du plan de management du projet (Partie 2)</a:t>
            </a:r>
            <a:endParaRPr lang="en-US" sz="1000" dirty="0"/>
          </a:p>
        </p:txBody>
      </p:sp>
      <p:sp>
        <p:nvSpPr>
          <p:cNvPr id="13" name="Shape 11"/>
          <p:cNvSpPr/>
          <p:nvPr/>
        </p:nvSpPr>
        <p:spPr>
          <a:xfrm>
            <a:off x="6210148" y="2057400"/>
            <a:ext cx="2556434" cy="1371600"/>
          </a:xfrm>
          <a:prstGeom prst="roundRect">
            <a:avLst>
              <a:gd name="adj" fmla="val 5333"/>
            </a:avLst>
          </a:prstGeom>
          <a:solidFill>
            <a:srgbClr val="F2F0E8"/>
          </a:solidFill>
          <a:ln w="12700">
            <a:solidFill>
              <a:srgbClr val="CCCCEB"/>
            </a:solidFill>
            <a:prstDash val="solid"/>
          </a:ln>
        </p:spPr>
      </p:sp>
      <p:sp>
        <p:nvSpPr>
          <p:cNvPr id="14" name="Text 12"/>
          <p:cNvSpPr/>
          <p:nvPr/>
        </p:nvSpPr>
        <p:spPr>
          <a:xfrm>
            <a:off x="6356452" y="2176272"/>
            <a:ext cx="2263826" cy="274320"/>
          </a:xfrm>
          <a:prstGeom prst="rect">
            <a:avLst/>
          </a:prstGeom>
          <a:noFill/>
          <a:ln/>
        </p:spPr>
        <p:txBody>
          <a:bodyPr wrap="square" lIns="0" tIns="0" rIns="0" bIns="0" rtlCol="0" anchor="ctr"/>
          <a:lstStyle/>
          <a:p>
            <a:pPr indent="0" marL="0">
              <a:buNone/>
            </a:pPr>
            <a:r>
              <a:rPr lang="en-US" sz="1300" b="1" dirty="0">
                <a:solidFill>
                  <a:srgbClr val="1E2BFA"/>
                </a:solidFill>
                <a:latin typeface="Arial" pitchFamily="34" charset="0"/>
                <a:ea typeface="Arial" pitchFamily="34" charset="-122"/>
                <a:cs typeface="Arial" pitchFamily="34" charset="-120"/>
              </a:rPr>
              <a:t>J3</a:t>
            </a:r>
            <a:endParaRPr lang="en-US" sz="1300" dirty="0"/>
          </a:p>
        </p:txBody>
      </p:sp>
      <p:sp>
        <p:nvSpPr>
          <p:cNvPr id="15" name="Text 13"/>
          <p:cNvSpPr/>
          <p:nvPr/>
        </p:nvSpPr>
        <p:spPr>
          <a:xfrm>
            <a:off x="6356452" y="2478024"/>
            <a:ext cx="2263826" cy="822960"/>
          </a:xfrm>
          <a:prstGeom prst="rect">
            <a:avLst/>
          </a:prstGeom>
          <a:noFill/>
          <a:ln/>
        </p:spPr>
        <p:txBody>
          <a:bodyPr wrap="square" lIns="0" tIns="0" rIns="0" bIns="0" rtlCol="0" anchor="t"/>
          <a:lstStyle/>
          <a:p>
            <a:pPr indent="0" marL="0">
              <a:lnSpc>
                <a:spcPts val="1250"/>
              </a:lnSpc>
              <a:buNone/>
            </a:pPr>
            <a:r>
              <a:rPr lang="en-US" sz="1000" dirty="0">
                <a:solidFill>
                  <a:srgbClr val="6B6B6B"/>
                </a:solidFill>
                <a:latin typeface="Arial" pitchFamily="34" charset="0"/>
                <a:ea typeface="Arial" pitchFamily="34" charset="-122"/>
                <a:cs typeface="Arial" pitchFamily="34" charset="-120"/>
              </a:rPr>
              <a:t>Tableau de bord projet, documents de clôture, retour d'expérience (Parties 2 à 4)</a:t>
            </a:r>
            <a:endParaRPr lang="en-US" sz="1000" dirty="0"/>
          </a:p>
        </p:txBody>
      </p:sp>
      <p:sp>
        <p:nvSpPr>
          <p:cNvPr id="16" name="Shape 14"/>
          <p:cNvSpPr/>
          <p:nvPr/>
        </p:nvSpPr>
        <p:spPr>
          <a:xfrm>
            <a:off x="8995181" y="2057400"/>
            <a:ext cx="2556434" cy="1371600"/>
          </a:xfrm>
          <a:prstGeom prst="roundRect">
            <a:avLst>
              <a:gd name="adj" fmla="val 5333"/>
            </a:avLst>
          </a:prstGeom>
          <a:solidFill>
            <a:srgbClr val="F2F0E8"/>
          </a:solidFill>
          <a:ln w="12700">
            <a:solidFill>
              <a:srgbClr val="CCCCEB"/>
            </a:solidFill>
            <a:prstDash val="solid"/>
          </a:ln>
        </p:spPr>
      </p:sp>
      <p:sp>
        <p:nvSpPr>
          <p:cNvPr id="17" name="Text 15"/>
          <p:cNvSpPr/>
          <p:nvPr/>
        </p:nvSpPr>
        <p:spPr>
          <a:xfrm>
            <a:off x="9141485" y="2176272"/>
            <a:ext cx="2263826" cy="274320"/>
          </a:xfrm>
          <a:prstGeom prst="rect">
            <a:avLst/>
          </a:prstGeom>
          <a:noFill/>
          <a:ln/>
        </p:spPr>
        <p:txBody>
          <a:bodyPr wrap="square" lIns="0" tIns="0" rIns="0" bIns="0" rtlCol="0" anchor="ctr"/>
          <a:lstStyle/>
          <a:p>
            <a:pPr indent="0" marL="0">
              <a:buNone/>
            </a:pPr>
            <a:r>
              <a:rPr lang="en-US" sz="1300" b="1" dirty="0">
                <a:solidFill>
                  <a:srgbClr val="1E2BFA"/>
                </a:solidFill>
                <a:latin typeface="Arial" pitchFamily="34" charset="0"/>
                <a:ea typeface="Arial" pitchFamily="34" charset="-122"/>
                <a:cs typeface="Arial" pitchFamily="34" charset="-120"/>
              </a:rPr>
              <a:t>J4</a:t>
            </a:r>
            <a:endParaRPr lang="en-US" sz="1300" dirty="0"/>
          </a:p>
        </p:txBody>
      </p:sp>
      <p:sp>
        <p:nvSpPr>
          <p:cNvPr id="18" name="Text 16"/>
          <p:cNvSpPr/>
          <p:nvPr/>
        </p:nvSpPr>
        <p:spPr>
          <a:xfrm>
            <a:off x="9141485" y="2478024"/>
            <a:ext cx="2263826" cy="822960"/>
          </a:xfrm>
          <a:prstGeom prst="rect">
            <a:avLst/>
          </a:prstGeom>
          <a:noFill/>
          <a:ln/>
        </p:spPr>
        <p:txBody>
          <a:bodyPr wrap="square" lIns="0" tIns="0" rIns="0" bIns="0" rtlCol="0" anchor="t"/>
          <a:lstStyle/>
          <a:p>
            <a:pPr indent="0" marL="0">
              <a:lnSpc>
                <a:spcPts val="1250"/>
              </a:lnSpc>
              <a:buNone/>
            </a:pPr>
            <a:r>
              <a:rPr lang="en-US" sz="1000" dirty="0">
                <a:solidFill>
                  <a:srgbClr val="6B6B6B"/>
                </a:solidFill>
                <a:latin typeface="Arial" pitchFamily="34" charset="0"/>
                <a:ea typeface="Arial" pitchFamily="34" charset="-122"/>
                <a:cs typeface="Arial" pitchFamily="34" charset="-120"/>
              </a:rPr>
              <a:t>Préparation et répétition de la soutenance</a:t>
            </a:r>
            <a:endParaRPr lang="en-US" sz="1000" dirty="0"/>
          </a:p>
        </p:txBody>
      </p:sp>
      <p:sp>
        <p:nvSpPr>
          <p:cNvPr id="19" name="Shape 17"/>
          <p:cNvSpPr/>
          <p:nvPr/>
        </p:nvSpPr>
        <p:spPr>
          <a:xfrm>
            <a:off x="640080" y="3703320"/>
            <a:ext cx="5272888" cy="1600200"/>
          </a:xfrm>
          <a:prstGeom prst="roundRect">
            <a:avLst>
              <a:gd name="adj" fmla="val 5143"/>
            </a:avLst>
          </a:prstGeom>
          <a:solidFill>
            <a:srgbClr val="F2F0E8"/>
          </a:solidFill>
          <a:ln w="12700">
            <a:solidFill>
              <a:srgbClr val="CCCCEB"/>
            </a:solidFill>
            <a:prstDash val="solid"/>
          </a:ln>
        </p:spPr>
      </p:sp>
      <p:sp>
        <p:nvSpPr>
          <p:cNvPr id="20" name="Text 18"/>
          <p:cNvSpPr/>
          <p:nvPr/>
        </p:nvSpPr>
        <p:spPr>
          <a:xfrm>
            <a:off x="841248" y="3849624"/>
            <a:ext cx="4870552" cy="502920"/>
          </a:xfrm>
          <a:prstGeom prst="rect">
            <a:avLst/>
          </a:prstGeom>
          <a:noFill/>
          <a:ln/>
        </p:spPr>
        <p:txBody>
          <a:bodyPr wrap="square" lIns="0" tIns="0" rIns="0" bIns="0" rtlCol="0" anchor="t"/>
          <a:lstStyle/>
          <a:p>
            <a:pPr indent="0" marL="0">
              <a:lnSpc>
                <a:spcPts val="1552"/>
              </a:lnSpc>
              <a:buNone/>
            </a:pPr>
            <a:r>
              <a:rPr lang="en-US" sz="1350" b="1" dirty="0">
                <a:solidFill>
                  <a:srgbClr val="111111"/>
                </a:solidFill>
                <a:latin typeface="Arial" pitchFamily="34" charset="0"/>
                <a:ea typeface="Arial" pitchFamily="34" charset="-122"/>
                <a:cs typeface="Arial" pitchFamily="34" charset="-120"/>
              </a:rPr>
              <a:t>Points forts (à personnaliser par le groupe)</a:t>
            </a:r>
            <a:endParaRPr lang="en-US" sz="1350" dirty="0"/>
          </a:p>
        </p:txBody>
      </p:sp>
      <p:sp>
        <p:nvSpPr>
          <p:cNvPr id="21" name="Text 19"/>
          <p:cNvSpPr/>
          <p:nvPr/>
        </p:nvSpPr>
        <p:spPr>
          <a:xfrm>
            <a:off x="841248" y="4379976"/>
            <a:ext cx="4870552" cy="777240"/>
          </a:xfrm>
          <a:prstGeom prst="rect">
            <a:avLst/>
          </a:prstGeom>
          <a:noFill/>
          <a:ln/>
        </p:spPr>
        <p:txBody>
          <a:bodyPr wrap="square" lIns="0" tIns="0" rIns="0" bIns="0" rtlCol="0" anchor="t"/>
          <a:lstStyle/>
          <a:p>
            <a:pPr marL="177800" indent="-177800">
              <a:lnSpc>
                <a:spcPts val="1472"/>
              </a:lnSpc>
              <a:spcAft>
                <a:spcPts val="600"/>
              </a:spcAft>
              <a:buSzPct val="100000"/>
              <a:buChar char="•"/>
            </a:pPr>
            <a:r>
              <a:rPr lang="en-US" sz="1150" dirty="0">
                <a:solidFill>
                  <a:srgbClr val="6B6B6B"/>
                </a:solidFill>
                <a:latin typeface="Arial" pitchFamily="34" charset="0"/>
                <a:ea typeface="Arial" pitchFamily="34" charset="-122"/>
                <a:cs typeface="Arial" pitchFamily="34" charset="-120"/>
              </a:rPr>
              <a:t>Un référentiel et une méthode de priorisation qui s'appliquent à tout le portefeuille, pas seulement au projet choisi</a:t>
            </a:r>
            <a:endParaRPr lang="en-US" sz="1150" dirty="0"/>
          </a:p>
          <a:p>
            <a:pPr marL="177800" indent="-177800">
              <a:lnSpc>
                <a:spcPts val="1472"/>
              </a:lnSpc>
              <a:spcAft>
                <a:spcPts val="600"/>
              </a:spcAft>
              <a:buSzPct val="100000"/>
              <a:buChar char="•"/>
            </a:pPr>
            <a:r>
              <a:rPr lang="en-US" sz="1150" dirty="0">
                <a:solidFill>
                  <a:srgbClr val="6B6B6B"/>
                </a:solidFill>
                <a:latin typeface="Arial" pitchFamily="34" charset="0"/>
                <a:ea typeface="Arial" pitchFamily="34" charset="-122"/>
                <a:cs typeface="Arial" pitchFamily="34" charset="-120"/>
              </a:rPr>
              <a:t>Une répartition du travail selon les compétences de chacun, avec des points de synchronisation réguliers</a:t>
            </a:r>
            <a:endParaRPr lang="en-US" sz="1150" dirty="0"/>
          </a:p>
        </p:txBody>
      </p:sp>
      <p:sp>
        <p:nvSpPr>
          <p:cNvPr id="22" name="Shape 20"/>
          <p:cNvSpPr/>
          <p:nvPr/>
        </p:nvSpPr>
        <p:spPr>
          <a:xfrm>
            <a:off x="6278728" y="3703320"/>
            <a:ext cx="5272888" cy="1600200"/>
          </a:xfrm>
          <a:prstGeom prst="roundRect">
            <a:avLst>
              <a:gd name="adj" fmla="val 5143"/>
            </a:avLst>
          </a:prstGeom>
          <a:solidFill>
            <a:srgbClr val="F2F0E8"/>
          </a:solidFill>
          <a:ln w="12700">
            <a:solidFill>
              <a:srgbClr val="CCCCEB"/>
            </a:solidFill>
            <a:prstDash val="solid"/>
          </a:ln>
        </p:spPr>
      </p:sp>
      <p:sp>
        <p:nvSpPr>
          <p:cNvPr id="23" name="Text 21"/>
          <p:cNvSpPr/>
          <p:nvPr/>
        </p:nvSpPr>
        <p:spPr>
          <a:xfrm>
            <a:off x="6479896" y="3849624"/>
            <a:ext cx="4870552" cy="502920"/>
          </a:xfrm>
          <a:prstGeom prst="rect">
            <a:avLst/>
          </a:prstGeom>
          <a:noFill/>
          <a:ln/>
        </p:spPr>
        <p:txBody>
          <a:bodyPr wrap="square" lIns="0" tIns="0" rIns="0" bIns="0" rtlCol="0" anchor="t"/>
          <a:lstStyle/>
          <a:p>
            <a:pPr indent="0" marL="0">
              <a:lnSpc>
                <a:spcPts val="1552"/>
              </a:lnSpc>
              <a:buNone/>
            </a:pPr>
            <a:r>
              <a:rPr lang="en-US" sz="1350" b="1" dirty="0">
                <a:solidFill>
                  <a:srgbClr val="111111"/>
                </a:solidFill>
                <a:latin typeface="Arial" pitchFamily="34" charset="0"/>
                <a:ea typeface="Arial" pitchFamily="34" charset="-122"/>
                <a:cs typeface="Arial" pitchFamily="34" charset="-120"/>
              </a:rPr>
              <a:t>Axes d'amélioration (à personnaliser par le groupe)</a:t>
            </a:r>
            <a:endParaRPr lang="en-US" sz="1350" dirty="0"/>
          </a:p>
        </p:txBody>
      </p:sp>
      <p:sp>
        <p:nvSpPr>
          <p:cNvPr id="24" name="Text 22"/>
          <p:cNvSpPr/>
          <p:nvPr/>
        </p:nvSpPr>
        <p:spPr>
          <a:xfrm>
            <a:off x="6479896" y="4379976"/>
            <a:ext cx="4870552" cy="777240"/>
          </a:xfrm>
          <a:prstGeom prst="rect">
            <a:avLst/>
          </a:prstGeom>
          <a:noFill/>
          <a:ln/>
        </p:spPr>
        <p:txBody>
          <a:bodyPr wrap="square" lIns="0" tIns="0" rIns="0" bIns="0" rtlCol="0" anchor="t"/>
          <a:lstStyle/>
          <a:p>
            <a:pPr marL="177800" indent="-177800">
              <a:lnSpc>
                <a:spcPts val="1472"/>
              </a:lnSpc>
              <a:spcAft>
                <a:spcPts val="600"/>
              </a:spcAft>
              <a:buSzPct val="100000"/>
              <a:buChar char="•"/>
            </a:pPr>
            <a:r>
              <a:rPr lang="en-US" sz="1150" dirty="0">
                <a:solidFill>
                  <a:srgbClr val="6B6B6B"/>
                </a:solidFill>
                <a:latin typeface="Arial" pitchFamily="34" charset="0"/>
                <a:ea typeface="Arial" pitchFamily="34" charset="-122"/>
                <a:cs typeface="Arial" pitchFamily="34" charset="-120"/>
              </a:rPr>
              <a:t>Documents contractuels volontairement listés sans être formalisés, comme demandé par les consignes</a:t>
            </a:r>
            <a:endParaRPr lang="en-US" sz="1150" dirty="0"/>
          </a:p>
          <a:p>
            <a:pPr marL="177800" indent="-177800">
              <a:lnSpc>
                <a:spcPts val="1472"/>
              </a:lnSpc>
              <a:spcAft>
                <a:spcPts val="600"/>
              </a:spcAft>
              <a:buSzPct val="100000"/>
              <a:buChar char="•"/>
            </a:pPr>
            <a:r>
              <a:rPr lang="en-US" sz="1150" dirty="0">
                <a:solidFill>
                  <a:srgbClr val="6B6B6B"/>
                </a:solidFill>
                <a:latin typeface="Arial" pitchFamily="34" charset="0"/>
                <a:ea typeface="Arial" pitchFamily="34" charset="-122"/>
                <a:cs typeface="Arial" pitchFamily="34" charset="-120"/>
              </a:rPr>
              <a:t>Tester le tableau de bord de suivi sur un deuxième projet du portefeuille pour vérifier sa robustesse</a:t>
            </a:r>
            <a:endParaRPr lang="en-US" sz="1150" dirty="0"/>
          </a:p>
        </p:txBody>
      </p:sp>
      <p:sp>
        <p:nvSpPr>
          <p:cNvPr id="25" name="Text 23"/>
          <p:cNvSpPr/>
          <p:nvPr/>
        </p:nvSpPr>
        <p:spPr>
          <a:xfrm>
            <a:off x="640080" y="5532120"/>
            <a:ext cx="10911535" cy="274320"/>
          </a:xfrm>
          <a:prstGeom prst="rect">
            <a:avLst/>
          </a:prstGeom>
          <a:noFill/>
          <a:ln/>
        </p:spPr>
        <p:txBody>
          <a:bodyPr wrap="square" lIns="0" tIns="0" rIns="0" bIns="0" rtlCol="0" anchor="ctr"/>
          <a:lstStyle/>
          <a:p>
            <a:pPr indent="0" marL="0">
              <a:buNone/>
            </a:pPr>
            <a:r>
              <a:rPr lang="en-US" sz="1150" dirty="0">
                <a:solidFill>
                  <a:srgbClr val="111111"/>
                </a:solidFill>
                <a:latin typeface="Arial" pitchFamily="34" charset="0"/>
                <a:ea typeface="Arial" pitchFamily="34" charset="-122"/>
                <a:cs typeface="Arial" pitchFamily="34" charset="-120"/>
              </a:rPr>
              <a:t>Cellule PMO — DSI Time'Eats · [Prénom NOM] · [Prénom NOM] · [Prénom NOM] · [Prénom NOM] · [Prénom NOM]</a:t>
            </a:r>
            <a:endParaRPr lang="en-US" sz="1150" dirty="0"/>
          </a:p>
        </p:txBody>
      </p:sp>
      <p:sp>
        <p:nvSpPr>
          <p:cNvPr id="26" name="Text 24"/>
          <p:cNvSpPr/>
          <p:nvPr/>
        </p:nvSpPr>
        <p:spPr>
          <a:xfrm>
            <a:off x="640080" y="5852160"/>
            <a:ext cx="10911535" cy="457200"/>
          </a:xfrm>
          <a:prstGeom prst="rect">
            <a:avLst/>
          </a:prstGeom>
          <a:noFill/>
          <a:ln/>
        </p:spPr>
        <p:txBody>
          <a:bodyPr wrap="square" lIns="0" tIns="0" rIns="0" bIns="0" rtlCol="0" anchor="ctr"/>
          <a:lstStyle/>
          <a:p>
            <a:pPr indent="0" marL="0">
              <a:lnSpc>
                <a:spcPts val="1400"/>
              </a:lnSpc>
              <a:buNone/>
            </a:pPr>
            <a:r>
              <a:rPr lang="en-US" sz="1100" i="1" dirty="0">
                <a:solidFill>
                  <a:srgbClr val="1E2BFA"/>
                </a:solidFill>
                <a:latin typeface="Arial" pitchFamily="34" charset="0"/>
                <a:ea typeface="Arial" pitchFamily="34" charset="-122"/>
                <a:cs typeface="Arial" pitchFamily="34" charset="-120"/>
              </a:rPr>
              <a:t>⚠ Diapositive à personnaliser impérativement par le groupe : noms des membres, répartition réelle du travail, et bilan sincère de ce qui s'est passé pendant les 4 jours.</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2804008" y="274320"/>
            <a:ext cx="6583680" cy="6583680"/>
          </a:xfrm>
          <a:prstGeom prst="ellipse">
            <a:avLst/>
          </a:prstGeom>
          <a:ln w="12700">
            <a:solidFill>
              <a:srgbClr val="CCCCEB"/>
            </a:solidFill>
            <a:prstDash val="solid"/>
          </a:ln>
        </p:spPr>
      </p:sp>
      <p:sp>
        <p:nvSpPr>
          <p:cNvPr id="3" name="Shape 1"/>
          <p:cNvSpPr/>
          <p:nvPr/>
        </p:nvSpPr>
        <p:spPr>
          <a:xfrm>
            <a:off x="3764128" y="1234440"/>
            <a:ext cx="4663440" cy="4663440"/>
          </a:xfrm>
          <a:prstGeom prst="ellipse">
            <a:avLst/>
          </a:prstGeom>
          <a:ln w="12700">
            <a:solidFill>
              <a:srgbClr val="CCCCEB"/>
            </a:solidFill>
            <a:prstDash val="solid"/>
          </a:ln>
        </p:spPr>
      </p:sp>
      <p:sp>
        <p:nvSpPr>
          <p:cNvPr id="4" name="Shape 2"/>
          <p:cNvSpPr/>
          <p:nvPr/>
        </p:nvSpPr>
        <p:spPr>
          <a:xfrm>
            <a:off x="5730088" y="2514600"/>
            <a:ext cx="731520" cy="45720"/>
          </a:xfrm>
          <a:prstGeom prst="rect">
            <a:avLst/>
          </a:prstGeom>
          <a:solidFill>
            <a:srgbClr val="1E2BFA"/>
          </a:solidFill>
          <a:ln/>
        </p:spPr>
      </p:sp>
      <p:sp>
        <p:nvSpPr>
          <p:cNvPr id="5" name="Text 3"/>
          <p:cNvSpPr/>
          <p:nvPr/>
        </p:nvSpPr>
        <p:spPr>
          <a:xfrm>
            <a:off x="0" y="2743200"/>
            <a:ext cx="12191695" cy="777240"/>
          </a:xfrm>
          <a:prstGeom prst="rect">
            <a:avLst/>
          </a:prstGeom>
          <a:noFill/>
          <a:ln/>
        </p:spPr>
        <p:txBody>
          <a:bodyPr wrap="square" lIns="0" tIns="0" rIns="0" bIns="0" rtlCol="0" anchor="ctr"/>
          <a:lstStyle/>
          <a:p>
            <a:pPr algn="ctr" indent="0" marL="0">
              <a:buNone/>
            </a:pPr>
            <a:r>
              <a:rPr lang="en-US" sz="3800" b="1" dirty="0">
                <a:solidFill>
                  <a:srgbClr val="111111"/>
                </a:solidFill>
                <a:latin typeface="Arial" pitchFamily="34" charset="0"/>
                <a:ea typeface="Arial" pitchFamily="34" charset="-122"/>
                <a:cs typeface="Arial" pitchFamily="34" charset="-120"/>
              </a:rPr>
              <a:t>Merci de votre attention</a:t>
            </a:r>
            <a:endParaRPr lang="en-US" sz="3800" dirty="0"/>
          </a:p>
        </p:txBody>
      </p:sp>
      <p:sp>
        <p:nvSpPr>
          <p:cNvPr id="6" name="Text 4"/>
          <p:cNvSpPr/>
          <p:nvPr/>
        </p:nvSpPr>
        <p:spPr>
          <a:xfrm>
            <a:off x="0" y="3566160"/>
            <a:ext cx="12191695" cy="457200"/>
          </a:xfrm>
          <a:prstGeom prst="rect">
            <a:avLst/>
          </a:prstGeom>
          <a:noFill/>
          <a:ln/>
        </p:spPr>
        <p:txBody>
          <a:bodyPr wrap="square" lIns="0" tIns="0" rIns="0" bIns="0" rtlCol="0" anchor="ctr"/>
          <a:lstStyle/>
          <a:p>
            <a:pPr algn="ctr" indent="0" marL="0">
              <a:buNone/>
            </a:pPr>
            <a:r>
              <a:rPr lang="en-US" sz="1600" dirty="0">
                <a:solidFill>
                  <a:srgbClr val="6B6B6B"/>
                </a:solidFill>
                <a:latin typeface="Arial" pitchFamily="34" charset="0"/>
                <a:ea typeface="Arial" pitchFamily="34" charset="-122"/>
                <a:cs typeface="Arial" pitchFamily="34" charset="-120"/>
              </a:rPr>
              <a:t>Place aux questions.</a:t>
            </a:r>
            <a:endParaRPr lang="en-US" sz="1600" dirty="0"/>
          </a:p>
        </p:txBody>
      </p:sp>
      <p:sp>
        <p:nvSpPr>
          <p:cNvPr id="7" name="Text 5"/>
          <p:cNvSpPr/>
          <p:nvPr/>
        </p:nvSpPr>
        <p:spPr>
          <a:xfrm>
            <a:off x="0" y="4160520"/>
            <a:ext cx="12191695" cy="365760"/>
          </a:xfrm>
          <a:prstGeom prst="rect">
            <a:avLst/>
          </a:prstGeom>
          <a:noFill/>
          <a:ln/>
        </p:spPr>
        <p:txBody>
          <a:bodyPr wrap="square" lIns="0" tIns="0" rIns="0" bIns="0" rtlCol="0" anchor="ctr"/>
          <a:lstStyle/>
          <a:p>
            <a:pPr algn="ctr" indent="0" marL="0">
              <a:buNone/>
            </a:pPr>
            <a:r>
              <a:rPr lang="en-US" sz="1150" dirty="0">
                <a:solidFill>
                  <a:srgbClr val="9A9A9A"/>
                </a:solidFill>
                <a:latin typeface="Arial" pitchFamily="34" charset="0"/>
                <a:ea typeface="Arial" pitchFamily="34" charset="-122"/>
                <a:cs typeface="Arial" pitchFamily="34" charset="-120"/>
              </a:rPr>
              <a:t>Cellule PMO — DSI Time'Eats  ·  15 minutes de questions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2026-09-14T17:31:48Z</dcterms:created>
  <dcterms:modified xsi:type="dcterms:W3CDTF">2026-09-14T17:31:48Z</dcterms:modified>
</cp:coreProperties>
</file>